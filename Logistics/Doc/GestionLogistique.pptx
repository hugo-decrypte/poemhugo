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25" r:id="rId2"/>
    <p:sldId id="282" r:id="rId3"/>
    <p:sldId id="329" r:id="rId4"/>
    <p:sldId id="315" r:id="rId5"/>
    <p:sldId id="338" r:id="rId6"/>
    <p:sldId id="342" r:id="rId7"/>
    <p:sldId id="330" r:id="rId8"/>
    <p:sldId id="341" r:id="rId9"/>
    <p:sldId id="333" r:id="rId10"/>
    <p:sldId id="337" r:id="rId11"/>
    <p:sldId id="339" r:id="rId12"/>
    <p:sldId id="332" r:id="rId13"/>
    <p:sldId id="335" r:id="rId14"/>
    <p:sldId id="340" r:id="rId15"/>
    <p:sldId id="336" r:id="rId16"/>
    <p:sldId id="334" r:id="rId17"/>
    <p:sldId id="326" r:id="rId18"/>
    <p:sldId id="318" r:id="rId19"/>
    <p:sldId id="319" r:id="rId20"/>
    <p:sldId id="344" r:id="rId21"/>
    <p:sldId id="327" r:id="rId22"/>
    <p:sldId id="328"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7" autoAdjust="0"/>
    <p:restoredTop sz="94660"/>
  </p:normalViewPr>
  <p:slideViewPr>
    <p:cSldViewPr snapToGrid="0">
      <p:cViewPr varScale="1">
        <p:scale>
          <a:sx n="78" d="100"/>
          <a:sy n="78" d="100"/>
        </p:scale>
        <p:origin x="62"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1951AD-B114-4B78-ADE1-5BA8299F6526}" type="doc">
      <dgm:prSet loTypeId="urn:microsoft.com/office/officeart/2005/8/layout/list1" loCatId="list" qsTypeId="urn:microsoft.com/office/officeart/2005/8/quickstyle/simple2" qsCatId="simple" csTypeId="urn:microsoft.com/office/officeart/2005/8/colors/colorful2" csCatId="colorful" phldr="1"/>
      <dgm:spPr/>
      <dgm:t>
        <a:bodyPr/>
        <a:lstStyle/>
        <a:p>
          <a:endParaRPr lang="en-US"/>
        </a:p>
      </dgm:t>
    </dgm:pt>
    <dgm:pt modelId="{AFDE23F1-265C-41E3-AF8C-6F3FE6E7CFE2}">
      <dgm:prSet custT="1"/>
      <dgm:spPr/>
      <dgm:t>
        <a:bodyPr/>
        <a:lstStyle/>
        <a:p>
          <a:r>
            <a:rPr lang="en-US" sz="1800" b="1" dirty="0" err="1"/>
            <a:t>Sociétés</a:t>
          </a:r>
          <a:r>
            <a:rPr lang="en-US" sz="1800" b="1" dirty="0"/>
            <a:t> </a:t>
          </a:r>
          <a:r>
            <a:rPr lang="fr-FR" sz="1800" b="1" noProof="0" dirty="0"/>
            <a:t>Cibles</a:t>
          </a:r>
          <a:endParaRPr lang="fr-FR" sz="1800" noProof="0" dirty="0"/>
        </a:p>
      </dgm:t>
    </dgm:pt>
    <dgm:pt modelId="{4DF88E9B-FD81-4261-BC5D-F072722BC183}" type="parTrans" cxnId="{C026CF56-5721-464E-9DCC-5BE48DFC705C}">
      <dgm:prSet/>
      <dgm:spPr/>
      <dgm:t>
        <a:bodyPr/>
        <a:lstStyle/>
        <a:p>
          <a:endParaRPr lang="en-US"/>
        </a:p>
      </dgm:t>
    </dgm:pt>
    <dgm:pt modelId="{28A3A97E-BE01-4BB4-93A6-7F1A230B029C}" type="sibTrans" cxnId="{C026CF56-5721-464E-9DCC-5BE48DFC705C}">
      <dgm:prSet/>
      <dgm:spPr/>
      <dgm:t>
        <a:bodyPr/>
        <a:lstStyle/>
        <a:p>
          <a:endParaRPr lang="en-US"/>
        </a:p>
      </dgm:t>
    </dgm:pt>
    <dgm:pt modelId="{82D07263-645D-42B6-A2D6-33C564F76630}">
      <dgm:prSet custT="1"/>
      <dgm:spPr/>
      <dgm:t>
        <a:bodyPr/>
        <a:lstStyle/>
        <a:p>
          <a:r>
            <a:rPr lang="fr-FR" sz="1400" b="1" noProof="0" dirty="0"/>
            <a:t>Entreprise d’Import-Export; Grossiste; Super Marché/Magasin; </a:t>
          </a:r>
          <a:endParaRPr lang="fr-FR" sz="1400" noProof="0" dirty="0"/>
        </a:p>
      </dgm:t>
    </dgm:pt>
    <dgm:pt modelId="{A10F1AFB-CC27-4F78-8F9C-B4D8E7A48088}" type="parTrans" cxnId="{C910594E-AD06-4431-84BD-0D039D1E8053}">
      <dgm:prSet/>
      <dgm:spPr/>
      <dgm:t>
        <a:bodyPr/>
        <a:lstStyle/>
        <a:p>
          <a:endParaRPr lang="en-US"/>
        </a:p>
      </dgm:t>
    </dgm:pt>
    <dgm:pt modelId="{7A1C20CA-9FE1-431E-AF8F-A08D8DC523B4}" type="sibTrans" cxnId="{C910594E-AD06-4431-84BD-0D039D1E8053}">
      <dgm:prSet/>
      <dgm:spPr/>
      <dgm:t>
        <a:bodyPr/>
        <a:lstStyle/>
        <a:p>
          <a:endParaRPr lang="en-US"/>
        </a:p>
      </dgm:t>
    </dgm:pt>
    <dgm:pt modelId="{EC239118-DC21-4032-A090-E3F3D5667A29}">
      <dgm:prSet custT="1"/>
      <dgm:spPr/>
      <dgm:t>
        <a:bodyPr/>
        <a:lstStyle/>
        <a:p>
          <a:r>
            <a:rPr lang="en-US" sz="1800" b="1" dirty="0"/>
            <a:t>Le </a:t>
          </a:r>
          <a:r>
            <a:rPr lang="fr-FR" sz="1800" b="1" noProof="0" dirty="0"/>
            <a:t>but</a:t>
          </a:r>
          <a:r>
            <a:rPr lang="en-US" sz="1800" b="1" dirty="0"/>
            <a:t> du </a:t>
          </a:r>
          <a:r>
            <a:rPr lang="fr-FR" sz="1800" b="1" noProof="0" dirty="0"/>
            <a:t>Système</a:t>
          </a:r>
          <a:r>
            <a:rPr lang="en-US" sz="1100" b="1" dirty="0"/>
            <a:t>	</a:t>
          </a:r>
          <a:endParaRPr lang="en-US" sz="1100" dirty="0"/>
        </a:p>
      </dgm:t>
    </dgm:pt>
    <dgm:pt modelId="{61D1881A-D992-4D7F-BDD4-8257985C9DBF}" type="parTrans" cxnId="{F97B3462-FE62-48F6-9F52-13EEFC47C8E9}">
      <dgm:prSet/>
      <dgm:spPr/>
      <dgm:t>
        <a:bodyPr/>
        <a:lstStyle/>
        <a:p>
          <a:endParaRPr lang="en-US"/>
        </a:p>
      </dgm:t>
    </dgm:pt>
    <dgm:pt modelId="{26AF3DE1-2FDE-499C-87C0-B6E1F306E479}" type="sibTrans" cxnId="{F97B3462-FE62-48F6-9F52-13EEFC47C8E9}">
      <dgm:prSet/>
      <dgm:spPr/>
      <dgm:t>
        <a:bodyPr/>
        <a:lstStyle/>
        <a:p>
          <a:endParaRPr lang="en-US"/>
        </a:p>
      </dgm:t>
    </dgm:pt>
    <dgm:pt modelId="{8F911ABD-FF07-410E-B775-C328CA5DAEB3}">
      <dgm:prSet custT="1"/>
      <dgm:spPr/>
      <dgm:t>
        <a:bodyPr/>
        <a:lstStyle/>
        <a:p>
          <a:r>
            <a:rPr lang="fr-FR" sz="1400" b="1" noProof="0" dirty="0"/>
            <a:t>Informatiser et Automatiser les taches quotidiennes des acteurs afin de réduire les taches chronophages. </a:t>
          </a:r>
          <a:endParaRPr lang="fr-FR" sz="1400" noProof="0" dirty="0"/>
        </a:p>
      </dgm:t>
    </dgm:pt>
    <dgm:pt modelId="{0889F86D-DF1C-47F7-85E1-B26E96403C01}" type="parTrans" cxnId="{AEAE454E-545F-43D1-9E68-6F8AE23F28EB}">
      <dgm:prSet/>
      <dgm:spPr/>
      <dgm:t>
        <a:bodyPr/>
        <a:lstStyle/>
        <a:p>
          <a:endParaRPr lang="en-US"/>
        </a:p>
      </dgm:t>
    </dgm:pt>
    <dgm:pt modelId="{A393F8DA-F5E2-4327-941E-04E0C620642D}" type="sibTrans" cxnId="{AEAE454E-545F-43D1-9E68-6F8AE23F28EB}">
      <dgm:prSet/>
      <dgm:spPr/>
      <dgm:t>
        <a:bodyPr/>
        <a:lstStyle/>
        <a:p>
          <a:endParaRPr lang="en-US"/>
        </a:p>
      </dgm:t>
    </dgm:pt>
    <dgm:pt modelId="{D66983F5-1350-4EFA-B36C-1BF46B59A3E8}">
      <dgm:prSet custT="1"/>
      <dgm:spPr/>
      <dgm:t>
        <a:bodyPr/>
        <a:lstStyle/>
        <a:p>
          <a:r>
            <a:rPr lang="fr-FR" sz="1400" b="1" noProof="0" dirty="0"/>
            <a:t>Les données saisies sont partagées entre différents services : Prise de Commande, Préparation de commande, Approvisionnement, Transport et Facturation.</a:t>
          </a:r>
          <a:endParaRPr lang="fr-FR" sz="1400" noProof="0" dirty="0"/>
        </a:p>
      </dgm:t>
    </dgm:pt>
    <dgm:pt modelId="{1932B582-1C4A-4D33-8108-6C69213C9C9B}" type="parTrans" cxnId="{3DABAED3-5159-4736-993C-ABD138A869AE}">
      <dgm:prSet/>
      <dgm:spPr/>
      <dgm:t>
        <a:bodyPr/>
        <a:lstStyle/>
        <a:p>
          <a:endParaRPr lang="en-US"/>
        </a:p>
      </dgm:t>
    </dgm:pt>
    <dgm:pt modelId="{72677B9D-7CDB-412A-BBDC-57168105A03D}" type="sibTrans" cxnId="{3DABAED3-5159-4736-993C-ABD138A869AE}">
      <dgm:prSet/>
      <dgm:spPr/>
      <dgm:t>
        <a:bodyPr/>
        <a:lstStyle/>
        <a:p>
          <a:endParaRPr lang="en-US"/>
        </a:p>
      </dgm:t>
    </dgm:pt>
    <dgm:pt modelId="{BCE6A02C-E910-4569-9B68-1C3FC03EA411}">
      <dgm:prSet custT="1"/>
      <dgm:spPr/>
      <dgm:t>
        <a:bodyPr/>
        <a:lstStyle/>
        <a:p>
          <a:r>
            <a:rPr lang="fr-FR" sz="1400" b="1" noProof="0" dirty="0"/>
            <a:t>Les documents sont édités digitalement pour une gestion sans papier.</a:t>
          </a:r>
        </a:p>
      </dgm:t>
    </dgm:pt>
    <dgm:pt modelId="{E0D4CBB2-AFC2-4E15-8086-99F1595E94AE}" type="parTrans" cxnId="{6013D2C6-D525-41A1-93B1-6C215503AC8E}">
      <dgm:prSet/>
      <dgm:spPr/>
      <dgm:t>
        <a:bodyPr/>
        <a:lstStyle/>
        <a:p>
          <a:endParaRPr lang="en-US"/>
        </a:p>
      </dgm:t>
    </dgm:pt>
    <dgm:pt modelId="{17B458B9-5C7D-4D37-A628-85A94BCDE141}" type="sibTrans" cxnId="{6013D2C6-D525-41A1-93B1-6C215503AC8E}">
      <dgm:prSet/>
      <dgm:spPr/>
      <dgm:t>
        <a:bodyPr/>
        <a:lstStyle/>
        <a:p>
          <a:endParaRPr lang="en-US"/>
        </a:p>
      </dgm:t>
    </dgm:pt>
    <dgm:pt modelId="{B14333FB-CE2D-44DF-B1A4-79CA9521734F}">
      <dgm:prSet custT="1"/>
      <dgm:spPr/>
      <dgm:t>
        <a:bodyPr/>
        <a:lstStyle/>
        <a:p>
          <a:r>
            <a:rPr lang="fr-FR" sz="1400" b="1" noProof="0" dirty="0"/>
            <a:t>Optimiser les tournées de livraison ou d’approvisionnement.</a:t>
          </a:r>
        </a:p>
      </dgm:t>
    </dgm:pt>
    <dgm:pt modelId="{AD5283D2-ACA5-475F-A52E-FDD99696954C}" type="parTrans" cxnId="{BA386F78-2F81-4DC1-89E0-0081520B48D0}">
      <dgm:prSet/>
      <dgm:spPr/>
      <dgm:t>
        <a:bodyPr/>
        <a:lstStyle/>
        <a:p>
          <a:endParaRPr lang="fr-FR"/>
        </a:p>
      </dgm:t>
    </dgm:pt>
    <dgm:pt modelId="{30D63F07-1B4A-403C-BF14-8B1FD7ACE5C7}" type="sibTrans" cxnId="{BA386F78-2F81-4DC1-89E0-0081520B48D0}">
      <dgm:prSet/>
      <dgm:spPr/>
      <dgm:t>
        <a:bodyPr/>
        <a:lstStyle/>
        <a:p>
          <a:endParaRPr lang="fr-FR"/>
        </a:p>
      </dgm:t>
    </dgm:pt>
    <dgm:pt modelId="{C4CB28CA-8E8B-490F-AAA9-FDC4EAE51653}">
      <dgm:prSet custT="1"/>
      <dgm:spPr/>
      <dgm:t>
        <a:bodyPr/>
        <a:lstStyle/>
        <a:p>
          <a:r>
            <a:rPr lang="fr-FR" sz="1400" b="1" noProof="0" dirty="0"/>
            <a:t>Entreprise de Logistique; Entrepôt Industriel, Etc.</a:t>
          </a:r>
          <a:endParaRPr lang="fr-FR" sz="1400" noProof="0" dirty="0"/>
        </a:p>
      </dgm:t>
    </dgm:pt>
    <dgm:pt modelId="{1E31412F-7160-40B5-B22C-8CDB7FB4F414}" type="sibTrans" cxnId="{10E07241-6178-41D7-B1DD-824437119C58}">
      <dgm:prSet/>
      <dgm:spPr/>
      <dgm:t>
        <a:bodyPr/>
        <a:lstStyle/>
        <a:p>
          <a:endParaRPr lang="en-US"/>
        </a:p>
      </dgm:t>
    </dgm:pt>
    <dgm:pt modelId="{FA8DF549-8CC0-4094-8C7B-A5AB846F0900}" type="parTrans" cxnId="{10E07241-6178-41D7-B1DD-824437119C58}">
      <dgm:prSet/>
      <dgm:spPr/>
      <dgm:t>
        <a:bodyPr/>
        <a:lstStyle/>
        <a:p>
          <a:endParaRPr lang="en-US"/>
        </a:p>
      </dgm:t>
    </dgm:pt>
    <dgm:pt modelId="{DAA28CE4-A24A-4388-A9F6-B805128187DD}" type="pres">
      <dgm:prSet presAssocID="{161951AD-B114-4B78-ADE1-5BA8299F6526}" presName="linear" presStyleCnt="0">
        <dgm:presLayoutVars>
          <dgm:dir/>
          <dgm:animLvl val="lvl"/>
          <dgm:resizeHandles val="exact"/>
        </dgm:presLayoutVars>
      </dgm:prSet>
      <dgm:spPr/>
    </dgm:pt>
    <dgm:pt modelId="{EAE55AAA-B28D-4B85-BA00-B51EA23B8109}" type="pres">
      <dgm:prSet presAssocID="{AFDE23F1-265C-41E3-AF8C-6F3FE6E7CFE2}" presName="parentLin" presStyleCnt="0"/>
      <dgm:spPr/>
    </dgm:pt>
    <dgm:pt modelId="{AEB9DE9B-0C47-42FC-A9A9-9344FE572542}" type="pres">
      <dgm:prSet presAssocID="{AFDE23F1-265C-41E3-AF8C-6F3FE6E7CFE2}" presName="parentLeftMargin" presStyleLbl="node1" presStyleIdx="0" presStyleCnt="2"/>
      <dgm:spPr/>
    </dgm:pt>
    <dgm:pt modelId="{B64CA349-6D02-4FDD-9BD2-A6E21EA4C40F}" type="pres">
      <dgm:prSet presAssocID="{AFDE23F1-265C-41E3-AF8C-6F3FE6E7CFE2}" presName="parentText" presStyleLbl="node1" presStyleIdx="0" presStyleCnt="2">
        <dgm:presLayoutVars>
          <dgm:chMax val="0"/>
          <dgm:bulletEnabled val="1"/>
        </dgm:presLayoutVars>
      </dgm:prSet>
      <dgm:spPr/>
    </dgm:pt>
    <dgm:pt modelId="{6CCFEDA4-4A0E-4068-BC4D-C60B92E6084B}" type="pres">
      <dgm:prSet presAssocID="{AFDE23F1-265C-41E3-AF8C-6F3FE6E7CFE2}" presName="negativeSpace" presStyleCnt="0"/>
      <dgm:spPr/>
    </dgm:pt>
    <dgm:pt modelId="{C9E2A4F5-3656-40A3-A7A9-A0FA686639FE}" type="pres">
      <dgm:prSet presAssocID="{AFDE23F1-265C-41E3-AF8C-6F3FE6E7CFE2}" presName="childText" presStyleLbl="conFgAcc1" presStyleIdx="0" presStyleCnt="2">
        <dgm:presLayoutVars>
          <dgm:bulletEnabled val="1"/>
        </dgm:presLayoutVars>
      </dgm:prSet>
      <dgm:spPr/>
    </dgm:pt>
    <dgm:pt modelId="{1FD976D1-76FF-402A-A08F-5F2CB8044A20}" type="pres">
      <dgm:prSet presAssocID="{28A3A97E-BE01-4BB4-93A6-7F1A230B029C}" presName="spaceBetweenRectangles" presStyleCnt="0"/>
      <dgm:spPr/>
    </dgm:pt>
    <dgm:pt modelId="{FAB1F16F-4794-42F1-BBF8-C6387CC5E0E7}" type="pres">
      <dgm:prSet presAssocID="{EC239118-DC21-4032-A090-E3F3D5667A29}" presName="parentLin" presStyleCnt="0"/>
      <dgm:spPr/>
    </dgm:pt>
    <dgm:pt modelId="{75590363-2C56-4CA7-99AA-954B7B52571C}" type="pres">
      <dgm:prSet presAssocID="{EC239118-DC21-4032-A090-E3F3D5667A29}" presName="parentLeftMargin" presStyleLbl="node1" presStyleIdx="0" presStyleCnt="2"/>
      <dgm:spPr/>
    </dgm:pt>
    <dgm:pt modelId="{E8695761-1241-4620-9CFF-4BC6303A3C9D}" type="pres">
      <dgm:prSet presAssocID="{EC239118-DC21-4032-A090-E3F3D5667A29}" presName="parentText" presStyleLbl="node1" presStyleIdx="1" presStyleCnt="2">
        <dgm:presLayoutVars>
          <dgm:chMax val="0"/>
          <dgm:bulletEnabled val="1"/>
        </dgm:presLayoutVars>
      </dgm:prSet>
      <dgm:spPr/>
    </dgm:pt>
    <dgm:pt modelId="{59A9AFC2-21CE-400F-8DEF-807908161CA2}" type="pres">
      <dgm:prSet presAssocID="{EC239118-DC21-4032-A090-E3F3D5667A29}" presName="negativeSpace" presStyleCnt="0"/>
      <dgm:spPr/>
    </dgm:pt>
    <dgm:pt modelId="{0C6DFB96-F76F-4CFD-91BB-E0AC47DEF4D7}" type="pres">
      <dgm:prSet presAssocID="{EC239118-DC21-4032-A090-E3F3D5667A29}" presName="childText" presStyleLbl="conFgAcc1" presStyleIdx="1" presStyleCnt="2">
        <dgm:presLayoutVars>
          <dgm:bulletEnabled val="1"/>
        </dgm:presLayoutVars>
      </dgm:prSet>
      <dgm:spPr/>
    </dgm:pt>
  </dgm:ptLst>
  <dgm:cxnLst>
    <dgm:cxn modelId="{182E1031-E69F-4933-BA77-0B7CE27BC0A9}" type="presOf" srcId="{AFDE23F1-265C-41E3-AF8C-6F3FE6E7CFE2}" destId="{B64CA349-6D02-4FDD-9BD2-A6E21EA4C40F}" srcOrd="1" destOrd="0" presId="urn:microsoft.com/office/officeart/2005/8/layout/list1"/>
    <dgm:cxn modelId="{10E07241-6178-41D7-B1DD-824437119C58}" srcId="{AFDE23F1-265C-41E3-AF8C-6F3FE6E7CFE2}" destId="{C4CB28CA-8E8B-490F-AAA9-FDC4EAE51653}" srcOrd="1" destOrd="0" parTransId="{FA8DF549-8CC0-4094-8C7B-A5AB846F0900}" sibTransId="{1E31412F-7160-40B5-B22C-8CDB7FB4F414}"/>
    <dgm:cxn modelId="{FF1DF041-0C81-4E34-9229-25A385A4772D}" type="presOf" srcId="{161951AD-B114-4B78-ADE1-5BA8299F6526}" destId="{DAA28CE4-A24A-4388-A9F6-B805128187DD}" srcOrd="0" destOrd="0" presId="urn:microsoft.com/office/officeart/2005/8/layout/list1"/>
    <dgm:cxn modelId="{F97B3462-FE62-48F6-9F52-13EEFC47C8E9}" srcId="{161951AD-B114-4B78-ADE1-5BA8299F6526}" destId="{EC239118-DC21-4032-A090-E3F3D5667A29}" srcOrd="1" destOrd="0" parTransId="{61D1881A-D992-4D7F-BDD4-8257985C9DBF}" sibTransId="{26AF3DE1-2FDE-499C-87C0-B6E1F306E479}"/>
    <dgm:cxn modelId="{D58A0267-4727-45F9-9733-1C0E714D2A80}" type="presOf" srcId="{AFDE23F1-265C-41E3-AF8C-6F3FE6E7CFE2}" destId="{AEB9DE9B-0C47-42FC-A9A9-9344FE572542}" srcOrd="0" destOrd="0" presId="urn:microsoft.com/office/officeart/2005/8/layout/list1"/>
    <dgm:cxn modelId="{AEAE454E-545F-43D1-9E68-6F8AE23F28EB}" srcId="{EC239118-DC21-4032-A090-E3F3D5667A29}" destId="{8F911ABD-FF07-410E-B775-C328CA5DAEB3}" srcOrd="0" destOrd="0" parTransId="{0889F86D-DF1C-47F7-85E1-B26E96403C01}" sibTransId="{A393F8DA-F5E2-4327-941E-04E0C620642D}"/>
    <dgm:cxn modelId="{C910594E-AD06-4431-84BD-0D039D1E8053}" srcId="{AFDE23F1-265C-41E3-AF8C-6F3FE6E7CFE2}" destId="{82D07263-645D-42B6-A2D6-33C564F76630}" srcOrd="0" destOrd="0" parTransId="{A10F1AFB-CC27-4F78-8F9C-B4D8E7A48088}" sibTransId="{7A1C20CA-9FE1-431E-AF8F-A08D8DC523B4}"/>
    <dgm:cxn modelId="{EF31DE6E-879D-4049-A7A4-670A59E50390}" type="presOf" srcId="{8F911ABD-FF07-410E-B775-C328CA5DAEB3}" destId="{0C6DFB96-F76F-4CFD-91BB-E0AC47DEF4D7}" srcOrd="0" destOrd="0" presId="urn:microsoft.com/office/officeart/2005/8/layout/list1"/>
    <dgm:cxn modelId="{8698AA4F-DB50-40D5-A58F-D0CBA59E4256}" type="presOf" srcId="{82D07263-645D-42B6-A2D6-33C564F76630}" destId="{C9E2A4F5-3656-40A3-A7A9-A0FA686639FE}" srcOrd="0" destOrd="0" presId="urn:microsoft.com/office/officeart/2005/8/layout/list1"/>
    <dgm:cxn modelId="{C026CF56-5721-464E-9DCC-5BE48DFC705C}" srcId="{161951AD-B114-4B78-ADE1-5BA8299F6526}" destId="{AFDE23F1-265C-41E3-AF8C-6F3FE6E7CFE2}" srcOrd="0" destOrd="0" parTransId="{4DF88E9B-FD81-4261-BC5D-F072722BC183}" sibTransId="{28A3A97E-BE01-4BB4-93A6-7F1A230B029C}"/>
    <dgm:cxn modelId="{A286CF76-2EE3-48F6-9FF0-628E0781095B}" type="presOf" srcId="{EC239118-DC21-4032-A090-E3F3D5667A29}" destId="{E8695761-1241-4620-9CFF-4BC6303A3C9D}" srcOrd="1" destOrd="0" presId="urn:microsoft.com/office/officeart/2005/8/layout/list1"/>
    <dgm:cxn modelId="{BA386F78-2F81-4DC1-89E0-0081520B48D0}" srcId="{EC239118-DC21-4032-A090-E3F3D5667A29}" destId="{B14333FB-CE2D-44DF-B1A4-79CA9521734F}" srcOrd="3" destOrd="0" parTransId="{AD5283D2-ACA5-475F-A52E-FDD99696954C}" sibTransId="{30D63F07-1B4A-403C-BF14-8B1FD7ACE5C7}"/>
    <dgm:cxn modelId="{5CB9E58C-9FEA-408D-B210-C39393B8236C}" type="presOf" srcId="{B14333FB-CE2D-44DF-B1A4-79CA9521734F}" destId="{0C6DFB96-F76F-4CFD-91BB-E0AC47DEF4D7}" srcOrd="0" destOrd="3" presId="urn:microsoft.com/office/officeart/2005/8/layout/list1"/>
    <dgm:cxn modelId="{36C22D91-C81D-449C-8957-3809AB423D8C}" type="presOf" srcId="{BCE6A02C-E910-4569-9B68-1C3FC03EA411}" destId="{0C6DFB96-F76F-4CFD-91BB-E0AC47DEF4D7}" srcOrd="0" destOrd="2" presId="urn:microsoft.com/office/officeart/2005/8/layout/list1"/>
    <dgm:cxn modelId="{FDBABDB2-3BB7-41E6-89AA-839E386ADF1B}" type="presOf" srcId="{EC239118-DC21-4032-A090-E3F3D5667A29}" destId="{75590363-2C56-4CA7-99AA-954B7B52571C}" srcOrd="0" destOrd="0" presId="urn:microsoft.com/office/officeart/2005/8/layout/list1"/>
    <dgm:cxn modelId="{667206C5-66C1-4990-B585-401AAFC0D30F}" type="presOf" srcId="{C4CB28CA-8E8B-490F-AAA9-FDC4EAE51653}" destId="{C9E2A4F5-3656-40A3-A7A9-A0FA686639FE}" srcOrd="0" destOrd="1" presId="urn:microsoft.com/office/officeart/2005/8/layout/list1"/>
    <dgm:cxn modelId="{6013D2C6-D525-41A1-93B1-6C215503AC8E}" srcId="{EC239118-DC21-4032-A090-E3F3D5667A29}" destId="{BCE6A02C-E910-4569-9B68-1C3FC03EA411}" srcOrd="2" destOrd="0" parTransId="{E0D4CBB2-AFC2-4E15-8086-99F1595E94AE}" sibTransId="{17B458B9-5C7D-4D37-A628-85A94BCDE141}"/>
    <dgm:cxn modelId="{E6CD3CC7-0EAD-4E8D-8402-AC517FD8A077}" type="presOf" srcId="{D66983F5-1350-4EFA-B36C-1BF46B59A3E8}" destId="{0C6DFB96-F76F-4CFD-91BB-E0AC47DEF4D7}" srcOrd="0" destOrd="1" presId="urn:microsoft.com/office/officeart/2005/8/layout/list1"/>
    <dgm:cxn modelId="{3DABAED3-5159-4736-993C-ABD138A869AE}" srcId="{EC239118-DC21-4032-A090-E3F3D5667A29}" destId="{D66983F5-1350-4EFA-B36C-1BF46B59A3E8}" srcOrd="1" destOrd="0" parTransId="{1932B582-1C4A-4D33-8108-6C69213C9C9B}" sibTransId="{72677B9D-7CDB-412A-BBDC-57168105A03D}"/>
    <dgm:cxn modelId="{7D0F70FD-7ACE-4672-8383-DF05C7D60EC7}" type="presParOf" srcId="{DAA28CE4-A24A-4388-A9F6-B805128187DD}" destId="{EAE55AAA-B28D-4B85-BA00-B51EA23B8109}" srcOrd="0" destOrd="0" presId="urn:microsoft.com/office/officeart/2005/8/layout/list1"/>
    <dgm:cxn modelId="{E3E0BF43-B5A7-448C-A71B-CA9DDA40B695}" type="presParOf" srcId="{EAE55AAA-B28D-4B85-BA00-B51EA23B8109}" destId="{AEB9DE9B-0C47-42FC-A9A9-9344FE572542}" srcOrd="0" destOrd="0" presId="urn:microsoft.com/office/officeart/2005/8/layout/list1"/>
    <dgm:cxn modelId="{D4D79F37-8D7B-4367-B37A-32246ED02D90}" type="presParOf" srcId="{EAE55AAA-B28D-4B85-BA00-B51EA23B8109}" destId="{B64CA349-6D02-4FDD-9BD2-A6E21EA4C40F}" srcOrd="1" destOrd="0" presId="urn:microsoft.com/office/officeart/2005/8/layout/list1"/>
    <dgm:cxn modelId="{CF5C0E2B-2630-4846-A211-0B97575EA14F}" type="presParOf" srcId="{DAA28CE4-A24A-4388-A9F6-B805128187DD}" destId="{6CCFEDA4-4A0E-4068-BC4D-C60B92E6084B}" srcOrd="1" destOrd="0" presId="urn:microsoft.com/office/officeart/2005/8/layout/list1"/>
    <dgm:cxn modelId="{272B9BA6-EE27-4ECB-A9D7-46FAD0DE5B70}" type="presParOf" srcId="{DAA28CE4-A24A-4388-A9F6-B805128187DD}" destId="{C9E2A4F5-3656-40A3-A7A9-A0FA686639FE}" srcOrd="2" destOrd="0" presId="urn:microsoft.com/office/officeart/2005/8/layout/list1"/>
    <dgm:cxn modelId="{0D1E919B-C1C6-4C54-B8E8-B3788198549B}" type="presParOf" srcId="{DAA28CE4-A24A-4388-A9F6-B805128187DD}" destId="{1FD976D1-76FF-402A-A08F-5F2CB8044A20}" srcOrd="3" destOrd="0" presId="urn:microsoft.com/office/officeart/2005/8/layout/list1"/>
    <dgm:cxn modelId="{FF33EB81-654B-4013-B61D-140E6969050D}" type="presParOf" srcId="{DAA28CE4-A24A-4388-A9F6-B805128187DD}" destId="{FAB1F16F-4794-42F1-BBF8-C6387CC5E0E7}" srcOrd="4" destOrd="0" presId="urn:microsoft.com/office/officeart/2005/8/layout/list1"/>
    <dgm:cxn modelId="{E3F9DE2B-CFE3-4451-8CC7-2019B1CB4162}" type="presParOf" srcId="{FAB1F16F-4794-42F1-BBF8-C6387CC5E0E7}" destId="{75590363-2C56-4CA7-99AA-954B7B52571C}" srcOrd="0" destOrd="0" presId="urn:microsoft.com/office/officeart/2005/8/layout/list1"/>
    <dgm:cxn modelId="{E9236120-AC0A-4B03-8D4E-5BCF3B9494DB}" type="presParOf" srcId="{FAB1F16F-4794-42F1-BBF8-C6387CC5E0E7}" destId="{E8695761-1241-4620-9CFF-4BC6303A3C9D}" srcOrd="1" destOrd="0" presId="urn:microsoft.com/office/officeart/2005/8/layout/list1"/>
    <dgm:cxn modelId="{4295DF48-F50C-4876-A62D-8A666DD6727F}" type="presParOf" srcId="{DAA28CE4-A24A-4388-A9F6-B805128187DD}" destId="{59A9AFC2-21CE-400F-8DEF-807908161CA2}" srcOrd="5" destOrd="0" presId="urn:microsoft.com/office/officeart/2005/8/layout/list1"/>
    <dgm:cxn modelId="{52B83E08-D730-4180-B0E7-BE76DDDFF99F}" type="presParOf" srcId="{DAA28CE4-A24A-4388-A9F6-B805128187DD}" destId="{0C6DFB96-F76F-4CFD-91BB-E0AC47DEF4D7}"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2A4F5-3656-40A3-A7A9-A0FA686639FE}">
      <dsp:nvSpPr>
        <dsp:cNvPr id="0" name=""/>
        <dsp:cNvSpPr/>
      </dsp:nvSpPr>
      <dsp:spPr>
        <a:xfrm>
          <a:off x="0" y="244254"/>
          <a:ext cx="7353403" cy="8158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0706" tIns="291592" rIns="570706" bIns="99568" numCol="1" spcCol="1270" anchor="t" anchorCtr="0">
          <a:noAutofit/>
        </a:bodyPr>
        <a:lstStyle/>
        <a:p>
          <a:pPr marL="114300" lvl="1" indent="-114300" algn="l" defTabSz="622300">
            <a:lnSpc>
              <a:spcPct val="90000"/>
            </a:lnSpc>
            <a:spcBef>
              <a:spcPct val="0"/>
            </a:spcBef>
            <a:spcAft>
              <a:spcPct val="15000"/>
            </a:spcAft>
            <a:buChar char="•"/>
          </a:pPr>
          <a:r>
            <a:rPr lang="fr-FR" sz="1400" b="1" kern="1200" noProof="0" dirty="0"/>
            <a:t>Entreprise d’Import-Export; Grossiste; Super Marché/Magasin; </a:t>
          </a:r>
          <a:endParaRPr lang="fr-FR" sz="1400" kern="1200" noProof="0" dirty="0"/>
        </a:p>
        <a:p>
          <a:pPr marL="114300" lvl="1" indent="-114300" algn="l" defTabSz="622300">
            <a:lnSpc>
              <a:spcPct val="90000"/>
            </a:lnSpc>
            <a:spcBef>
              <a:spcPct val="0"/>
            </a:spcBef>
            <a:spcAft>
              <a:spcPct val="15000"/>
            </a:spcAft>
            <a:buChar char="•"/>
          </a:pPr>
          <a:r>
            <a:rPr lang="fr-FR" sz="1400" b="1" kern="1200" noProof="0" dirty="0"/>
            <a:t>Entreprise de Logistique; Entrepôt Industriel, Etc.</a:t>
          </a:r>
          <a:endParaRPr lang="fr-FR" sz="1400" kern="1200" noProof="0" dirty="0"/>
        </a:p>
      </dsp:txBody>
      <dsp:txXfrm>
        <a:off x="0" y="244254"/>
        <a:ext cx="7353403" cy="815850"/>
      </dsp:txXfrm>
    </dsp:sp>
    <dsp:sp modelId="{B64CA349-6D02-4FDD-9BD2-A6E21EA4C40F}">
      <dsp:nvSpPr>
        <dsp:cNvPr id="0" name=""/>
        <dsp:cNvSpPr/>
      </dsp:nvSpPr>
      <dsp:spPr>
        <a:xfrm>
          <a:off x="367670" y="37614"/>
          <a:ext cx="5147382" cy="41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4559" tIns="0" rIns="194559" bIns="0" numCol="1" spcCol="1270" anchor="ctr" anchorCtr="0">
          <a:noAutofit/>
        </a:bodyPr>
        <a:lstStyle/>
        <a:p>
          <a:pPr marL="0" lvl="0" indent="0" algn="l" defTabSz="800100">
            <a:lnSpc>
              <a:spcPct val="90000"/>
            </a:lnSpc>
            <a:spcBef>
              <a:spcPct val="0"/>
            </a:spcBef>
            <a:spcAft>
              <a:spcPct val="35000"/>
            </a:spcAft>
            <a:buNone/>
          </a:pPr>
          <a:r>
            <a:rPr lang="en-US" sz="1800" b="1" kern="1200" dirty="0" err="1"/>
            <a:t>Sociétés</a:t>
          </a:r>
          <a:r>
            <a:rPr lang="en-US" sz="1800" b="1" kern="1200" dirty="0"/>
            <a:t> </a:t>
          </a:r>
          <a:r>
            <a:rPr lang="fr-FR" sz="1800" b="1" kern="1200" noProof="0" dirty="0"/>
            <a:t>Cibles</a:t>
          </a:r>
          <a:endParaRPr lang="fr-FR" sz="1800" kern="1200" noProof="0" dirty="0"/>
        </a:p>
      </dsp:txBody>
      <dsp:txXfrm>
        <a:off x="387845" y="57789"/>
        <a:ext cx="5107032" cy="372930"/>
      </dsp:txXfrm>
    </dsp:sp>
    <dsp:sp modelId="{0C6DFB96-F76F-4CFD-91BB-E0AC47DEF4D7}">
      <dsp:nvSpPr>
        <dsp:cNvPr id="0" name=""/>
        <dsp:cNvSpPr/>
      </dsp:nvSpPr>
      <dsp:spPr>
        <a:xfrm>
          <a:off x="0" y="1342344"/>
          <a:ext cx="7353403" cy="167580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0706" tIns="291592" rIns="570706" bIns="99568" numCol="1" spcCol="1270" anchor="t" anchorCtr="0">
          <a:noAutofit/>
        </a:bodyPr>
        <a:lstStyle/>
        <a:p>
          <a:pPr marL="114300" lvl="1" indent="-114300" algn="l" defTabSz="622300">
            <a:lnSpc>
              <a:spcPct val="90000"/>
            </a:lnSpc>
            <a:spcBef>
              <a:spcPct val="0"/>
            </a:spcBef>
            <a:spcAft>
              <a:spcPct val="15000"/>
            </a:spcAft>
            <a:buChar char="•"/>
          </a:pPr>
          <a:r>
            <a:rPr lang="fr-FR" sz="1400" b="1" kern="1200" noProof="0" dirty="0"/>
            <a:t>Informatiser et Automatiser les taches quotidiennes des acteurs afin de réduire les taches chronophages. </a:t>
          </a:r>
          <a:endParaRPr lang="fr-FR" sz="1400" kern="1200" noProof="0" dirty="0"/>
        </a:p>
        <a:p>
          <a:pPr marL="114300" lvl="1" indent="-114300" algn="l" defTabSz="622300">
            <a:lnSpc>
              <a:spcPct val="90000"/>
            </a:lnSpc>
            <a:spcBef>
              <a:spcPct val="0"/>
            </a:spcBef>
            <a:spcAft>
              <a:spcPct val="15000"/>
            </a:spcAft>
            <a:buChar char="•"/>
          </a:pPr>
          <a:r>
            <a:rPr lang="fr-FR" sz="1400" b="1" kern="1200" noProof="0" dirty="0"/>
            <a:t>Les données saisies sont partagées entre différents services : Prise de Commande, Préparation de commande, Approvisionnement, Transport et Facturation.</a:t>
          </a:r>
          <a:endParaRPr lang="fr-FR" sz="1400" kern="1200" noProof="0" dirty="0"/>
        </a:p>
        <a:p>
          <a:pPr marL="114300" lvl="1" indent="-114300" algn="l" defTabSz="622300">
            <a:lnSpc>
              <a:spcPct val="90000"/>
            </a:lnSpc>
            <a:spcBef>
              <a:spcPct val="0"/>
            </a:spcBef>
            <a:spcAft>
              <a:spcPct val="15000"/>
            </a:spcAft>
            <a:buChar char="•"/>
          </a:pPr>
          <a:r>
            <a:rPr lang="fr-FR" sz="1400" b="1" kern="1200" noProof="0" dirty="0"/>
            <a:t>Les documents sont édités digitalement pour une gestion sans papier.</a:t>
          </a:r>
        </a:p>
        <a:p>
          <a:pPr marL="114300" lvl="1" indent="-114300" algn="l" defTabSz="622300">
            <a:lnSpc>
              <a:spcPct val="90000"/>
            </a:lnSpc>
            <a:spcBef>
              <a:spcPct val="0"/>
            </a:spcBef>
            <a:spcAft>
              <a:spcPct val="15000"/>
            </a:spcAft>
            <a:buChar char="•"/>
          </a:pPr>
          <a:r>
            <a:rPr lang="fr-FR" sz="1400" b="1" kern="1200" noProof="0" dirty="0"/>
            <a:t>Optimiser les tournées de livraison ou d’approvisionnement.</a:t>
          </a:r>
        </a:p>
      </dsp:txBody>
      <dsp:txXfrm>
        <a:off x="0" y="1342344"/>
        <a:ext cx="7353403" cy="1675800"/>
      </dsp:txXfrm>
    </dsp:sp>
    <dsp:sp modelId="{E8695761-1241-4620-9CFF-4BC6303A3C9D}">
      <dsp:nvSpPr>
        <dsp:cNvPr id="0" name=""/>
        <dsp:cNvSpPr/>
      </dsp:nvSpPr>
      <dsp:spPr>
        <a:xfrm>
          <a:off x="367670" y="1135704"/>
          <a:ext cx="5147382" cy="413280"/>
        </a:xfrm>
        <a:prstGeom prst="roundRect">
          <a:avLst/>
        </a:prstGeom>
        <a:solidFill>
          <a:schemeClr val="accent2">
            <a:hueOff val="-1455363"/>
            <a:satOff val="-83928"/>
            <a:lumOff val="86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4559" tIns="0" rIns="194559" bIns="0" numCol="1" spcCol="1270" anchor="ctr" anchorCtr="0">
          <a:noAutofit/>
        </a:bodyPr>
        <a:lstStyle/>
        <a:p>
          <a:pPr marL="0" lvl="0" indent="0" algn="l" defTabSz="800100">
            <a:lnSpc>
              <a:spcPct val="90000"/>
            </a:lnSpc>
            <a:spcBef>
              <a:spcPct val="0"/>
            </a:spcBef>
            <a:spcAft>
              <a:spcPct val="35000"/>
            </a:spcAft>
            <a:buNone/>
          </a:pPr>
          <a:r>
            <a:rPr lang="en-US" sz="1800" b="1" kern="1200" dirty="0"/>
            <a:t>Le </a:t>
          </a:r>
          <a:r>
            <a:rPr lang="fr-FR" sz="1800" b="1" kern="1200" noProof="0" dirty="0"/>
            <a:t>but</a:t>
          </a:r>
          <a:r>
            <a:rPr lang="en-US" sz="1800" b="1" kern="1200" dirty="0"/>
            <a:t> du </a:t>
          </a:r>
          <a:r>
            <a:rPr lang="fr-FR" sz="1800" b="1" kern="1200" noProof="0" dirty="0"/>
            <a:t>Système</a:t>
          </a:r>
          <a:r>
            <a:rPr lang="en-US" sz="1100" b="1" kern="1200" dirty="0"/>
            <a:t>	</a:t>
          </a:r>
          <a:endParaRPr lang="en-US" sz="1100" kern="1200" dirty="0"/>
        </a:p>
      </dsp:txBody>
      <dsp:txXfrm>
        <a:off x="387845" y="1155879"/>
        <a:ext cx="5107032"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0669D2-112B-4DD0-A0FA-C8877CCEEFAE}" type="datetimeFigureOut">
              <a:rPr lang="fr-FR" smtClean="0"/>
              <a:t>26/09/2025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CD2AF-1010-4878-95C4-FBB0B706FF32}" type="slidenum">
              <a:rPr lang="fr-FR" smtClean="0"/>
              <a:t>‹N°›</a:t>
            </a:fld>
            <a:endParaRPr lang="fr-FR"/>
          </a:p>
        </p:txBody>
      </p:sp>
    </p:spTree>
    <p:extLst>
      <p:ext uri="{BB962C8B-B14F-4D97-AF65-F5344CB8AC3E}">
        <p14:creationId xmlns:p14="http://schemas.microsoft.com/office/powerpoint/2010/main" val="1056621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37473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175471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3711251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3113935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2150037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3318203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3105267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418620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992511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854253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4282322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4194889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4104222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3102070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2994127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1396246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1309803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052E-B03C-6242-E62E-7E162ACCAC2A}"/>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8FF95E21-607D-960E-9D81-A0E0EEC2232E}"/>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9E52868E-B6AF-51D1-79B3-D8012C5E3D7A}"/>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4094924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22869751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E80E0EE-81DE-4A67-A385-1421228F316A}"/>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1683367-ECEB-4170-9722-3EAE3EBE06D4}"/>
              </a:ext>
            </a:extLst>
          </p:cNvPr>
          <p:cNvSpPr>
            <a:spLocks noGrp="1" noChangeArrowheads="1"/>
          </p:cNvSpPr>
          <p:nvPr>
            <p:ph type="body" idx="1"/>
          </p:nvPr>
        </p:nvSpPr>
        <p:spPr/>
        <p:txBody>
          <a:bodyPr/>
          <a:lstStyle/>
          <a:p>
            <a:endParaRPr lang="fr-FR" altLang="fr-FR"/>
          </a:p>
        </p:txBody>
      </p:sp>
    </p:spTree>
    <p:extLst>
      <p:ext uri="{BB962C8B-B14F-4D97-AF65-F5344CB8AC3E}">
        <p14:creationId xmlns:p14="http://schemas.microsoft.com/office/powerpoint/2010/main" val="2447574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7F11566E-16F7-419F-8DA6-58AC1E2532E5}" type="datetimeFigureOut">
              <a:rPr lang="fr-FR" smtClean="0"/>
              <a:t>26/09/2025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109897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F11566E-16F7-419F-8DA6-58AC1E2532E5}" type="datetimeFigureOut">
              <a:rPr lang="fr-FR" smtClean="0"/>
              <a:t>26/09/2025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1381994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7F11566E-16F7-419F-8DA6-58AC1E2532E5}" type="datetimeFigureOut">
              <a:rPr lang="fr-FR" smtClean="0"/>
              <a:t>26/09/2025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1754468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F11566E-16F7-419F-8DA6-58AC1E2532E5}" type="datetimeFigureOut">
              <a:rPr lang="fr-FR" smtClean="0"/>
              <a:t>26/09/2025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1392748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F11566E-16F7-419F-8DA6-58AC1E2532E5}" type="datetimeFigureOut">
              <a:rPr lang="fr-FR" smtClean="0"/>
              <a:t>26/09/2025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825914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F11566E-16F7-419F-8DA6-58AC1E2532E5}" type="datetimeFigureOut">
              <a:rPr lang="fr-FR" smtClean="0"/>
              <a:t>26/09/2025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2799557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F11566E-16F7-419F-8DA6-58AC1E2532E5}" type="datetimeFigureOut">
              <a:rPr lang="fr-FR" smtClean="0"/>
              <a:t>26/09/2025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425414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F11566E-16F7-419F-8DA6-58AC1E2532E5}" type="datetimeFigureOut">
              <a:rPr lang="fr-FR" smtClean="0"/>
              <a:t>26/09/2025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3744720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F11566E-16F7-419F-8DA6-58AC1E2532E5}" type="datetimeFigureOut">
              <a:rPr lang="fr-FR" smtClean="0"/>
              <a:t>26/09/2025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2827447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F11566E-16F7-419F-8DA6-58AC1E2532E5}" type="datetimeFigureOut">
              <a:rPr lang="fr-FR" smtClean="0"/>
              <a:t>26/09/2025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3036260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F11566E-16F7-419F-8DA6-58AC1E2532E5}" type="datetimeFigureOut">
              <a:rPr lang="fr-FR" smtClean="0"/>
              <a:t>26/09/2025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58EF32-97BC-402F-9996-7C1A6ED85EE3}" type="slidenum">
              <a:rPr lang="fr-FR" smtClean="0"/>
              <a:t>‹N°›</a:t>
            </a:fld>
            <a:endParaRPr lang="fr-FR"/>
          </a:p>
        </p:txBody>
      </p:sp>
    </p:spTree>
    <p:extLst>
      <p:ext uri="{BB962C8B-B14F-4D97-AF65-F5344CB8AC3E}">
        <p14:creationId xmlns:p14="http://schemas.microsoft.com/office/powerpoint/2010/main" val="22534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11566E-16F7-419F-8DA6-58AC1E2532E5}" type="datetimeFigureOut">
              <a:rPr lang="fr-FR" smtClean="0"/>
              <a:t>26/09/2025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58EF32-97BC-402F-9996-7C1A6ED85EE3}" type="slidenum">
              <a:rPr lang="fr-FR" smtClean="0"/>
              <a:t>‹N°›</a:t>
            </a:fld>
            <a:endParaRPr lang="fr-FR"/>
          </a:p>
        </p:txBody>
      </p:sp>
    </p:spTree>
    <p:extLst>
      <p:ext uri="{BB962C8B-B14F-4D97-AF65-F5344CB8AC3E}">
        <p14:creationId xmlns:p14="http://schemas.microsoft.com/office/powerpoint/2010/main" val="1757635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microsoft.com/office/2007/relationships/hdphoto" Target="../media/hdphoto1.wdp"/><Relationship Id="rId4" Type="http://schemas.openxmlformats.org/officeDocument/2006/relationships/diagramData" Target="../diagrams/data1.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véhicule, ciel, transport, roue&#10;&#10;Description générée automatiquement">
            <a:extLst>
              <a:ext uri="{FF2B5EF4-FFF2-40B4-BE49-F238E27FC236}">
                <a16:creationId xmlns:a16="http://schemas.microsoft.com/office/drawing/2014/main" id="{8FEB6D0E-4F8F-40BE-8E63-7B032D52413A}"/>
              </a:ext>
            </a:extLst>
          </p:cNvPr>
          <p:cNvPicPr>
            <a:picLocks noChangeAspect="1"/>
          </p:cNvPicPr>
          <p:nvPr/>
        </p:nvPicPr>
        <p:blipFill rotWithShape="1">
          <a:blip r:embed="rId3"/>
          <a:srcRect t="7134" b="7135"/>
          <a:stretch/>
        </p:blipFill>
        <p:spPr>
          <a:xfrm>
            <a:off x="21" y="11"/>
            <a:ext cx="10858480" cy="3580724"/>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graphicFrame>
        <p:nvGraphicFramePr>
          <p:cNvPr id="20" name="ZoneTexte 6">
            <a:extLst>
              <a:ext uri="{FF2B5EF4-FFF2-40B4-BE49-F238E27FC236}">
                <a16:creationId xmlns:a16="http://schemas.microsoft.com/office/drawing/2014/main" id="{89E74EFD-3C82-446D-2028-372A5C94F424}"/>
              </a:ext>
            </a:extLst>
          </p:cNvPr>
          <p:cNvGraphicFramePr/>
          <p:nvPr>
            <p:extLst>
              <p:ext uri="{D42A27DB-BD31-4B8C-83A1-F6EECF244321}">
                <p14:modId xmlns:p14="http://schemas.microsoft.com/office/powerpoint/2010/main" val="167600365"/>
              </p:ext>
            </p:extLst>
          </p:nvPr>
        </p:nvGraphicFramePr>
        <p:xfrm>
          <a:off x="4410074" y="3802241"/>
          <a:ext cx="7353403" cy="30557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ZoneTexte 6">
            <a:extLst>
              <a:ext uri="{FF2B5EF4-FFF2-40B4-BE49-F238E27FC236}">
                <a16:creationId xmlns:a16="http://schemas.microsoft.com/office/drawing/2014/main" id="{60889586-3E4E-48AA-A5A1-227529509C67}"/>
              </a:ext>
            </a:extLst>
          </p:cNvPr>
          <p:cNvSpPr txBox="1"/>
          <p:nvPr/>
        </p:nvSpPr>
        <p:spPr>
          <a:xfrm>
            <a:off x="121945" y="892737"/>
            <a:ext cx="4522059" cy="584775"/>
          </a:xfrm>
          <a:prstGeom prst="rect">
            <a:avLst/>
          </a:prstGeom>
          <a:noFill/>
          <a:scene3d>
            <a:camera prst="perspectiveHeroicExtremeRightFacing" fov="4800000">
              <a:rot lat="20610619" lon="1021174" rev="533032"/>
            </a:camera>
            <a:lightRig rig="glow" dir="t"/>
          </a:scene3d>
          <a:sp3d z="31750"/>
        </p:spPr>
        <p:txBody>
          <a:bodyPr wrap="square" rtlCol="0">
            <a:spAutoFit/>
          </a:bodyPr>
          <a:lstStyle/>
          <a:p>
            <a:r>
              <a:rPr lang="fr-FR" sz="3200" b="1" dirty="0">
                <a:solidFill>
                  <a:srgbClr val="FF0000"/>
                </a:solidFill>
              </a:rPr>
              <a:t>Gestion de la Logistique</a:t>
            </a:r>
          </a:p>
        </p:txBody>
      </p:sp>
      <p:sp>
        <p:nvSpPr>
          <p:cNvPr id="8" name="ZoneTexte 7">
            <a:extLst>
              <a:ext uri="{FF2B5EF4-FFF2-40B4-BE49-F238E27FC236}">
                <a16:creationId xmlns:a16="http://schemas.microsoft.com/office/drawing/2014/main" id="{7CF9E826-261D-4421-8E46-B15067EA73A7}"/>
              </a:ext>
            </a:extLst>
          </p:cNvPr>
          <p:cNvSpPr txBox="1"/>
          <p:nvPr/>
        </p:nvSpPr>
        <p:spPr>
          <a:xfrm>
            <a:off x="788213" y="2082867"/>
            <a:ext cx="4522059" cy="400110"/>
          </a:xfrm>
          <a:prstGeom prst="rect">
            <a:avLst/>
          </a:prstGeom>
          <a:noFill/>
          <a:scene3d>
            <a:camera prst="perspectiveHeroicExtremeRightFacing" fov="4800000">
              <a:rot lat="197075" lon="1203136" rev="511790"/>
            </a:camera>
            <a:lightRig rig="glow" dir="t"/>
          </a:scene3d>
          <a:sp3d z="31750"/>
        </p:spPr>
        <p:txBody>
          <a:bodyPr wrap="square" rtlCol="0">
            <a:spAutoFit/>
          </a:bodyPr>
          <a:lstStyle/>
          <a:p>
            <a:pPr marL="342900" indent="-342900">
              <a:buFont typeface="Wingdings" panose="05000000000000000000" pitchFamily="2" charset="2"/>
              <a:buChar char="Ø"/>
            </a:pPr>
            <a:r>
              <a:rPr lang="fr-FR" sz="2000" b="1" dirty="0">
                <a:solidFill>
                  <a:srgbClr val="FF0000"/>
                </a:solidFill>
              </a:rPr>
              <a:t>Optimiser les Services</a:t>
            </a:r>
          </a:p>
        </p:txBody>
      </p:sp>
      <p:sp>
        <p:nvSpPr>
          <p:cNvPr id="9" name="ZoneTexte 8">
            <a:extLst>
              <a:ext uri="{FF2B5EF4-FFF2-40B4-BE49-F238E27FC236}">
                <a16:creationId xmlns:a16="http://schemas.microsoft.com/office/drawing/2014/main" id="{560CC6D3-5011-42BB-80D0-9C241EDB6D17}"/>
              </a:ext>
            </a:extLst>
          </p:cNvPr>
          <p:cNvSpPr txBox="1"/>
          <p:nvPr/>
        </p:nvSpPr>
        <p:spPr>
          <a:xfrm>
            <a:off x="713244" y="1401750"/>
            <a:ext cx="4522059" cy="400110"/>
          </a:xfrm>
          <a:prstGeom prst="rect">
            <a:avLst/>
          </a:prstGeom>
          <a:noFill/>
          <a:scene3d>
            <a:camera prst="perspectiveHeroicExtremeRightFacing" fov="4800000">
              <a:rot lat="21203713" lon="1113991" rev="514384"/>
            </a:camera>
            <a:lightRig rig="glow" dir="t"/>
          </a:scene3d>
          <a:sp3d z="31750"/>
        </p:spPr>
        <p:txBody>
          <a:bodyPr wrap="square" rtlCol="0">
            <a:spAutoFit/>
          </a:bodyPr>
          <a:lstStyle/>
          <a:p>
            <a:pPr marL="342900" indent="-342900">
              <a:buFont typeface="Wingdings" panose="05000000000000000000" pitchFamily="2" charset="2"/>
              <a:buChar char="Ø"/>
            </a:pPr>
            <a:r>
              <a:rPr lang="fr-FR" sz="2000" b="1" dirty="0">
                <a:solidFill>
                  <a:srgbClr val="FF0000"/>
                </a:solidFill>
              </a:rPr>
              <a:t>Informatiser les Ressources</a:t>
            </a:r>
          </a:p>
        </p:txBody>
      </p:sp>
      <p:sp>
        <p:nvSpPr>
          <p:cNvPr id="10" name="ZoneTexte 9">
            <a:extLst>
              <a:ext uri="{FF2B5EF4-FFF2-40B4-BE49-F238E27FC236}">
                <a16:creationId xmlns:a16="http://schemas.microsoft.com/office/drawing/2014/main" id="{A2F273B7-1B7B-4A97-82E5-7DE026228191}"/>
              </a:ext>
            </a:extLst>
          </p:cNvPr>
          <p:cNvSpPr txBox="1"/>
          <p:nvPr/>
        </p:nvSpPr>
        <p:spPr>
          <a:xfrm>
            <a:off x="757352" y="1752218"/>
            <a:ext cx="4522059" cy="400110"/>
          </a:xfrm>
          <a:prstGeom prst="rect">
            <a:avLst/>
          </a:prstGeom>
          <a:noFill/>
          <a:scene3d>
            <a:camera prst="perspectiveHeroicExtremeRightFacing" fov="4800000">
              <a:rot lat="21500385" lon="1158675" rev="511159"/>
            </a:camera>
            <a:lightRig rig="glow" dir="t"/>
          </a:scene3d>
          <a:sp3d z="31750"/>
        </p:spPr>
        <p:txBody>
          <a:bodyPr wrap="square" rtlCol="0">
            <a:spAutoFit/>
          </a:bodyPr>
          <a:lstStyle/>
          <a:p>
            <a:pPr marL="342900" indent="-342900">
              <a:buFont typeface="Wingdings" panose="05000000000000000000" pitchFamily="2" charset="2"/>
              <a:buChar char="Ø"/>
            </a:pPr>
            <a:r>
              <a:rPr lang="fr-FR" sz="2000" b="1" dirty="0">
                <a:solidFill>
                  <a:srgbClr val="FF0000"/>
                </a:solidFill>
              </a:rPr>
              <a:t>Automatiser les Taches</a:t>
            </a:r>
          </a:p>
        </p:txBody>
      </p:sp>
      <p:sp>
        <p:nvSpPr>
          <p:cNvPr id="12" name="ZoneTexte 11">
            <a:extLst>
              <a:ext uri="{FF2B5EF4-FFF2-40B4-BE49-F238E27FC236}">
                <a16:creationId xmlns:a16="http://schemas.microsoft.com/office/drawing/2014/main" id="{B97C78B2-5139-49E5-BA56-9F0E9481863F}"/>
              </a:ext>
            </a:extLst>
          </p:cNvPr>
          <p:cNvSpPr txBox="1"/>
          <p:nvPr/>
        </p:nvSpPr>
        <p:spPr>
          <a:xfrm>
            <a:off x="395399" y="4235184"/>
            <a:ext cx="3662251" cy="954107"/>
          </a:xfrm>
          <a:prstGeom prst="rect">
            <a:avLst/>
          </a:prstGeom>
          <a:noFill/>
        </p:spPr>
        <p:txBody>
          <a:bodyPr wrap="square" rtlCol="0">
            <a:spAutoFit/>
          </a:bodyPr>
          <a:lstStyle/>
          <a:p>
            <a:r>
              <a:rPr lang="fr-FR" sz="1400" b="1" i="0" dirty="0">
                <a:solidFill>
                  <a:srgbClr val="FF0000"/>
                </a:solidFill>
                <a:effectLst/>
                <a:latin typeface="Open Sans" panose="020B0606030504020204" pitchFamily="34" charset="0"/>
              </a:rPr>
              <a:t>Experts</a:t>
            </a:r>
            <a:r>
              <a:rPr lang="fr-FR" sz="1400" b="0" i="0" dirty="0">
                <a:solidFill>
                  <a:srgbClr val="FF0000"/>
                </a:solidFill>
                <a:effectLst/>
                <a:latin typeface="Open Sans" panose="020B0606030504020204" pitchFamily="34" charset="0"/>
              </a:rPr>
              <a:t> dans les domaines de la logistique, de la dématérialisation, de l'archivage et du document numérique, du CRM, du Big Data, ...</a:t>
            </a:r>
            <a:endParaRPr lang="fr-FR" sz="1400" b="1" dirty="0">
              <a:solidFill>
                <a:srgbClr val="FF0000"/>
              </a:solidFill>
            </a:endParaRPr>
          </a:p>
        </p:txBody>
      </p:sp>
      <p:pic>
        <p:nvPicPr>
          <p:cNvPr id="11" name="Image 10">
            <a:extLst>
              <a:ext uri="{FF2B5EF4-FFF2-40B4-BE49-F238E27FC236}">
                <a16:creationId xmlns:a16="http://schemas.microsoft.com/office/drawing/2014/main" id="{0F477A3E-586B-4E55-983D-06178C548DC6}"/>
              </a:ext>
            </a:extLst>
          </p:cNvPr>
          <p:cNvPicPr>
            <a:picLocks noChangeAspect="1"/>
          </p:cNvPicPr>
          <p:nvPr/>
        </p:nvPicPr>
        <p:blipFill rotWithShape="1">
          <a:blip r:embed="rId9">
            <a:alphaModFix/>
            <a:extLst>
              <a:ext uri="{BEBA8EAE-BF5A-486C-A8C5-ECC9F3942E4B}">
                <a14:imgProps xmlns:a14="http://schemas.microsoft.com/office/drawing/2010/main">
                  <a14:imgLayer r:embed="rId10">
                    <a14:imgEffect>
                      <a14:saturation sat="72000"/>
                    </a14:imgEffect>
                  </a14:imgLayer>
                </a14:imgProps>
              </a:ext>
            </a:extLst>
          </a:blip>
          <a:srcRect r="20336"/>
          <a:stretch/>
        </p:blipFill>
        <p:spPr>
          <a:xfrm>
            <a:off x="7343439" y="-9525"/>
            <a:ext cx="4848562" cy="3461299"/>
          </a:xfrm>
          <a:prstGeom prst="rect">
            <a:avLst/>
          </a:prstGeom>
        </p:spPr>
      </p:pic>
    </p:spTree>
    <p:extLst>
      <p:ext uri="{BB962C8B-B14F-4D97-AF65-F5344CB8AC3E}">
        <p14:creationId xmlns:p14="http://schemas.microsoft.com/office/powerpoint/2010/main" val="430673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Ellipse 141">
            <a:extLst>
              <a:ext uri="{FF2B5EF4-FFF2-40B4-BE49-F238E27FC236}">
                <a16:creationId xmlns:a16="http://schemas.microsoft.com/office/drawing/2014/main" id="{1F6A0BE6-B115-434A-8797-976066862CC5}"/>
              </a:ext>
            </a:extLst>
          </p:cNvPr>
          <p:cNvSpPr/>
          <p:nvPr/>
        </p:nvSpPr>
        <p:spPr>
          <a:xfrm>
            <a:off x="6009668" y="613399"/>
            <a:ext cx="5822985" cy="3333875"/>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fr-FR" b="1" dirty="0">
                <a:solidFill>
                  <a:srgbClr val="FF0000"/>
                </a:solidFill>
              </a:rPr>
              <a:t>Serveur d’applications</a:t>
            </a:r>
          </a:p>
        </p:txBody>
      </p:sp>
      <p:sp>
        <p:nvSpPr>
          <p:cNvPr id="2" name="Titre 1"/>
          <p:cNvSpPr>
            <a:spLocks noGrp="1"/>
          </p:cNvSpPr>
          <p:nvPr>
            <p:ph type="ctrTitle"/>
          </p:nvPr>
        </p:nvSpPr>
        <p:spPr>
          <a:xfrm>
            <a:off x="0" y="0"/>
            <a:ext cx="12192000" cy="376644"/>
          </a:xfrm>
          <a:gradFill>
            <a:gsLst>
              <a:gs pos="0">
                <a:schemeClr val="accent1">
                  <a:lumMod val="5000"/>
                  <a:lumOff val="95000"/>
                </a:schemeClr>
              </a:gs>
              <a:gs pos="0">
                <a:schemeClr val="accent1">
                  <a:lumMod val="45000"/>
                  <a:lumOff val="55000"/>
                </a:schemeClr>
              </a:gs>
              <a:gs pos="83000">
                <a:schemeClr val="accent1">
                  <a:lumMod val="45000"/>
                  <a:lumOff val="55000"/>
                </a:schemeClr>
              </a:gs>
              <a:gs pos="44000">
                <a:schemeClr val="accent1">
                  <a:lumMod val="30000"/>
                  <a:lumOff val="70000"/>
                </a:schemeClr>
              </a:gs>
            </a:gsLst>
            <a:lin ang="5400000" scaled="1"/>
          </a:gradFill>
          <a:ln w="12700">
            <a:solidFill>
              <a:schemeClr val="accent6"/>
            </a:solidFill>
          </a:ln>
        </p:spPr>
        <p:txBody>
          <a:bodyPr>
            <a:normAutofit/>
          </a:bodyPr>
          <a:lstStyle/>
          <a:p>
            <a:pPr algn="l"/>
            <a:r>
              <a:rPr lang="fr-FR" sz="1800" b="1" dirty="0"/>
              <a:t>Schémas fonctionnels – Objectif</a:t>
            </a:r>
          </a:p>
        </p:txBody>
      </p:sp>
      <p:grpSp>
        <p:nvGrpSpPr>
          <p:cNvPr id="59" name="Groupe 58">
            <a:extLst>
              <a:ext uri="{FF2B5EF4-FFF2-40B4-BE49-F238E27FC236}">
                <a16:creationId xmlns:a16="http://schemas.microsoft.com/office/drawing/2014/main" id="{8E6A1CAA-C722-449B-8F0C-8FA41A941449}"/>
              </a:ext>
            </a:extLst>
          </p:cNvPr>
          <p:cNvGrpSpPr/>
          <p:nvPr/>
        </p:nvGrpSpPr>
        <p:grpSpPr>
          <a:xfrm>
            <a:off x="9961089" y="4308871"/>
            <a:ext cx="457208" cy="550219"/>
            <a:chOff x="7188732" y="3044756"/>
            <a:chExt cx="1488332" cy="1264537"/>
          </a:xfrm>
        </p:grpSpPr>
        <p:sp>
          <p:nvSpPr>
            <p:cNvPr id="60" name="Organigramme : Disque magnétique 59">
              <a:extLst>
                <a:ext uri="{FF2B5EF4-FFF2-40B4-BE49-F238E27FC236}">
                  <a16:creationId xmlns:a16="http://schemas.microsoft.com/office/drawing/2014/main" id="{58DE0B95-4B1F-4029-9E01-BBD6F109DA4C}"/>
                </a:ext>
              </a:extLst>
            </p:cNvPr>
            <p:cNvSpPr/>
            <p:nvPr/>
          </p:nvSpPr>
          <p:spPr>
            <a:xfrm>
              <a:off x="7188732" y="3728948"/>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Organigramme : Disque magnétique 60">
              <a:extLst>
                <a:ext uri="{FF2B5EF4-FFF2-40B4-BE49-F238E27FC236}">
                  <a16:creationId xmlns:a16="http://schemas.microsoft.com/office/drawing/2014/main" id="{E2E38A83-E5DF-4AC9-B28E-1C05960067BB}"/>
                </a:ext>
              </a:extLst>
            </p:cNvPr>
            <p:cNvSpPr/>
            <p:nvPr/>
          </p:nvSpPr>
          <p:spPr>
            <a:xfrm>
              <a:off x="7188732" y="3401444"/>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Organigramme : Disque magnétique 61">
              <a:extLst>
                <a:ext uri="{FF2B5EF4-FFF2-40B4-BE49-F238E27FC236}">
                  <a16:creationId xmlns:a16="http://schemas.microsoft.com/office/drawing/2014/main" id="{77EC5413-1195-4E00-862F-47418FC99FB2}"/>
                </a:ext>
              </a:extLst>
            </p:cNvPr>
            <p:cNvSpPr/>
            <p:nvPr/>
          </p:nvSpPr>
          <p:spPr>
            <a:xfrm>
              <a:off x="7188732" y="3044756"/>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 name="Groupe 7">
            <a:extLst>
              <a:ext uri="{FF2B5EF4-FFF2-40B4-BE49-F238E27FC236}">
                <a16:creationId xmlns:a16="http://schemas.microsoft.com/office/drawing/2014/main" id="{99A89459-5B3A-0325-5511-8D335782C675}"/>
              </a:ext>
            </a:extLst>
          </p:cNvPr>
          <p:cNvGrpSpPr/>
          <p:nvPr/>
        </p:nvGrpSpPr>
        <p:grpSpPr>
          <a:xfrm>
            <a:off x="10612935" y="4696406"/>
            <a:ext cx="1123272" cy="684161"/>
            <a:chOff x="10612935" y="4696406"/>
            <a:chExt cx="1123272" cy="684161"/>
          </a:xfrm>
        </p:grpSpPr>
        <p:sp>
          <p:nvSpPr>
            <p:cNvPr id="64" name="Cadre 63">
              <a:extLst>
                <a:ext uri="{FF2B5EF4-FFF2-40B4-BE49-F238E27FC236}">
                  <a16:creationId xmlns:a16="http://schemas.microsoft.com/office/drawing/2014/main" id="{FFE8B546-E76A-4FE5-B72A-6B3B4471E24A}"/>
                </a:ext>
              </a:extLst>
            </p:cNvPr>
            <p:cNvSpPr/>
            <p:nvPr/>
          </p:nvSpPr>
          <p:spPr>
            <a:xfrm>
              <a:off x="10750098" y="4696406"/>
              <a:ext cx="986109" cy="524313"/>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5" name="Rectangle : coins arrondis 64">
              <a:extLst>
                <a:ext uri="{FF2B5EF4-FFF2-40B4-BE49-F238E27FC236}">
                  <a16:creationId xmlns:a16="http://schemas.microsoft.com/office/drawing/2014/main" id="{810AF39C-C829-4A71-8B82-B7B590279DAF}"/>
                </a:ext>
              </a:extLst>
            </p:cNvPr>
            <p:cNvSpPr/>
            <p:nvPr/>
          </p:nvSpPr>
          <p:spPr>
            <a:xfrm>
              <a:off x="10773031" y="4707547"/>
              <a:ext cx="940242" cy="497323"/>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Facturation</a:t>
              </a:r>
            </a:p>
          </p:txBody>
        </p:sp>
        <p:sp>
          <p:nvSpPr>
            <p:cNvPr id="66" name="Cube 65">
              <a:extLst>
                <a:ext uri="{FF2B5EF4-FFF2-40B4-BE49-F238E27FC236}">
                  <a16:creationId xmlns:a16="http://schemas.microsoft.com/office/drawing/2014/main" id="{25867371-249D-4A94-886D-75D635C3C6A6}"/>
                </a:ext>
              </a:extLst>
            </p:cNvPr>
            <p:cNvSpPr/>
            <p:nvPr/>
          </p:nvSpPr>
          <p:spPr>
            <a:xfrm>
              <a:off x="10612935" y="5216010"/>
              <a:ext cx="1123272" cy="164557"/>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67" name="Connecteur : en arc 66">
            <a:extLst>
              <a:ext uri="{FF2B5EF4-FFF2-40B4-BE49-F238E27FC236}">
                <a16:creationId xmlns:a16="http://schemas.microsoft.com/office/drawing/2014/main" id="{456DD770-383A-4505-A7B0-5B80CA6D021D}"/>
              </a:ext>
            </a:extLst>
          </p:cNvPr>
          <p:cNvCxnSpPr>
            <a:cxnSpLocks/>
            <a:stCxn id="61" idx="4"/>
            <a:endCxn id="65" idx="1"/>
          </p:cNvCxnSpPr>
          <p:nvPr/>
        </p:nvCxnSpPr>
        <p:spPr>
          <a:xfrm>
            <a:off x="10418297" y="4590330"/>
            <a:ext cx="354734" cy="365879"/>
          </a:xfrm>
          <a:prstGeom prst="curvedConnector3">
            <a:avLst>
              <a:gd name="adj1" fmla="val 50000"/>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Connecteur : en arc 67">
            <a:extLst>
              <a:ext uri="{FF2B5EF4-FFF2-40B4-BE49-F238E27FC236}">
                <a16:creationId xmlns:a16="http://schemas.microsoft.com/office/drawing/2014/main" id="{A1DA50F0-170A-4116-84D9-232A7DAAE3B5}"/>
              </a:ext>
            </a:extLst>
          </p:cNvPr>
          <p:cNvCxnSpPr>
            <a:cxnSpLocks/>
            <a:endCxn id="61" idx="2"/>
          </p:cNvCxnSpPr>
          <p:nvPr/>
        </p:nvCxnSpPr>
        <p:spPr>
          <a:xfrm>
            <a:off x="8018585" y="2801815"/>
            <a:ext cx="1942504" cy="1788515"/>
          </a:xfrm>
          <a:prstGeom prst="curvedConnector3">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69" name="Groupe 68">
            <a:extLst>
              <a:ext uri="{FF2B5EF4-FFF2-40B4-BE49-F238E27FC236}">
                <a16:creationId xmlns:a16="http://schemas.microsoft.com/office/drawing/2014/main" id="{DD5E5247-B1AA-4D7E-A4FD-B9AF3AA0B8AC}"/>
              </a:ext>
            </a:extLst>
          </p:cNvPr>
          <p:cNvGrpSpPr/>
          <p:nvPr/>
        </p:nvGrpSpPr>
        <p:grpSpPr>
          <a:xfrm>
            <a:off x="3278446" y="4707547"/>
            <a:ext cx="457208" cy="552483"/>
            <a:chOff x="7188732" y="3044756"/>
            <a:chExt cx="1488332" cy="1264537"/>
          </a:xfrm>
        </p:grpSpPr>
        <p:sp>
          <p:nvSpPr>
            <p:cNvPr id="70" name="Organigramme : Disque magnétique 69">
              <a:extLst>
                <a:ext uri="{FF2B5EF4-FFF2-40B4-BE49-F238E27FC236}">
                  <a16:creationId xmlns:a16="http://schemas.microsoft.com/office/drawing/2014/main" id="{96599F3E-1485-4855-877C-FE857AD882FE}"/>
                </a:ext>
              </a:extLst>
            </p:cNvPr>
            <p:cNvSpPr/>
            <p:nvPr/>
          </p:nvSpPr>
          <p:spPr>
            <a:xfrm>
              <a:off x="7188732" y="3728948"/>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Organigramme : Disque magnétique 70">
              <a:extLst>
                <a:ext uri="{FF2B5EF4-FFF2-40B4-BE49-F238E27FC236}">
                  <a16:creationId xmlns:a16="http://schemas.microsoft.com/office/drawing/2014/main" id="{25392AED-2FA6-4C97-A4C4-07A23D89DC7A}"/>
                </a:ext>
              </a:extLst>
            </p:cNvPr>
            <p:cNvSpPr/>
            <p:nvPr/>
          </p:nvSpPr>
          <p:spPr>
            <a:xfrm>
              <a:off x="7188732" y="3401444"/>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Organigramme : Disque magnétique 71">
              <a:extLst>
                <a:ext uri="{FF2B5EF4-FFF2-40B4-BE49-F238E27FC236}">
                  <a16:creationId xmlns:a16="http://schemas.microsoft.com/office/drawing/2014/main" id="{9DEAE7D2-4B76-4392-AFE8-D0F61EF58461}"/>
                </a:ext>
              </a:extLst>
            </p:cNvPr>
            <p:cNvSpPr/>
            <p:nvPr/>
          </p:nvSpPr>
          <p:spPr>
            <a:xfrm>
              <a:off x="7188732" y="3044756"/>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 name="Groupe 4">
            <a:extLst>
              <a:ext uri="{FF2B5EF4-FFF2-40B4-BE49-F238E27FC236}">
                <a16:creationId xmlns:a16="http://schemas.microsoft.com/office/drawing/2014/main" id="{86C34D9B-3424-4D04-B452-2ECB6F110CBE}"/>
              </a:ext>
            </a:extLst>
          </p:cNvPr>
          <p:cNvGrpSpPr/>
          <p:nvPr/>
        </p:nvGrpSpPr>
        <p:grpSpPr>
          <a:xfrm>
            <a:off x="381407" y="4856598"/>
            <a:ext cx="1737782" cy="900076"/>
            <a:chOff x="381407" y="4856598"/>
            <a:chExt cx="1737782" cy="900076"/>
          </a:xfrm>
        </p:grpSpPr>
        <p:sp>
          <p:nvSpPr>
            <p:cNvPr id="74" name="Cadre 73">
              <a:extLst>
                <a:ext uri="{FF2B5EF4-FFF2-40B4-BE49-F238E27FC236}">
                  <a16:creationId xmlns:a16="http://schemas.microsoft.com/office/drawing/2014/main" id="{ED3E6553-7814-4D0D-B133-FC2CD4A39E45}"/>
                </a:ext>
              </a:extLst>
            </p:cNvPr>
            <p:cNvSpPr/>
            <p:nvPr/>
          </p:nvSpPr>
          <p:spPr>
            <a:xfrm>
              <a:off x="581158" y="4856598"/>
              <a:ext cx="1538031" cy="667295"/>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Rectangle : coins arrondis 74">
              <a:extLst>
                <a:ext uri="{FF2B5EF4-FFF2-40B4-BE49-F238E27FC236}">
                  <a16:creationId xmlns:a16="http://schemas.microsoft.com/office/drawing/2014/main" id="{2195B535-8BCF-4845-A60B-841B0E8E563E}"/>
                </a:ext>
              </a:extLst>
            </p:cNvPr>
            <p:cNvSpPr/>
            <p:nvPr/>
          </p:nvSpPr>
          <p:spPr>
            <a:xfrm>
              <a:off x="616928" y="4870777"/>
              <a:ext cx="1466492" cy="632945"/>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Préparation Commande</a:t>
              </a:r>
            </a:p>
            <a:p>
              <a:pPr algn="ctr"/>
              <a:r>
                <a:rPr lang="fr-FR" sz="1000" dirty="0">
                  <a:solidFill>
                    <a:schemeClr val="tx1"/>
                  </a:solidFill>
                </a:rPr>
                <a:t>Gestion de Livraison</a:t>
              </a:r>
            </a:p>
          </p:txBody>
        </p:sp>
        <p:sp>
          <p:nvSpPr>
            <p:cNvPr id="76" name="Cube 75">
              <a:extLst>
                <a:ext uri="{FF2B5EF4-FFF2-40B4-BE49-F238E27FC236}">
                  <a16:creationId xmlns:a16="http://schemas.microsoft.com/office/drawing/2014/main" id="{476B4C37-B9F1-4651-A8ED-33B3988B3124}"/>
                </a:ext>
              </a:extLst>
            </p:cNvPr>
            <p:cNvSpPr/>
            <p:nvPr/>
          </p:nvSpPr>
          <p:spPr>
            <a:xfrm>
              <a:off x="381407" y="5527681"/>
              <a:ext cx="1737782" cy="228993"/>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77" name="Connecteur : en arc 76">
            <a:extLst>
              <a:ext uri="{FF2B5EF4-FFF2-40B4-BE49-F238E27FC236}">
                <a16:creationId xmlns:a16="http://schemas.microsoft.com/office/drawing/2014/main" id="{6BE75F68-27FD-4BDD-91D8-3FC100738C0B}"/>
              </a:ext>
            </a:extLst>
          </p:cNvPr>
          <p:cNvCxnSpPr>
            <a:cxnSpLocks/>
            <a:stCxn id="70" idx="3"/>
            <a:endCxn id="75" idx="3"/>
          </p:cNvCxnSpPr>
          <p:nvPr/>
        </p:nvCxnSpPr>
        <p:spPr>
          <a:xfrm rot="5400000" flipH="1">
            <a:off x="2758845" y="4511825"/>
            <a:ext cx="72780" cy="1423630"/>
          </a:xfrm>
          <a:prstGeom prst="curvedConnector4">
            <a:avLst>
              <a:gd name="adj1" fmla="val -314097"/>
              <a:gd name="adj2" fmla="val 58029"/>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Connecteur : en arc 77">
            <a:extLst>
              <a:ext uri="{FF2B5EF4-FFF2-40B4-BE49-F238E27FC236}">
                <a16:creationId xmlns:a16="http://schemas.microsoft.com/office/drawing/2014/main" id="{87B6A201-97C5-41D9-9098-B929E4163D34}"/>
              </a:ext>
            </a:extLst>
          </p:cNvPr>
          <p:cNvCxnSpPr>
            <a:cxnSpLocks/>
            <a:stCxn id="157" idx="2"/>
            <a:endCxn id="71" idx="4"/>
          </p:cNvCxnSpPr>
          <p:nvPr/>
        </p:nvCxnSpPr>
        <p:spPr>
          <a:xfrm rot="10800000" flipV="1">
            <a:off x="3735655" y="2886624"/>
            <a:ext cx="3229471" cy="2103539"/>
          </a:xfrm>
          <a:prstGeom prst="curvedConnector3">
            <a:avLst>
              <a:gd name="adj1" fmla="val 50000"/>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9" name="Groupe 78">
            <a:extLst>
              <a:ext uri="{FF2B5EF4-FFF2-40B4-BE49-F238E27FC236}">
                <a16:creationId xmlns:a16="http://schemas.microsoft.com/office/drawing/2014/main" id="{8393CC05-F9BE-43DE-A49D-871AC44B81B1}"/>
              </a:ext>
            </a:extLst>
          </p:cNvPr>
          <p:cNvGrpSpPr/>
          <p:nvPr/>
        </p:nvGrpSpPr>
        <p:grpSpPr>
          <a:xfrm>
            <a:off x="3583604" y="1750350"/>
            <a:ext cx="457208" cy="552483"/>
            <a:chOff x="7188732" y="3044756"/>
            <a:chExt cx="1488332" cy="1264537"/>
          </a:xfrm>
        </p:grpSpPr>
        <p:sp>
          <p:nvSpPr>
            <p:cNvPr id="80" name="Organigramme : Disque magnétique 79">
              <a:extLst>
                <a:ext uri="{FF2B5EF4-FFF2-40B4-BE49-F238E27FC236}">
                  <a16:creationId xmlns:a16="http://schemas.microsoft.com/office/drawing/2014/main" id="{465F4D14-83A4-4055-BA85-E2EF2B3AD431}"/>
                </a:ext>
              </a:extLst>
            </p:cNvPr>
            <p:cNvSpPr/>
            <p:nvPr/>
          </p:nvSpPr>
          <p:spPr>
            <a:xfrm>
              <a:off x="7188732" y="3728948"/>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Organigramme : Disque magnétique 80">
              <a:extLst>
                <a:ext uri="{FF2B5EF4-FFF2-40B4-BE49-F238E27FC236}">
                  <a16:creationId xmlns:a16="http://schemas.microsoft.com/office/drawing/2014/main" id="{A6319AA9-9781-4807-A539-453FC3E10C21}"/>
                </a:ext>
              </a:extLst>
            </p:cNvPr>
            <p:cNvSpPr/>
            <p:nvPr/>
          </p:nvSpPr>
          <p:spPr>
            <a:xfrm>
              <a:off x="7188732" y="3401444"/>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Organigramme : Disque magnétique 81">
              <a:extLst>
                <a:ext uri="{FF2B5EF4-FFF2-40B4-BE49-F238E27FC236}">
                  <a16:creationId xmlns:a16="http://schemas.microsoft.com/office/drawing/2014/main" id="{58CA8F13-1222-4402-939E-50D196946378}"/>
                </a:ext>
              </a:extLst>
            </p:cNvPr>
            <p:cNvSpPr/>
            <p:nvPr/>
          </p:nvSpPr>
          <p:spPr>
            <a:xfrm>
              <a:off x="7188732" y="3044756"/>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6E76B6CC-1AD3-A342-ABCD-CBB802F16B53}"/>
              </a:ext>
            </a:extLst>
          </p:cNvPr>
          <p:cNvGrpSpPr/>
          <p:nvPr/>
        </p:nvGrpSpPr>
        <p:grpSpPr>
          <a:xfrm>
            <a:off x="9157261" y="5799737"/>
            <a:ext cx="1163196" cy="684162"/>
            <a:chOff x="9157261" y="5799737"/>
            <a:chExt cx="1163196" cy="684162"/>
          </a:xfrm>
        </p:grpSpPr>
        <p:sp>
          <p:nvSpPr>
            <p:cNvPr id="84" name="Cadre 83">
              <a:extLst>
                <a:ext uri="{FF2B5EF4-FFF2-40B4-BE49-F238E27FC236}">
                  <a16:creationId xmlns:a16="http://schemas.microsoft.com/office/drawing/2014/main" id="{332B7B9E-3C9A-4D6F-BB42-2D8CAAD9FC61}"/>
                </a:ext>
              </a:extLst>
            </p:cNvPr>
            <p:cNvSpPr/>
            <p:nvPr/>
          </p:nvSpPr>
          <p:spPr>
            <a:xfrm>
              <a:off x="9329458" y="5799737"/>
              <a:ext cx="986109" cy="524313"/>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5" name="Rectangle : coins arrondis 84">
              <a:extLst>
                <a:ext uri="{FF2B5EF4-FFF2-40B4-BE49-F238E27FC236}">
                  <a16:creationId xmlns:a16="http://schemas.microsoft.com/office/drawing/2014/main" id="{73654958-1961-4C22-8BA7-8FAAAE3ED068}"/>
                </a:ext>
              </a:extLst>
            </p:cNvPr>
            <p:cNvSpPr/>
            <p:nvPr/>
          </p:nvSpPr>
          <p:spPr>
            <a:xfrm>
              <a:off x="9352391" y="5810878"/>
              <a:ext cx="940242" cy="497323"/>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Bilan Statistique</a:t>
              </a:r>
            </a:p>
          </p:txBody>
        </p:sp>
        <p:sp>
          <p:nvSpPr>
            <p:cNvPr id="86" name="Cube 85">
              <a:extLst>
                <a:ext uri="{FF2B5EF4-FFF2-40B4-BE49-F238E27FC236}">
                  <a16:creationId xmlns:a16="http://schemas.microsoft.com/office/drawing/2014/main" id="{7114C54E-6997-4217-A290-89B4C886FDC9}"/>
                </a:ext>
              </a:extLst>
            </p:cNvPr>
            <p:cNvSpPr/>
            <p:nvPr/>
          </p:nvSpPr>
          <p:spPr>
            <a:xfrm>
              <a:off x="9157261" y="6308201"/>
              <a:ext cx="1163196" cy="175698"/>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87" name="Connecteur : en arc 86">
            <a:extLst>
              <a:ext uri="{FF2B5EF4-FFF2-40B4-BE49-F238E27FC236}">
                <a16:creationId xmlns:a16="http://schemas.microsoft.com/office/drawing/2014/main" id="{DEC43CD4-A01A-4A4A-BBA6-D77D96EFB2AB}"/>
              </a:ext>
            </a:extLst>
          </p:cNvPr>
          <p:cNvCxnSpPr>
            <a:cxnSpLocks/>
            <a:stCxn id="91" idx="4"/>
            <a:endCxn id="85" idx="1"/>
          </p:cNvCxnSpPr>
          <p:nvPr/>
        </p:nvCxnSpPr>
        <p:spPr>
          <a:xfrm>
            <a:off x="8668495" y="5603820"/>
            <a:ext cx="683896" cy="455720"/>
          </a:xfrm>
          <a:prstGeom prst="curvedConnector3">
            <a:avLst>
              <a:gd name="adj1" fmla="val 50000"/>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Connecteur : en arc 87">
            <a:extLst>
              <a:ext uri="{FF2B5EF4-FFF2-40B4-BE49-F238E27FC236}">
                <a16:creationId xmlns:a16="http://schemas.microsoft.com/office/drawing/2014/main" id="{DD64D9D2-F5D1-4CAC-BFA4-41EC97B5CA94}"/>
              </a:ext>
            </a:extLst>
          </p:cNvPr>
          <p:cNvCxnSpPr>
            <a:cxnSpLocks/>
            <a:stCxn id="151" idx="2"/>
            <a:endCxn id="81" idx="4"/>
          </p:cNvCxnSpPr>
          <p:nvPr/>
        </p:nvCxnSpPr>
        <p:spPr>
          <a:xfrm rot="10800000">
            <a:off x="4040813" y="2032967"/>
            <a:ext cx="2924313" cy="308642"/>
          </a:xfrm>
          <a:prstGeom prst="curvedConnector3">
            <a:avLst>
              <a:gd name="adj1" fmla="val 50000"/>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89" name="Groupe 88">
            <a:extLst>
              <a:ext uri="{FF2B5EF4-FFF2-40B4-BE49-F238E27FC236}">
                <a16:creationId xmlns:a16="http://schemas.microsoft.com/office/drawing/2014/main" id="{17B7959F-A6AA-4B77-A8E3-6B2B167805E8}"/>
              </a:ext>
            </a:extLst>
          </p:cNvPr>
          <p:cNvGrpSpPr/>
          <p:nvPr/>
        </p:nvGrpSpPr>
        <p:grpSpPr>
          <a:xfrm>
            <a:off x="8211287" y="5321203"/>
            <a:ext cx="457208" cy="552483"/>
            <a:chOff x="7188732" y="3044756"/>
            <a:chExt cx="1488332" cy="1264537"/>
          </a:xfrm>
        </p:grpSpPr>
        <p:sp>
          <p:nvSpPr>
            <p:cNvPr id="90" name="Organigramme : Disque magnétique 89">
              <a:extLst>
                <a:ext uri="{FF2B5EF4-FFF2-40B4-BE49-F238E27FC236}">
                  <a16:creationId xmlns:a16="http://schemas.microsoft.com/office/drawing/2014/main" id="{0EA8784B-F8B6-4B03-A3B8-837DBED07945}"/>
                </a:ext>
              </a:extLst>
            </p:cNvPr>
            <p:cNvSpPr/>
            <p:nvPr/>
          </p:nvSpPr>
          <p:spPr>
            <a:xfrm>
              <a:off x="7188732" y="3728948"/>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Organigramme : Disque magnétique 90">
              <a:extLst>
                <a:ext uri="{FF2B5EF4-FFF2-40B4-BE49-F238E27FC236}">
                  <a16:creationId xmlns:a16="http://schemas.microsoft.com/office/drawing/2014/main" id="{64D529BF-9057-48CC-B8FB-914A74C77BBB}"/>
                </a:ext>
              </a:extLst>
            </p:cNvPr>
            <p:cNvSpPr/>
            <p:nvPr/>
          </p:nvSpPr>
          <p:spPr>
            <a:xfrm>
              <a:off x="7188732" y="3401444"/>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Organigramme : Disque magnétique 91">
              <a:extLst>
                <a:ext uri="{FF2B5EF4-FFF2-40B4-BE49-F238E27FC236}">
                  <a16:creationId xmlns:a16="http://schemas.microsoft.com/office/drawing/2014/main" id="{09D5FF94-ED91-4FB2-A72B-40C2CBFF5D08}"/>
                </a:ext>
              </a:extLst>
            </p:cNvPr>
            <p:cNvSpPr/>
            <p:nvPr/>
          </p:nvSpPr>
          <p:spPr>
            <a:xfrm>
              <a:off x="7188732" y="3044756"/>
              <a:ext cx="1488332" cy="58034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97" name="Connecteur : en arc 96">
            <a:extLst>
              <a:ext uri="{FF2B5EF4-FFF2-40B4-BE49-F238E27FC236}">
                <a16:creationId xmlns:a16="http://schemas.microsoft.com/office/drawing/2014/main" id="{6A29AD0B-FB64-4472-8344-BDFDB632B98E}"/>
              </a:ext>
            </a:extLst>
          </p:cNvPr>
          <p:cNvCxnSpPr>
            <a:cxnSpLocks/>
            <a:stCxn id="80" idx="3"/>
            <a:endCxn id="94" idx="3"/>
          </p:cNvCxnSpPr>
          <p:nvPr/>
        </p:nvCxnSpPr>
        <p:spPr>
          <a:xfrm rot="5400000" flipH="1">
            <a:off x="2970829" y="1461454"/>
            <a:ext cx="399714" cy="1283044"/>
          </a:xfrm>
          <a:prstGeom prst="curvedConnector4">
            <a:avLst>
              <a:gd name="adj1" fmla="val -57191"/>
              <a:gd name="adj2" fmla="val 58909"/>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Connecteur : en arc 97">
            <a:extLst>
              <a:ext uri="{FF2B5EF4-FFF2-40B4-BE49-F238E27FC236}">
                <a16:creationId xmlns:a16="http://schemas.microsoft.com/office/drawing/2014/main" id="{10D69C4B-8800-4D6D-A135-E69E7BDF188D}"/>
              </a:ext>
            </a:extLst>
          </p:cNvPr>
          <p:cNvCxnSpPr>
            <a:cxnSpLocks/>
            <a:stCxn id="157" idx="3"/>
            <a:endCxn id="91" idx="2"/>
          </p:cNvCxnSpPr>
          <p:nvPr/>
        </p:nvCxnSpPr>
        <p:spPr>
          <a:xfrm rot="16200000" flipH="1">
            <a:off x="6720318" y="4112851"/>
            <a:ext cx="2332028" cy="649910"/>
          </a:xfrm>
          <a:prstGeom prst="curvedConnector2">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9" name="Image 98">
            <a:extLst>
              <a:ext uri="{FF2B5EF4-FFF2-40B4-BE49-F238E27FC236}">
                <a16:creationId xmlns:a16="http://schemas.microsoft.com/office/drawing/2014/main" id="{5E3F03F0-19F7-40D9-9C12-286044D261E0}"/>
              </a:ext>
            </a:extLst>
          </p:cNvPr>
          <p:cNvPicPr>
            <a:picLocks noChangeAspect="1"/>
          </p:cNvPicPr>
          <p:nvPr/>
        </p:nvPicPr>
        <p:blipFill>
          <a:blip r:embed="rId2"/>
          <a:stretch>
            <a:fillRect/>
          </a:stretch>
        </p:blipFill>
        <p:spPr>
          <a:xfrm>
            <a:off x="9535849" y="2427998"/>
            <a:ext cx="1126602" cy="870736"/>
          </a:xfrm>
          <a:prstGeom prst="rect">
            <a:avLst/>
          </a:prstGeom>
        </p:spPr>
      </p:pic>
      <p:grpSp>
        <p:nvGrpSpPr>
          <p:cNvPr id="100" name="Groupe 99">
            <a:extLst>
              <a:ext uri="{FF2B5EF4-FFF2-40B4-BE49-F238E27FC236}">
                <a16:creationId xmlns:a16="http://schemas.microsoft.com/office/drawing/2014/main" id="{8EF1AEC1-29EB-4ED7-87AA-7652497DAF17}"/>
              </a:ext>
            </a:extLst>
          </p:cNvPr>
          <p:cNvGrpSpPr/>
          <p:nvPr/>
        </p:nvGrpSpPr>
        <p:grpSpPr>
          <a:xfrm>
            <a:off x="5095515" y="5572654"/>
            <a:ext cx="374304" cy="699702"/>
            <a:chOff x="6847045" y="846307"/>
            <a:chExt cx="457208" cy="783633"/>
          </a:xfrm>
        </p:grpSpPr>
        <p:sp>
          <p:nvSpPr>
            <p:cNvPr id="101" name="Rectangle : coins arrondis 100">
              <a:extLst>
                <a:ext uri="{FF2B5EF4-FFF2-40B4-BE49-F238E27FC236}">
                  <a16:creationId xmlns:a16="http://schemas.microsoft.com/office/drawing/2014/main" id="{5B327FCA-31B6-49B7-A2D5-7317E203D3A3}"/>
                </a:ext>
              </a:extLst>
            </p:cNvPr>
            <p:cNvSpPr/>
            <p:nvPr/>
          </p:nvSpPr>
          <p:spPr>
            <a:xfrm>
              <a:off x="6847045" y="932329"/>
              <a:ext cx="457208" cy="697611"/>
            </a:xfrm>
            <a:prstGeom prst="roundRect">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2" name="Trapèze 101">
              <a:extLst>
                <a:ext uri="{FF2B5EF4-FFF2-40B4-BE49-F238E27FC236}">
                  <a16:creationId xmlns:a16="http://schemas.microsoft.com/office/drawing/2014/main" id="{793CFDBE-2D76-4D68-98DE-A62421AC4C8E}"/>
                </a:ext>
              </a:extLst>
            </p:cNvPr>
            <p:cNvSpPr/>
            <p:nvPr/>
          </p:nvSpPr>
          <p:spPr>
            <a:xfrm>
              <a:off x="6885957" y="846307"/>
              <a:ext cx="79049" cy="95750"/>
            </a:xfrm>
            <a:prstGeom prst="trapezoid">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 coins arrondis 102">
              <a:extLst>
                <a:ext uri="{FF2B5EF4-FFF2-40B4-BE49-F238E27FC236}">
                  <a16:creationId xmlns:a16="http://schemas.microsoft.com/office/drawing/2014/main" id="{8D01759A-7326-475C-BED9-DD1E8F526717}"/>
                </a:ext>
              </a:extLst>
            </p:cNvPr>
            <p:cNvSpPr/>
            <p:nvPr/>
          </p:nvSpPr>
          <p:spPr>
            <a:xfrm>
              <a:off x="6856773" y="941815"/>
              <a:ext cx="437752" cy="608326"/>
            </a:xfrm>
            <a:prstGeom prst="roundRect">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 coins arrondis 103">
              <a:extLst>
                <a:ext uri="{FF2B5EF4-FFF2-40B4-BE49-F238E27FC236}">
                  <a16:creationId xmlns:a16="http://schemas.microsoft.com/office/drawing/2014/main" id="{8BB5700A-2143-41E0-8BFA-4E05ED300F7E}"/>
                </a:ext>
              </a:extLst>
            </p:cNvPr>
            <p:cNvSpPr/>
            <p:nvPr/>
          </p:nvSpPr>
          <p:spPr>
            <a:xfrm flipV="1">
              <a:off x="7033244" y="1572575"/>
              <a:ext cx="75151" cy="45719"/>
            </a:xfrm>
            <a:prstGeom prst="round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Organigramme : Extraire 104">
              <a:extLst>
                <a:ext uri="{FF2B5EF4-FFF2-40B4-BE49-F238E27FC236}">
                  <a16:creationId xmlns:a16="http://schemas.microsoft.com/office/drawing/2014/main" id="{96C3E678-0C3C-4CDF-A2DB-9231DBF1049C}"/>
                </a:ext>
              </a:extLst>
            </p:cNvPr>
            <p:cNvSpPr/>
            <p:nvPr/>
          </p:nvSpPr>
          <p:spPr>
            <a:xfrm rot="16200000">
              <a:off x="6917285" y="1548041"/>
              <a:ext cx="45719" cy="94786"/>
            </a:xfrm>
            <a:prstGeom prst="flowChartExtra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Organigramme : Extraire 105">
              <a:extLst>
                <a:ext uri="{FF2B5EF4-FFF2-40B4-BE49-F238E27FC236}">
                  <a16:creationId xmlns:a16="http://schemas.microsoft.com/office/drawing/2014/main" id="{2782260E-2298-4A3A-BC71-9F9314137A6F}"/>
                </a:ext>
              </a:extLst>
            </p:cNvPr>
            <p:cNvSpPr/>
            <p:nvPr/>
          </p:nvSpPr>
          <p:spPr>
            <a:xfrm rot="5400000">
              <a:off x="7166965" y="1548041"/>
              <a:ext cx="45719" cy="94786"/>
            </a:xfrm>
            <a:prstGeom prst="flowChartExtra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107" name="Connecteur : en arc 106">
            <a:extLst>
              <a:ext uri="{FF2B5EF4-FFF2-40B4-BE49-F238E27FC236}">
                <a16:creationId xmlns:a16="http://schemas.microsoft.com/office/drawing/2014/main" id="{D9FC8CF4-71D6-4B8B-9EBE-1A35FB9F3C5D}"/>
              </a:ext>
            </a:extLst>
          </p:cNvPr>
          <p:cNvCxnSpPr>
            <a:cxnSpLocks/>
            <a:stCxn id="102" idx="0"/>
            <a:endCxn id="70" idx="4"/>
          </p:cNvCxnSpPr>
          <p:nvPr/>
        </p:nvCxnSpPr>
        <p:spPr>
          <a:xfrm rot="16200000" flipV="1">
            <a:off x="4227991" y="4640915"/>
            <a:ext cx="439402" cy="1424075"/>
          </a:xfrm>
          <a:prstGeom prst="curvedConnector2">
            <a:avLst/>
          </a:prstGeom>
          <a:ln w="15875">
            <a:prstDash val="dash"/>
          </a:ln>
        </p:spPr>
        <p:style>
          <a:lnRef idx="1">
            <a:schemeClr val="accent1"/>
          </a:lnRef>
          <a:fillRef idx="0">
            <a:schemeClr val="accent1"/>
          </a:fillRef>
          <a:effectRef idx="0">
            <a:schemeClr val="accent1"/>
          </a:effectRef>
          <a:fontRef idx="minor">
            <a:schemeClr val="tx1"/>
          </a:fontRef>
        </p:style>
      </p:cxnSp>
      <p:grpSp>
        <p:nvGrpSpPr>
          <p:cNvPr id="109" name="Groupe 108">
            <a:extLst>
              <a:ext uri="{FF2B5EF4-FFF2-40B4-BE49-F238E27FC236}">
                <a16:creationId xmlns:a16="http://schemas.microsoft.com/office/drawing/2014/main" id="{EB752120-4416-43B9-9CE6-BF17DBB1C5EB}"/>
              </a:ext>
            </a:extLst>
          </p:cNvPr>
          <p:cNvGrpSpPr/>
          <p:nvPr/>
        </p:nvGrpSpPr>
        <p:grpSpPr>
          <a:xfrm>
            <a:off x="3253989" y="581489"/>
            <a:ext cx="374304" cy="699702"/>
            <a:chOff x="4124932" y="591433"/>
            <a:chExt cx="374304" cy="699702"/>
          </a:xfrm>
        </p:grpSpPr>
        <p:sp>
          <p:nvSpPr>
            <p:cNvPr id="110" name="Rectangle : coins arrondis 109">
              <a:extLst>
                <a:ext uri="{FF2B5EF4-FFF2-40B4-BE49-F238E27FC236}">
                  <a16:creationId xmlns:a16="http://schemas.microsoft.com/office/drawing/2014/main" id="{029ABF0B-CF3A-4056-9ACB-7A0936703404}"/>
                </a:ext>
              </a:extLst>
            </p:cNvPr>
            <p:cNvSpPr/>
            <p:nvPr/>
          </p:nvSpPr>
          <p:spPr>
            <a:xfrm>
              <a:off x="4124932" y="668242"/>
              <a:ext cx="374304" cy="62289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1" name="Trapèze 110">
              <a:extLst>
                <a:ext uri="{FF2B5EF4-FFF2-40B4-BE49-F238E27FC236}">
                  <a16:creationId xmlns:a16="http://schemas.microsoft.com/office/drawing/2014/main" id="{20989FF6-5EBF-4A5C-804E-966C0DD90B17}"/>
                </a:ext>
              </a:extLst>
            </p:cNvPr>
            <p:cNvSpPr/>
            <p:nvPr/>
          </p:nvSpPr>
          <p:spPr>
            <a:xfrm>
              <a:off x="4156788" y="591433"/>
              <a:ext cx="64715" cy="85495"/>
            </a:xfrm>
            <a:prstGeom prst="trapezoid">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 coins arrondis 111">
              <a:extLst>
                <a:ext uri="{FF2B5EF4-FFF2-40B4-BE49-F238E27FC236}">
                  <a16:creationId xmlns:a16="http://schemas.microsoft.com/office/drawing/2014/main" id="{5CC18BBA-E934-4F02-9607-70123C3C3E18}"/>
                </a:ext>
              </a:extLst>
            </p:cNvPr>
            <p:cNvSpPr/>
            <p:nvPr/>
          </p:nvSpPr>
          <p:spPr>
            <a:xfrm>
              <a:off x="4132896" y="676712"/>
              <a:ext cx="358376" cy="543171"/>
            </a:xfrm>
            <a:prstGeom prst="roundRect">
              <a:avLst/>
            </a:prstGeom>
            <a:blipFill>
              <a:blip r:embed="rId5"/>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 coins arrondis 112">
              <a:extLst>
                <a:ext uri="{FF2B5EF4-FFF2-40B4-BE49-F238E27FC236}">
                  <a16:creationId xmlns:a16="http://schemas.microsoft.com/office/drawing/2014/main" id="{1BFCBE8F-F5AA-4B54-96BD-6848EC268EEC}"/>
                </a:ext>
              </a:extLst>
            </p:cNvPr>
            <p:cNvSpPr/>
            <p:nvPr/>
          </p:nvSpPr>
          <p:spPr>
            <a:xfrm flipV="1">
              <a:off x="4277368" y="1239914"/>
              <a:ext cx="61524" cy="40822"/>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Organigramme : Extraire 113">
              <a:extLst>
                <a:ext uri="{FF2B5EF4-FFF2-40B4-BE49-F238E27FC236}">
                  <a16:creationId xmlns:a16="http://schemas.microsoft.com/office/drawing/2014/main" id="{45BC73E0-C61F-4386-864E-DD5E0336600C}"/>
                </a:ext>
              </a:extLst>
            </p:cNvPr>
            <p:cNvSpPr/>
            <p:nvPr/>
          </p:nvSpPr>
          <p:spPr>
            <a:xfrm rot="16200000">
              <a:off x="4180739" y="1221525"/>
              <a:ext cx="40822" cy="77599"/>
            </a:xfrm>
            <a:prstGeom prst="flowChartExtra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Organigramme : Extraire 114">
              <a:extLst>
                <a:ext uri="{FF2B5EF4-FFF2-40B4-BE49-F238E27FC236}">
                  <a16:creationId xmlns:a16="http://schemas.microsoft.com/office/drawing/2014/main" id="{6C6B1B67-FAAE-4970-AD0D-57119B8B1588}"/>
                </a:ext>
              </a:extLst>
            </p:cNvPr>
            <p:cNvSpPr/>
            <p:nvPr/>
          </p:nvSpPr>
          <p:spPr>
            <a:xfrm rot="5400000">
              <a:off x="4385145" y="1221525"/>
              <a:ext cx="40822" cy="77599"/>
            </a:xfrm>
            <a:prstGeom prst="flowChartExtra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116" name="Connecteur : en arc 115">
            <a:extLst>
              <a:ext uri="{FF2B5EF4-FFF2-40B4-BE49-F238E27FC236}">
                <a16:creationId xmlns:a16="http://schemas.microsoft.com/office/drawing/2014/main" id="{7A064E1E-DB50-4AA5-972C-59C05EFAFD11}"/>
              </a:ext>
            </a:extLst>
          </p:cNvPr>
          <p:cNvCxnSpPr>
            <a:cxnSpLocks/>
            <a:stCxn id="111" idx="0"/>
            <a:endCxn id="82" idx="1"/>
          </p:cNvCxnSpPr>
          <p:nvPr/>
        </p:nvCxnSpPr>
        <p:spPr>
          <a:xfrm rot="16200000" flipH="1">
            <a:off x="2980774" y="918917"/>
            <a:ext cx="1168861" cy="494005"/>
          </a:xfrm>
          <a:prstGeom prst="curvedConnector3">
            <a:avLst>
              <a:gd name="adj1" fmla="val -9921"/>
            </a:avLst>
          </a:prstGeom>
          <a:ln w="15875">
            <a:prstDash val="dash"/>
          </a:ln>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1D72A67D-21BB-79FC-BD92-EFE0549A054B}"/>
              </a:ext>
            </a:extLst>
          </p:cNvPr>
          <p:cNvGrpSpPr/>
          <p:nvPr/>
        </p:nvGrpSpPr>
        <p:grpSpPr>
          <a:xfrm>
            <a:off x="987748" y="1592167"/>
            <a:ext cx="1541416" cy="835954"/>
            <a:chOff x="987748" y="1592167"/>
            <a:chExt cx="1541416" cy="835954"/>
          </a:xfrm>
        </p:grpSpPr>
        <p:sp>
          <p:nvSpPr>
            <p:cNvPr id="94" name="Cadre 93">
              <a:extLst>
                <a:ext uri="{FF2B5EF4-FFF2-40B4-BE49-F238E27FC236}">
                  <a16:creationId xmlns:a16="http://schemas.microsoft.com/office/drawing/2014/main" id="{9CB0C9C5-0124-4876-888A-23C440B9ECA0}"/>
                </a:ext>
              </a:extLst>
            </p:cNvPr>
            <p:cNvSpPr/>
            <p:nvPr/>
          </p:nvSpPr>
          <p:spPr>
            <a:xfrm>
              <a:off x="1173732" y="1592167"/>
              <a:ext cx="1355432" cy="621903"/>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Rectangle : coins arrondis 94">
              <a:extLst>
                <a:ext uri="{FF2B5EF4-FFF2-40B4-BE49-F238E27FC236}">
                  <a16:creationId xmlns:a16="http://schemas.microsoft.com/office/drawing/2014/main" id="{EC123760-6285-4E97-AFAD-C8AA8249D66A}"/>
                </a:ext>
              </a:extLst>
            </p:cNvPr>
            <p:cNvSpPr/>
            <p:nvPr/>
          </p:nvSpPr>
          <p:spPr>
            <a:xfrm>
              <a:off x="1205255" y="1605382"/>
              <a:ext cx="1292387" cy="589889"/>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Prise de commandes</a:t>
              </a:r>
            </a:p>
          </p:txBody>
        </p:sp>
        <p:sp>
          <p:nvSpPr>
            <p:cNvPr id="96" name="Cube 95">
              <a:extLst>
                <a:ext uri="{FF2B5EF4-FFF2-40B4-BE49-F238E27FC236}">
                  <a16:creationId xmlns:a16="http://schemas.microsoft.com/office/drawing/2014/main" id="{B9716D35-4FEA-49CC-A1BB-9289F666862B}"/>
                </a:ext>
              </a:extLst>
            </p:cNvPr>
            <p:cNvSpPr/>
            <p:nvPr/>
          </p:nvSpPr>
          <p:spPr>
            <a:xfrm>
              <a:off x="987748" y="2219721"/>
              <a:ext cx="1541416" cy="208400"/>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7" name="Image 116">
              <a:extLst>
                <a:ext uri="{FF2B5EF4-FFF2-40B4-BE49-F238E27FC236}">
                  <a16:creationId xmlns:a16="http://schemas.microsoft.com/office/drawing/2014/main" id="{4E5793EF-2DCD-45EF-B3B3-B5AEB8205989}"/>
                </a:ext>
              </a:extLst>
            </p:cNvPr>
            <p:cNvPicPr>
              <a:picLocks noChangeAspect="1"/>
            </p:cNvPicPr>
            <p:nvPr/>
          </p:nvPicPr>
          <p:blipFill>
            <a:blip r:embed="rId2"/>
            <a:stretch>
              <a:fillRect/>
            </a:stretch>
          </p:blipFill>
          <p:spPr>
            <a:xfrm>
              <a:off x="2098146" y="1856361"/>
              <a:ext cx="379470" cy="293287"/>
            </a:xfrm>
            <a:prstGeom prst="rect">
              <a:avLst/>
            </a:prstGeom>
          </p:spPr>
        </p:pic>
      </p:grpSp>
      <p:grpSp>
        <p:nvGrpSpPr>
          <p:cNvPr id="118" name="Groupe 117">
            <a:extLst>
              <a:ext uri="{FF2B5EF4-FFF2-40B4-BE49-F238E27FC236}">
                <a16:creationId xmlns:a16="http://schemas.microsoft.com/office/drawing/2014/main" id="{AFC326D3-ABFB-41EB-9AC7-A970B5ADEF41}"/>
              </a:ext>
            </a:extLst>
          </p:cNvPr>
          <p:cNvGrpSpPr/>
          <p:nvPr/>
        </p:nvGrpSpPr>
        <p:grpSpPr>
          <a:xfrm>
            <a:off x="10128415" y="1139981"/>
            <a:ext cx="374304" cy="699702"/>
            <a:chOff x="8482917" y="1197919"/>
            <a:chExt cx="374304" cy="699702"/>
          </a:xfrm>
        </p:grpSpPr>
        <p:grpSp>
          <p:nvGrpSpPr>
            <p:cNvPr id="119" name="Groupe 118">
              <a:extLst>
                <a:ext uri="{FF2B5EF4-FFF2-40B4-BE49-F238E27FC236}">
                  <a16:creationId xmlns:a16="http://schemas.microsoft.com/office/drawing/2014/main" id="{4B761E6C-3D69-4C76-A689-FE86D6311215}"/>
                </a:ext>
              </a:extLst>
            </p:cNvPr>
            <p:cNvGrpSpPr/>
            <p:nvPr/>
          </p:nvGrpSpPr>
          <p:grpSpPr>
            <a:xfrm>
              <a:off x="8482917" y="1197919"/>
              <a:ext cx="374304" cy="699702"/>
              <a:chOff x="8482917" y="1197919"/>
              <a:chExt cx="374304" cy="699702"/>
            </a:xfrm>
          </p:grpSpPr>
          <p:sp>
            <p:nvSpPr>
              <p:cNvPr id="121" name="Rectangle : coins arrondis 120">
                <a:extLst>
                  <a:ext uri="{FF2B5EF4-FFF2-40B4-BE49-F238E27FC236}">
                    <a16:creationId xmlns:a16="http://schemas.microsoft.com/office/drawing/2014/main" id="{E9511C5D-30A5-43A6-BD90-DA200DDD9375}"/>
                  </a:ext>
                </a:extLst>
              </p:cNvPr>
              <p:cNvSpPr/>
              <p:nvPr/>
            </p:nvSpPr>
            <p:spPr>
              <a:xfrm>
                <a:off x="8482917" y="1274728"/>
                <a:ext cx="374304" cy="622893"/>
              </a:xfrm>
              <a:prstGeom prst="roundRect">
                <a:avLst/>
              </a:prstGeom>
              <a:blipFill>
                <a:blip r:embed="rId6"/>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2" name="Trapèze 121">
                <a:extLst>
                  <a:ext uri="{FF2B5EF4-FFF2-40B4-BE49-F238E27FC236}">
                    <a16:creationId xmlns:a16="http://schemas.microsoft.com/office/drawing/2014/main" id="{E49C8C02-58A8-4FCE-9D0C-1B6195D063A0}"/>
                  </a:ext>
                </a:extLst>
              </p:cNvPr>
              <p:cNvSpPr/>
              <p:nvPr/>
            </p:nvSpPr>
            <p:spPr>
              <a:xfrm>
                <a:off x="8514773" y="1197919"/>
                <a:ext cx="64715" cy="85495"/>
              </a:xfrm>
              <a:prstGeom prst="trapezoid">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 coins arrondis 122">
                <a:extLst>
                  <a:ext uri="{FF2B5EF4-FFF2-40B4-BE49-F238E27FC236}">
                    <a16:creationId xmlns:a16="http://schemas.microsoft.com/office/drawing/2014/main" id="{8582EAEC-34C2-4678-B8B3-52D16B75F1A2}"/>
                  </a:ext>
                </a:extLst>
              </p:cNvPr>
              <p:cNvSpPr/>
              <p:nvPr/>
            </p:nvSpPr>
            <p:spPr>
              <a:xfrm flipV="1">
                <a:off x="8635353" y="1846400"/>
                <a:ext cx="61524" cy="4082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Organigramme : Extraire 123">
                <a:extLst>
                  <a:ext uri="{FF2B5EF4-FFF2-40B4-BE49-F238E27FC236}">
                    <a16:creationId xmlns:a16="http://schemas.microsoft.com/office/drawing/2014/main" id="{C1BC9476-F90E-4CCF-AC43-235D5FCDBC48}"/>
                  </a:ext>
                </a:extLst>
              </p:cNvPr>
              <p:cNvSpPr/>
              <p:nvPr/>
            </p:nvSpPr>
            <p:spPr>
              <a:xfrm rot="16200000">
                <a:off x="8538724" y="1828011"/>
                <a:ext cx="40822" cy="77599"/>
              </a:xfrm>
              <a:prstGeom prst="flowChartExtra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Organigramme : Extraire 124">
                <a:extLst>
                  <a:ext uri="{FF2B5EF4-FFF2-40B4-BE49-F238E27FC236}">
                    <a16:creationId xmlns:a16="http://schemas.microsoft.com/office/drawing/2014/main" id="{AED039AE-2325-47ED-B17E-DEB35A4C6F3D}"/>
                  </a:ext>
                </a:extLst>
              </p:cNvPr>
              <p:cNvSpPr/>
              <p:nvPr/>
            </p:nvSpPr>
            <p:spPr>
              <a:xfrm rot="5400000">
                <a:off x="8743130" y="1828011"/>
                <a:ext cx="40822" cy="77599"/>
              </a:xfrm>
              <a:prstGeom prst="flowChartExtra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20" name="Rectangle : coins arrondis 119">
              <a:extLst>
                <a:ext uri="{FF2B5EF4-FFF2-40B4-BE49-F238E27FC236}">
                  <a16:creationId xmlns:a16="http://schemas.microsoft.com/office/drawing/2014/main" id="{F259DDB1-DE1C-44A4-AC4A-266D4BC2BF2B}"/>
                </a:ext>
              </a:extLst>
            </p:cNvPr>
            <p:cNvSpPr/>
            <p:nvPr/>
          </p:nvSpPr>
          <p:spPr>
            <a:xfrm>
              <a:off x="8488925" y="1284836"/>
              <a:ext cx="358376" cy="543171"/>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126" name="Connecteur : en arc 125">
            <a:extLst>
              <a:ext uri="{FF2B5EF4-FFF2-40B4-BE49-F238E27FC236}">
                <a16:creationId xmlns:a16="http://schemas.microsoft.com/office/drawing/2014/main" id="{EACA3AB2-9FA0-4F0D-B08E-61E89271F2D5}"/>
              </a:ext>
            </a:extLst>
          </p:cNvPr>
          <p:cNvCxnSpPr>
            <a:cxnSpLocks/>
            <a:stCxn id="122" idx="1"/>
            <a:endCxn id="151" idx="4"/>
          </p:cNvCxnSpPr>
          <p:nvPr/>
        </p:nvCxnSpPr>
        <p:spPr>
          <a:xfrm rot="10800000" flipV="1">
            <a:off x="8157630" y="1182729"/>
            <a:ext cx="2010731" cy="1158880"/>
          </a:xfrm>
          <a:prstGeom prst="curvedConnector3">
            <a:avLst>
              <a:gd name="adj1" fmla="val 50000"/>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131" name="Connecteur : en arc 130">
            <a:extLst>
              <a:ext uri="{FF2B5EF4-FFF2-40B4-BE49-F238E27FC236}">
                <a16:creationId xmlns:a16="http://schemas.microsoft.com/office/drawing/2014/main" id="{35A81B61-F859-4D96-8779-59C5DE58E57B}"/>
              </a:ext>
            </a:extLst>
          </p:cNvPr>
          <p:cNvCxnSpPr>
            <a:cxnSpLocks/>
            <a:stCxn id="154" idx="2"/>
            <a:endCxn id="128" idx="3"/>
          </p:cNvCxnSpPr>
          <p:nvPr/>
        </p:nvCxnSpPr>
        <p:spPr>
          <a:xfrm rot="10800000" flipV="1">
            <a:off x="2384939" y="2571883"/>
            <a:ext cx="4580186" cy="1200676"/>
          </a:xfrm>
          <a:prstGeom prst="curvedConnector3">
            <a:avLst>
              <a:gd name="adj1" fmla="val 50000"/>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 name="Groupe 3">
            <a:extLst>
              <a:ext uri="{FF2B5EF4-FFF2-40B4-BE49-F238E27FC236}">
                <a16:creationId xmlns:a16="http://schemas.microsoft.com/office/drawing/2014/main" id="{8A5207FC-402C-71AC-3ED8-E13E3A15F332}"/>
              </a:ext>
            </a:extLst>
          </p:cNvPr>
          <p:cNvGrpSpPr/>
          <p:nvPr/>
        </p:nvGrpSpPr>
        <p:grpSpPr>
          <a:xfrm>
            <a:off x="899730" y="3468327"/>
            <a:ext cx="1485209" cy="793969"/>
            <a:chOff x="899730" y="3468327"/>
            <a:chExt cx="1485209" cy="793969"/>
          </a:xfrm>
        </p:grpSpPr>
        <p:sp>
          <p:nvSpPr>
            <p:cNvPr id="128" name="Cadre 127">
              <a:extLst>
                <a:ext uri="{FF2B5EF4-FFF2-40B4-BE49-F238E27FC236}">
                  <a16:creationId xmlns:a16="http://schemas.microsoft.com/office/drawing/2014/main" id="{B71E63DA-3905-42C1-BEAB-7402740B5B9B}"/>
                </a:ext>
              </a:extLst>
            </p:cNvPr>
            <p:cNvSpPr/>
            <p:nvPr/>
          </p:nvSpPr>
          <p:spPr>
            <a:xfrm>
              <a:off x="1075844" y="3468327"/>
              <a:ext cx="1309095" cy="608464"/>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9" name="Rectangle : coins arrondis 128">
              <a:extLst>
                <a:ext uri="{FF2B5EF4-FFF2-40B4-BE49-F238E27FC236}">
                  <a16:creationId xmlns:a16="http://schemas.microsoft.com/office/drawing/2014/main" id="{DE39847E-4098-4F9B-9C12-380E6F539794}"/>
                </a:ext>
              </a:extLst>
            </p:cNvPr>
            <p:cNvSpPr/>
            <p:nvPr/>
          </p:nvSpPr>
          <p:spPr>
            <a:xfrm>
              <a:off x="1106289" y="3481256"/>
              <a:ext cx="1248204" cy="577143"/>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Approvisionnement</a:t>
              </a:r>
            </a:p>
          </p:txBody>
        </p:sp>
        <p:sp>
          <p:nvSpPr>
            <p:cNvPr id="130" name="Cube 129">
              <a:extLst>
                <a:ext uri="{FF2B5EF4-FFF2-40B4-BE49-F238E27FC236}">
                  <a16:creationId xmlns:a16="http://schemas.microsoft.com/office/drawing/2014/main" id="{3480D4D4-85CE-411A-94CA-080A1A21D8CE}"/>
                </a:ext>
              </a:extLst>
            </p:cNvPr>
            <p:cNvSpPr/>
            <p:nvPr/>
          </p:nvSpPr>
          <p:spPr>
            <a:xfrm>
              <a:off x="899730" y="4072578"/>
              <a:ext cx="1485209" cy="189718"/>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2" name="Image 131">
              <a:extLst>
                <a:ext uri="{FF2B5EF4-FFF2-40B4-BE49-F238E27FC236}">
                  <a16:creationId xmlns:a16="http://schemas.microsoft.com/office/drawing/2014/main" id="{C1CCC208-9390-41AA-967B-C4A9DBC4AC01}"/>
                </a:ext>
              </a:extLst>
            </p:cNvPr>
            <p:cNvPicPr>
              <a:picLocks noChangeAspect="1"/>
            </p:cNvPicPr>
            <p:nvPr/>
          </p:nvPicPr>
          <p:blipFill>
            <a:blip r:embed="rId2"/>
            <a:stretch>
              <a:fillRect/>
            </a:stretch>
          </p:blipFill>
          <p:spPr>
            <a:xfrm>
              <a:off x="1957229" y="3730178"/>
              <a:ext cx="379470" cy="293287"/>
            </a:xfrm>
            <a:prstGeom prst="rect">
              <a:avLst/>
            </a:prstGeom>
          </p:spPr>
        </p:pic>
      </p:grpSp>
      <p:cxnSp>
        <p:nvCxnSpPr>
          <p:cNvPr id="133" name="Connecteur : en arc 132">
            <a:extLst>
              <a:ext uri="{FF2B5EF4-FFF2-40B4-BE49-F238E27FC236}">
                <a16:creationId xmlns:a16="http://schemas.microsoft.com/office/drawing/2014/main" id="{0875625C-DE9F-4D0E-8E84-CF3C4D611C5F}"/>
              </a:ext>
            </a:extLst>
          </p:cNvPr>
          <p:cNvCxnSpPr>
            <a:cxnSpLocks/>
            <a:stCxn id="154" idx="4"/>
            <a:endCxn id="99" idx="1"/>
          </p:cNvCxnSpPr>
          <p:nvPr/>
        </p:nvCxnSpPr>
        <p:spPr>
          <a:xfrm>
            <a:off x="8157629" y="2571883"/>
            <a:ext cx="1378220" cy="291483"/>
          </a:xfrm>
          <a:prstGeom prst="curvedConnector3">
            <a:avLst>
              <a:gd name="adj1" fmla="val 50000"/>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34" name="Groupe 133">
            <a:extLst>
              <a:ext uri="{FF2B5EF4-FFF2-40B4-BE49-F238E27FC236}">
                <a16:creationId xmlns:a16="http://schemas.microsoft.com/office/drawing/2014/main" id="{F996C2F3-1527-41BC-A321-07B94C7559FC}"/>
              </a:ext>
            </a:extLst>
          </p:cNvPr>
          <p:cNvGrpSpPr/>
          <p:nvPr/>
        </p:nvGrpSpPr>
        <p:grpSpPr>
          <a:xfrm>
            <a:off x="4776091" y="960003"/>
            <a:ext cx="374304" cy="699702"/>
            <a:chOff x="9552938" y="1321919"/>
            <a:chExt cx="374304" cy="699702"/>
          </a:xfrm>
        </p:grpSpPr>
        <p:sp>
          <p:nvSpPr>
            <p:cNvPr id="135" name="Rectangle : coins arrondis 134">
              <a:extLst>
                <a:ext uri="{FF2B5EF4-FFF2-40B4-BE49-F238E27FC236}">
                  <a16:creationId xmlns:a16="http://schemas.microsoft.com/office/drawing/2014/main" id="{B5EF68DB-FA89-46F4-B7E1-52DFC843B6A8}"/>
                </a:ext>
              </a:extLst>
            </p:cNvPr>
            <p:cNvSpPr/>
            <p:nvPr/>
          </p:nvSpPr>
          <p:spPr>
            <a:xfrm>
              <a:off x="9552938" y="1398728"/>
              <a:ext cx="374304" cy="62289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6" name="Trapèze 135">
              <a:extLst>
                <a:ext uri="{FF2B5EF4-FFF2-40B4-BE49-F238E27FC236}">
                  <a16:creationId xmlns:a16="http://schemas.microsoft.com/office/drawing/2014/main" id="{0D73C18F-F8DA-4F8F-8362-985F4E6EC97C}"/>
                </a:ext>
              </a:extLst>
            </p:cNvPr>
            <p:cNvSpPr/>
            <p:nvPr/>
          </p:nvSpPr>
          <p:spPr>
            <a:xfrm>
              <a:off x="9584794" y="1321919"/>
              <a:ext cx="64715" cy="85495"/>
            </a:xfrm>
            <a:prstGeom prst="trapezoid">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 coins arrondis 136">
              <a:extLst>
                <a:ext uri="{FF2B5EF4-FFF2-40B4-BE49-F238E27FC236}">
                  <a16:creationId xmlns:a16="http://schemas.microsoft.com/office/drawing/2014/main" id="{FC3C34B4-3518-442C-87BB-9239A2698DFA}"/>
                </a:ext>
              </a:extLst>
            </p:cNvPr>
            <p:cNvSpPr/>
            <p:nvPr/>
          </p:nvSpPr>
          <p:spPr>
            <a:xfrm>
              <a:off x="9560902" y="1407198"/>
              <a:ext cx="358376" cy="543171"/>
            </a:xfrm>
            <a:prstGeom prst="roundRect">
              <a:avLst/>
            </a:prstGeom>
            <a:blipFill>
              <a:blip r:embed="rId7"/>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 coins arrondis 137">
              <a:extLst>
                <a:ext uri="{FF2B5EF4-FFF2-40B4-BE49-F238E27FC236}">
                  <a16:creationId xmlns:a16="http://schemas.microsoft.com/office/drawing/2014/main" id="{76ADBCA7-C7CB-42E5-8A2E-B0AC98CD9413}"/>
                </a:ext>
              </a:extLst>
            </p:cNvPr>
            <p:cNvSpPr/>
            <p:nvPr/>
          </p:nvSpPr>
          <p:spPr>
            <a:xfrm flipV="1">
              <a:off x="9705374" y="1970400"/>
              <a:ext cx="61524" cy="40822"/>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Organigramme : Extraire 138">
              <a:extLst>
                <a:ext uri="{FF2B5EF4-FFF2-40B4-BE49-F238E27FC236}">
                  <a16:creationId xmlns:a16="http://schemas.microsoft.com/office/drawing/2014/main" id="{9625B203-127C-4EEF-802D-C9AAC310A57E}"/>
                </a:ext>
              </a:extLst>
            </p:cNvPr>
            <p:cNvSpPr/>
            <p:nvPr/>
          </p:nvSpPr>
          <p:spPr>
            <a:xfrm rot="16200000">
              <a:off x="9608745" y="1952011"/>
              <a:ext cx="40822" cy="77599"/>
            </a:xfrm>
            <a:prstGeom prst="flowChartExtra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Organigramme : Extraire 139">
              <a:extLst>
                <a:ext uri="{FF2B5EF4-FFF2-40B4-BE49-F238E27FC236}">
                  <a16:creationId xmlns:a16="http://schemas.microsoft.com/office/drawing/2014/main" id="{6D917CE0-B55C-4B49-9E2D-B3616AE488D5}"/>
                </a:ext>
              </a:extLst>
            </p:cNvPr>
            <p:cNvSpPr/>
            <p:nvPr/>
          </p:nvSpPr>
          <p:spPr>
            <a:xfrm rot="5400000">
              <a:off x="9813151" y="1952011"/>
              <a:ext cx="40822" cy="77599"/>
            </a:xfrm>
            <a:prstGeom prst="flowChartExtra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141" name="Connecteur : en arc 140">
            <a:extLst>
              <a:ext uri="{FF2B5EF4-FFF2-40B4-BE49-F238E27FC236}">
                <a16:creationId xmlns:a16="http://schemas.microsoft.com/office/drawing/2014/main" id="{E0C4D7D4-CD8D-4984-A187-C2E348947C47}"/>
              </a:ext>
            </a:extLst>
          </p:cNvPr>
          <p:cNvCxnSpPr>
            <a:cxnSpLocks/>
            <a:stCxn id="136" idx="0"/>
            <a:endCxn id="82" idx="4"/>
          </p:cNvCxnSpPr>
          <p:nvPr/>
        </p:nvCxnSpPr>
        <p:spPr>
          <a:xfrm rot="16200000" flipH="1" flipV="1">
            <a:off x="3981996" y="1018818"/>
            <a:ext cx="917125" cy="799493"/>
          </a:xfrm>
          <a:prstGeom prst="curvedConnector4">
            <a:avLst>
              <a:gd name="adj1" fmla="val -24926"/>
              <a:gd name="adj2" fmla="val 52024"/>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143" name="Connecteur : en arc 142">
            <a:extLst>
              <a:ext uri="{FF2B5EF4-FFF2-40B4-BE49-F238E27FC236}">
                <a16:creationId xmlns:a16="http://schemas.microsoft.com/office/drawing/2014/main" id="{B4530A46-CE13-42BF-9B92-9289386A77E9}"/>
              </a:ext>
            </a:extLst>
          </p:cNvPr>
          <p:cNvCxnSpPr>
            <a:cxnSpLocks/>
            <a:stCxn id="72" idx="2"/>
            <a:endCxn id="128" idx="3"/>
          </p:cNvCxnSpPr>
          <p:nvPr/>
        </p:nvCxnSpPr>
        <p:spPr>
          <a:xfrm rot="10800000">
            <a:off x="2384940" y="3772559"/>
            <a:ext cx="893507" cy="1061766"/>
          </a:xfrm>
          <a:prstGeom prst="curvedConnector3">
            <a:avLst>
              <a:gd name="adj1" fmla="val 50000"/>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44" name="Groupe 143">
            <a:extLst>
              <a:ext uri="{FF2B5EF4-FFF2-40B4-BE49-F238E27FC236}">
                <a16:creationId xmlns:a16="http://schemas.microsoft.com/office/drawing/2014/main" id="{2639FFC6-EC6A-4347-853D-194BEB21EBD3}"/>
              </a:ext>
            </a:extLst>
          </p:cNvPr>
          <p:cNvGrpSpPr/>
          <p:nvPr/>
        </p:nvGrpSpPr>
        <p:grpSpPr>
          <a:xfrm>
            <a:off x="6965125" y="2049277"/>
            <a:ext cx="1192504" cy="1222515"/>
            <a:chOff x="6776687" y="2026005"/>
            <a:chExt cx="1192504" cy="1222515"/>
          </a:xfrm>
        </p:grpSpPr>
        <p:grpSp>
          <p:nvGrpSpPr>
            <p:cNvPr id="145" name="Groupe 144">
              <a:extLst>
                <a:ext uri="{FF2B5EF4-FFF2-40B4-BE49-F238E27FC236}">
                  <a16:creationId xmlns:a16="http://schemas.microsoft.com/office/drawing/2014/main" id="{530D9842-544B-4313-B4AA-CD8D8EACBB72}"/>
                </a:ext>
              </a:extLst>
            </p:cNvPr>
            <p:cNvGrpSpPr/>
            <p:nvPr/>
          </p:nvGrpSpPr>
          <p:grpSpPr>
            <a:xfrm>
              <a:off x="6776687" y="2445053"/>
              <a:ext cx="1192504" cy="803467"/>
              <a:chOff x="5762625" y="3533775"/>
              <a:chExt cx="2085975" cy="1606933"/>
            </a:xfrm>
            <a:gradFill>
              <a:gsLst>
                <a:gs pos="0">
                  <a:schemeClr val="accent1">
                    <a:lumMod val="5000"/>
                    <a:lumOff val="95000"/>
                  </a:schemeClr>
                </a:gs>
                <a:gs pos="6000">
                  <a:schemeClr val="accent1">
                    <a:lumMod val="45000"/>
                    <a:lumOff val="55000"/>
                  </a:schemeClr>
                </a:gs>
                <a:gs pos="67000">
                  <a:schemeClr val="accent1">
                    <a:lumMod val="45000"/>
                    <a:lumOff val="55000"/>
                  </a:schemeClr>
                </a:gs>
                <a:gs pos="24000">
                  <a:schemeClr val="accent1">
                    <a:lumMod val="30000"/>
                    <a:lumOff val="70000"/>
                  </a:schemeClr>
                </a:gs>
              </a:gsLst>
              <a:lin ang="5400000" scaled="1"/>
            </a:gradFill>
          </p:grpSpPr>
          <p:sp>
            <p:nvSpPr>
              <p:cNvPr id="155" name="Cylindre 154">
                <a:extLst>
                  <a:ext uri="{FF2B5EF4-FFF2-40B4-BE49-F238E27FC236}">
                    <a16:creationId xmlns:a16="http://schemas.microsoft.com/office/drawing/2014/main" id="{6431DD7A-6A86-41C4-BC5E-C71C0F142F08}"/>
                  </a:ext>
                </a:extLst>
              </p:cNvPr>
              <p:cNvSpPr/>
              <p:nvPr/>
            </p:nvSpPr>
            <p:spPr>
              <a:xfrm>
                <a:off x="5762625" y="3533775"/>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Cylindre 155">
                <a:extLst>
                  <a:ext uri="{FF2B5EF4-FFF2-40B4-BE49-F238E27FC236}">
                    <a16:creationId xmlns:a16="http://schemas.microsoft.com/office/drawing/2014/main" id="{2257D255-4D9F-4CB1-B713-D08015390F28}"/>
                  </a:ext>
                </a:extLst>
              </p:cNvPr>
              <p:cNvSpPr/>
              <p:nvPr/>
            </p:nvSpPr>
            <p:spPr>
              <a:xfrm>
                <a:off x="5762625" y="3566907"/>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Cylindre 156">
                <a:extLst>
                  <a:ext uri="{FF2B5EF4-FFF2-40B4-BE49-F238E27FC236}">
                    <a16:creationId xmlns:a16="http://schemas.microsoft.com/office/drawing/2014/main" id="{DD458CFF-3EDE-40D5-8381-7501C3BB6687}"/>
                  </a:ext>
                </a:extLst>
              </p:cNvPr>
              <p:cNvSpPr/>
              <p:nvPr/>
            </p:nvSpPr>
            <p:spPr>
              <a:xfrm>
                <a:off x="5762625" y="3600039"/>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6" name="Groupe 145">
              <a:extLst>
                <a:ext uri="{FF2B5EF4-FFF2-40B4-BE49-F238E27FC236}">
                  <a16:creationId xmlns:a16="http://schemas.microsoft.com/office/drawing/2014/main" id="{D47F1D97-A840-4BBD-AEB8-B3A30228D228}"/>
                </a:ext>
              </a:extLst>
            </p:cNvPr>
            <p:cNvGrpSpPr/>
            <p:nvPr/>
          </p:nvGrpSpPr>
          <p:grpSpPr>
            <a:xfrm>
              <a:off x="6776687" y="2130311"/>
              <a:ext cx="1192504" cy="803467"/>
              <a:chOff x="5762625" y="3533775"/>
              <a:chExt cx="2085975" cy="1606933"/>
            </a:xfrm>
            <a:solidFill>
              <a:schemeClr val="accent5">
                <a:lumMod val="40000"/>
                <a:lumOff val="60000"/>
              </a:schemeClr>
            </a:solidFill>
          </p:grpSpPr>
          <p:sp>
            <p:nvSpPr>
              <p:cNvPr id="152" name="Cylindre 151">
                <a:extLst>
                  <a:ext uri="{FF2B5EF4-FFF2-40B4-BE49-F238E27FC236}">
                    <a16:creationId xmlns:a16="http://schemas.microsoft.com/office/drawing/2014/main" id="{D458E114-872D-4B40-8D56-0E8DD5775370}"/>
                  </a:ext>
                </a:extLst>
              </p:cNvPr>
              <p:cNvSpPr/>
              <p:nvPr/>
            </p:nvSpPr>
            <p:spPr>
              <a:xfrm>
                <a:off x="5762625" y="3533775"/>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Cylindre 152">
                <a:extLst>
                  <a:ext uri="{FF2B5EF4-FFF2-40B4-BE49-F238E27FC236}">
                    <a16:creationId xmlns:a16="http://schemas.microsoft.com/office/drawing/2014/main" id="{E7379564-CAEC-4203-B0FB-0496DD7B9A59}"/>
                  </a:ext>
                </a:extLst>
              </p:cNvPr>
              <p:cNvSpPr/>
              <p:nvPr/>
            </p:nvSpPr>
            <p:spPr>
              <a:xfrm>
                <a:off x="5762625" y="3566907"/>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Cylindre 153">
                <a:extLst>
                  <a:ext uri="{FF2B5EF4-FFF2-40B4-BE49-F238E27FC236}">
                    <a16:creationId xmlns:a16="http://schemas.microsoft.com/office/drawing/2014/main" id="{C1E73BA8-7F03-401A-A1C8-E6AB1DA21969}"/>
                  </a:ext>
                </a:extLst>
              </p:cNvPr>
              <p:cNvSpPr/>
              <p:nvPr/>
            </p:nvSpPr>
            <p:spPr>
              <a:xfrm>
                <a:off x="5762625" y="3600039"/>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7" name="Groupe 146">
              <a:extLst>
                <a:ext uri="{FF2B5EF4-FFF2-40B4-BE49-F238E27FC236}">
                  <a16:creationId xmlns:a16="http://schemas.microsoft.com/office/drawing/2014/main" id="{D63ED8FD-196D-4E0E-99D4-C0DC1280A297}"/>
                </a:ext>
              </a:extLst>
            </p:cNvPr>
            <p:cNvGrpSpPr/>
            <p:nvPr/>
          </p:nvGrpSpPr>
          <p:grpSpPr>
            <a:xfrm>
              <a:off x="6776687" y="2026005"/>
              <a:ext cx="1192504" cy="561509"/>
              <a:chOff x="5762625" y="3533775"/>
              <a:chExt cx="2085975" cy="1606933"/>
            </a:xfrm>
            <a:gradFill>
              <a:gsLst>
                <a:gs pos="0">
                  <a:schemeClr val="accent1">
                    <a:lumMod val="5000"/>
                    <a:lumOff val="95000"/>
                  </a:schemeClr>
                </a:gs>
                <a:gs pos="6000">
                  <a:schemeClr val="accent1">
                    <a:lumMod val="45000"/>
                    <a:lumOff val="55000"/>
                  </a:schemeClr>
                </a:gs>
                <a:gs pos="67000">
                  <a:schemeClr val="accent1">
                    <a:lumMod val="45000"/>
                    <a:lumOff val="55000"/>
                  </a:schemeClr>
                </a:gs>
                <a:gs pos="24000">
                  <a:schemeClr val="accent1">
                    <a:lumMod val="30000"/>
                    <a:lumOff val="70000"/>
                  </a:schemeClr>
                </a:gs>
              </a:gsLst>
              <a:lin ang="5400000" scaled="1"/>
            </a:gradFill>
          </p:grpSpPr>
          <p:sp>
            <p:nvSpPr>
              <p:cNvPr id="149" name="Cylindre 148">
                <a:extLst>
                  <a:ext uri="{FF2B5EF4-FFF2-40B4-BE49-F238E27FC236}">
                    <a16:creationId xmlns:a16="http://schemas.microsoft.com/office/drawing/2014/main" id="{6C685FCC-C4FA-4D21-89E3-0194619C7F75}"/>
                  </a:ext>
                </a:extLst>
              </p:cNvPr>
              <p:cNvSpPr/>
              <p:nvPr/>
            </p:nvSpPr>
            <p:spPr>
              <a:xfrm>
                <a:off x="5762625" y="3533775"/>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ylindre 149">
                <a:extLst>
                  <a:ext uri="{FF2B5EF4-FFF2-40B4-BE49-F238E27FC236}">
                    <a16:creationId xmlns:a16="http://schemas.microsoft.com/office/drawing/2014/main" id="{F91FEBD3-FCCD-4E24-9C43-ADEB64425954}"/>
                  </a:ext>
                </a:extLst>
              </p:cNvPr>
              <p:cNvSpPr/>
              <p:nvPr/>
            </p:nvSpPr>
            <p:spPr>
              <a:xfrm>
                <a:off x="5762625" y="3566907"/>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Cylindre 150">
                <a:extLst>
                  <a:ext uri="{FF2B5EF4-FFF2-40B4-BE49-F238E27FC236}">
                    <a16:creationId xmlns:a16="http://schemas.microsoft.com/office/drawing/2014/main" id="{345B7D16-0210-4ED6-975B-39FEB1A13283}"/>
                  </a:ext>
                </a:extLst>
              </p:cNvPr>
              <p:cNvSpPr/>
              <p:nvPr/>
            </p:nvSpPr>
            <p:spPr>
              <a:xfrm>
                <a:off x="5762625" y="3600039"/>
                <a:ext cx="2085975" cy="1540669"/>
              </a:xfrm>
              <a:prstGeom prst="can">
                <a:avLst/>
              </a:prstGeom>
              <a:grp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48" name="Ellipse 147">
              <a:extLst>
                <a:ext uri="{FF2B5EF4-FFF2-40B4-BE49-F238E27FC236}">
                  <a16:creationId xmlns:a16="http://schemas.microsoft.com/office/drawing/2014/main" id="{942BCE2A-AA38-4A89-A90C-85D92B91EEFE}"/>
                </a:ext>
              </a:extLst>
            </p:cNvPr>
            <p:cNvSpPr/>
            <p:nvPr/>
          </p:nvSpPr>
          <p:spPr>
            <a:xfrm>
              <a:off x="6776687" y="2044175"/>
              <a:ext cx="1192504" cy="160736"/>
            </a:xfrm>
            <a:prstGeom prst="ellipse">
              <a:avLst/>
            </a:prstGeom>
            <a:gradFill>
              <a:gsLst>
                <a:gs pos="0">
                  <a:schemeClr val="accent1">
                    <a:lumMod val="5000"/>
                    <a:lumOff val="95000"/>
                  </a:schemeClr>
                </a:gs>
                <a:gs pos="6000">
                  <a:schemeClr val="accent1">
                    <a:lumMod val="45000"/>
                    <a:lumOff val="55000"/>
                  </a:schemeClr>
                </a:gs>
                <a:gs pos="67000">
                  <a:schemeClr val="accent1">
                    <a:lumMod val="45000"/>
                    <a:lumOff val="55000"/>
                  </a:schemeClr>
                </a:gs>
                <a:gs pos="24000">
                  <a:schemeClr val="accent1">
                    <a:lumMod val="30000"/>
                    <a:lumOff val="70000"/>
                  </a:schemeClr>
                </a:gs>
              </a:gsLst>
              <a:lin ang="5400000" scaled="1"/>
            </a:gra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162" name="Connecteur : en arc 161">
            <a:extLst>
              <a:ext uri="{FF2B5EF4-FFF2-40B4-BE49-F238E27FC236}">
                <a16:creationId xmlns:a16="http://schemas.microsoft.com/office/drawing/2014/main" id="{30F745EF-3D25-448F-A21B-1A1DF441398A}"/>
              </a:ext>
            </a:extLst>
          </p:cNvPr>
          <p:cNvCxnSpPr>
            <a:cxnSpLocks/>
            <a:stCxn id="70" idx="3"/>
            <a:endCxn id="160" idx="3"/>
          </p:cNvCxnSpPr>
          <p:nvPr/>
        </p:nvCxnSpPr>
        <p:spPr>
          <a:xfrm rot="5400000">
            <a:off x="2908690" y="5525258"/>
            <a:ext cx="863588" cy="333133"/>
          </a:xfrm>
          <a:prstGeom prst="curvedConnector2">
            <a:avLst/>
          </a:prstGeom>
          <a:ln w="34925">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6" name="Groupe 5">
            <a:extLst>
              <a:ext uri="{FF2B5EF4-FFF2-40B4-BE49-F238E27FC236}">
                <a16:creationId xmlns:a16="http://schemas.microsoft.com/office/drawing/2014/main" id="{89D74276-8402-DF7F-C834-778CCF42AF91}"/>
              </a:ext>
            </a:extLst>
          </p:cNvPr>
          <p:cNvGrpSpPr/>
          <p:nvPr/>
        </p:nvGrpSpPr>
        <p:grpSpPr>
          <a:xfrm>
            <a:off x="1838580" y="5792966"/>
            <a:ext cx="1362389" cy="885407"/>
            <a:chOff x="1838580" y="5792966"/>
            <a:chExt cx="1362389" cy="885407"/>
          </a:xfrm>
        </p:grpSpPr>
        <p:sp>
          <p:nvSpPr>
            <p:cNvPr id="159" name="Cadre 158">
              <a:extLst>
                <a:ext uri="{FF2B5EF4-FFF2-40B4-BE49-F238E27FC236}">
                  <a16:creationId xmlns:a16="http://schemas.microsoft.com/office/drawing/2014/main" id="{B40683F3-7A60-43A5-8B0C-C3CA32F88EAC}"/>
                </a:ext>
              </a:extLst>
            </p:cNvPr>
            <p:cNvSpPr/>
            <p:nvPr/>
          </p:nvSpPr>
          <p:spPr>
            <a:xfrm>
              <a:off x="2037774" y="5792966"/>
              <a:ext cx="1163195" cy="667295"/>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0" name="Rectangle : coins arrondis 159">
              <a:extLst>
                <a:ext uri="{FF2B5EF4-FFF2-40B4-BE49-F238E27FC236}">
                  <a16:creationId xmlns:a16="http://schemas.microsoft.com/office/drawing/2014/main" id="{6FBF650B-2BEC-458A-A3F5-27E73779BED5}"/>
                </a:ext>
              </a:extLst>
            </p:cNvPr>
            <p:cNvSpPr/>
            <p:nvPr/>
          </p:nvSpPr>
          <p:spPr>
            <a:xfrm>
              <a:off x="2064826" y="5807145"/>
              <a:ext cx="1109091" cy="632945"/>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Gestion Stock</a:t>
              </a:r>
            </a:p>
          </p:txBody>
        </p:sp>
        <p:sp>
          <p:nvSpPr>
            <p:cNvPr id="161" name="Cube 160">
              <a:extLst>
                <a:ext uri="{FF2B5EF4-FFF2-40B4-BE49-F238E27FC236}">
                  <a16:creationId xmlns:a16="http://schemas.microsoft.com/office/drawing/2014/main" id="{0238F851-A7AD-4B08-A628-488196EF9DDB}"/>
                </a:ext>
              </a:extLst>
            </p:cNvPr>
            <p:cNvSpPr/>
            <p:nvPr/>
          </p:nvSpPr>
          <p:spPr>
            <a:xfrm>
              <a:off x="1838580" y="6458689"/>
              <a:ext cx="1362389" cy="219684"/>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3" name="Image 162">
              <a:extLst>
                <a:ext uri="{FF2B5EF4-FFF2-40B4-BE49-F238E27FC236}">
                  <a16:creationId xmlns:a16="http://schemas.microsoft.com/office/drawing/2014/main" id="{D8AEB0FA-8F86-41D1-BC1E-49AE952B248C}"/>
                </a:ext>
              </a:extLst>
            </p:cNvPr>
            <p:cNvPicPr>
              <a:picLocks noChangeAspect="1"/>
            </p:cNvPicPr>
            <p:nvPr/>
          </p:nvPicPr>
          <p:blipFill>
            <a:blip r:embed="rId2"/>
            <a:stretch>
              <a:fillRect/>
            </a:stretch>
          </p:blipFill>
          <p:spPr>
            <a:xfrm>
              <a:off x="2074822" y="6142214"/>
              <a:ext cx="379470" cy="293287"/>
            </a:xfrm>
            <a:prstGeom prst="rect">
              <a:avLst/>
            </a:prstGeom>
          </p:spPr>
        </p:pic>
      </p:grpSp>
    </p:spTree>
    <p:extLst>
      <p:ext uri="{BB962C8B-B14F-4D97-AF65-F5344CB8AC3E}">
        <p14:creationId xmlns:p14="http://schemas.microsoft.com/office/powerpoint/2010/main" val="2324107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Ellipse 141">
            <a:extLst>
              <a:ext uri="{FF2B5EF4-FFF2-40B4-BE49-F238E27FC236}">
                <a16:creationId xmlns:a16="http://schemas.microsoft.com/office/drawing/2014/main" id="{1F6A0BE6-B115-434A-8797-976066862CC5}"/>
              </a:ext>
            </a:extLst>
          </p:cNvPr>
          <p:cNvSpPr/>
          <p:nvPr/>
        </p:nvSpPr>
        <p:spPr>
          <a:xfrm>
            <a:off x="4480916" y="1939181"/>
            <a:ext cx="3180151" cy="320668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r-FR" b="1" dirty="0">
                <a:solidFill>
                  <a:srgbClr val="FF0000"/>
                </a:solidFill>
              </a:rPr>
              <a:t>Entrepôt</a:t>
            </a:r>
          </a:p>
        </p:txBody>
      </p:sp>
      <p:sp>
        <p:nvSpPr>
          <p:cNvPr id="2" name="Titre 1"/>
          <p:cNvSpPr>
            <a:spLocks noGrp="1"/>
          </p:cNvSpPr>
          <p:nvPr>
            <p:ph type="ctrTitle"/>
          </p:nvPr>
        </p:nvSpPr>
        <p:spPr>
          <a:xfrm>
            <a:off x="0" y="0"/>
            <a:ext cx="12192000" cy="376644"/>
          </a:xfrm>
          <a:gradFill>
            <a:gsLst>
              <a:gs pos="0">
                <a:schemeClr val="accent1">
                  <a:lumMod val="5000"/>
                  <a:lumOff val="95000"/>
                </a:schemeClr>
              </a:gs>
              <a:gs pos="0">
                <a:schemeClr val="accent1">
                  <a:lumMod val="45000"/>
                  <a:lumOff val="55000"/>
                </a:schemeClr>
              </a:gs>
              <a:gs pos="83000">
                <a:schemeClr val="accent1">
                  <a:lumMod val="45000"/>
                  <a:lumOff val="55000"/>
                </a:schemeClr>
              </a:gs>
              <a:gs pos="44000">
                <a:schemeClr val="accent1">
                  <a:lumMod val="30000"/>
                  <a:lumOff val="70000"/>
                </a:schemeClr>
              </a:gs>
            </a:gsLst>
            <a:lin ang="5400000" scaled="1"/>
          </a:gradFill>
          <a:ln w="12700">
            <a:solidFill>
              <a:schemeClr val="accent6"/>
            </a:solidFill>
          </a:ln>
        </p:spPr>
        <p:txBody>
          <a:bodyPr>
            <a:normAutofit/>
          </a:bodyPr>
          <a:lstStyle/>
          <a:p>
            <a:pPr algn="l"/>
            <a:r>
              <a:rPr lang="fr-FR" sz="1800" b="1" dirty="0"/>
              <a:t>Schémas fonctionnels</a:t>
            </a:r>
          </a:p>
        </p:txBody>
      </p:sp>
      <p:grpSp>
        <p:nvGrpSpPr>
          <p:cNvPr id="20" name="Groupe 19">
            <a:extLst>
              <a:ext uri="{FF2B5EF4-FFF2-40B4-BE49-F238E27FC236}">
                <a16:creationId xmlns:a16="http://schemas.microsoft.com/office/drawing/2014/main" id="{DA4FD692-3725-3A02-5CD2-A754FBCB3D02}"/>
              </a:ext>
            </a:extLst>
          </p:cNvPr>
          <p:cNvGrpSpPr/>
          <p:nvPr/>
        </p:nvGrpSpPr>
        <p:grpSpPr>
          <a:xfrm>
            <a:off x="259161" y="5627408"/>
            <a:ext cx="1897256" cy="947644"/>
            <a:chOff x="259161" y="5627408"/>
            <a:chExt cx="1897256" cy="947644"/>
          </a:xfrm>
        </p:grpSpPr>
        <p:sp>
          <p:nvSpPr>
            <p:cNvPr id="64" name="Cadre 63">
              <a:extLst>
                <a:ext uri="{FF2B5EF4-FFF2-40B4-BE49-F238E27FC236}">
                  <a16:creationId xmlns:a16="http://schemas.microsoft.com/office/drawing/2014/main" id="{FFE8B546-E76A-4FE5-B72A-6B3B4471E24A}"/>
                </a:ext>
              </a:extLst>
            </p:cNvPr>
            <p:cNvSpPr/>
            <p:nvPr/>
          </p:nvSpPr>
          <p:spPr>
            <a:xfrm>
              <a:off x="479421" y="5627408"/>
              <a:ext cx="1676996" cy="714993"/>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5" name="Rectangle : coins arrondis 64">
              <a:extLst>
                <a:ext uri="{FF2B5EF4-FFF2-40B4-BE49-F238E27FC236}">
                  <a16:creationId xmlns:a16="http://schemas.microsoft.com/office/drawing/2014/main" id="{810AF39C-C829-4A71-8B82-B7B590279DAF}"/>
                </a:ext>
              </a:extLst>
            </p:cNvPr>
            <p:cNvSpPr/>
            <p:nvPr/>
          </p:nvSpPr>
          <p:spPr>
            <a:xfrm>
              <a:off x="518422" y="5642601"/>
              <a:ext cx="1598994" cy="678187"/>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a:solidFill>
                    <a:schemeClr val="tx1"/>
                  </a:solidFill>
                </a:rPr>
                <a:t>Facturation</a:t>
              </a:r>
            </a:p>
          </p:txBody>
        </p:sp>
        <p:sp>
          <p:nvSpPr>
            <p:cNvPr id="66" name="Cube 65">
              <a:extLst>
                <a:ext uri="{FF2B5EF4-FFF2-40B4-BE49-F238E27FC236}">
                  <a16:creationId xmlns:a16="http://schemas.microsoft.com/office/drawing/2014/main" id="{25867371-249D-4A94-886D-75D635C3C6A6}"/>
                </a:ext>
              </a:extLst>
            </p:cNvPr>
            <p:cNvSpPr/>
            <p:nvPr/>
          </p:nvSpPr>
          <p:spPr>
            <a:xfrm>
              <a:off x="259161" y="6335457"/>
              <a:ext cx="1897256" cy="239595"/>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 name="Groupe 18">
            <a:extLst>
              <a:ext uri="{FF2B5EF4-FFF2-40B4-BE49-F238E27FC236}">
                <a16:creationId xmlns:a16="http://schemas.microsoft.com/office/drawing/2014/main" id="{249AA1D7-5542-92E8-9B39-968F2D4E0B0A}"/>
              </a:ext>
            </a:extLst>
          </p:cNvPr>
          <p:cNvGrpSpPr/>
          <p:nvPr/>
        </p:nvGrpSpPr>
        <p:grpSpPr>
          <a:xfrm>
            <a:off x="179557" y="3186233"/>
            <a:ext cx="2082598" cy="1030795"/>
            <a:chOff x="179557" y="3186233"/>
            <a:chExt cx="2082598" cy="1030795"/>
          </a:xfrm>
        </p:grpSpPr>
        <p:sp>
          <p:nvSpPr>
            <p:cNvPr id="74" name="Cadre 73">
              <a:extLst>
                <a:ext uri="{FF2B5EF4-FFF2-40B4-BE49-F238E27FC236}">
                  <a16:creationId xmlns:a16="http://schemas.microsoft.com/office/drawing/2014/main" id="{ED3E6553-7814-4D0D-B133-FC2CD4A39E45}"/>
                </a:ext>
              </a:extLst>
            </p:cNvPr>
            <p:cNvSpPr/>
            <p:nvPr/>
          </p:nvSpPr>
          <p:spPr>
            <a:xfrm>
              <a:off x="413495" y="3186233"/>
              <a:ext cx="1848659" cy="789957"/>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Rectangle : coins arrondis 74">
              <a:extLst>
                <a:ext uri="{FF2B5EF4-FFF2-40B4-BE49-F238E27FC236}">
                  <a16:creationId xmlns:a16="http://schemas.microsoft.com/office/drawing/2014/main" id="{2195B535-8BCF-4845-A60B-841B0E8E563E}"/>
                </a:ext>
              </a:extLst>
            </p:cNvPr>
            <p:cNvSpPr/>
            <p:nvPr/>
          </p:nvSpPr>
          <p:spPr>
            <a:xfrm>
              <a:off x="456489" y="3232573"/>
              <a:ext cx="1762672" cy="719739"/>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200" dirty="0">
                  <a:solidFill>
                    <a:schemeClr val="tx1"/>
                  </a:solidFill>
                </a:rPr>
                <a:t>Préparation Commande</a:t>
              </a:r>
            </a:p>
            <a:p>
              <a:pPr algn="ctr"/>
              <a:r>
                <a:rPr lang="fr-FR" sz="1200" dirty="0">
                  <a:solidFill>
                    <a:schemeClr val="tx1"/>
                  </a:solidFill>
                </a:rPr>
                <a:t>Gestion de Livraison</a:t>
              </a:r>
            </a:p>
          </p:txBody>
        </p:sp>
        <p:sp>
          <p:nvSpPr>
            <p:cNvPr id="76" name="Cube 75">
              <a:extLst>
                <a:ext uri="{FF2B5EF4-FFF2-40B4-BE49-F238E27FC236}">
                  <a16:creationId xmlns:a16="http://schemas.microsoft.com/office/drawing/2014/main" id="{476B4C37-B9F1-4651-A8ED-33B3988B3124}"/>
                </a:ext>
              </a:extLst>
            </p:cNvPr>
            <p:cNvSpPr/>
            <p:nvPr/>
          </p:nvSpPr>
          <p:spPr>
            <a:xfrm>
              <a:off x="179557" y="3952312"/>
              <a:ext cx="2082598" cy="264716"/>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 name="Groupe 22">
            <a:extLst>
              <a:ext uri="{FF2B5EF4-FFF2-40B4-BE49-F238E27FC236}">
                <a16:creationId xmlns:a16="http://schemas.microsoft.com/office/drawing/2014/main" id="{C7F7022F-5686-1039-8563-43C33FEC3C8D}"/>
              </a:ext>
            </a:extLst>
          </p:cNvPr>
          <p:cNvGrpSpPr/>
          <p:nvPr/>
        </p:nvGrpSpPr>
        <p:grpSpPr>
          <a:xfrm>
            <a:off x="10155115" y="5237598"/>
            <a:ext cx="1557464" cy="907673"/>
            <a:chOff x="10155115" y="5237598"/>
            <a:chExt cx="1557464" cy="907673"/>
          </a:xfrm>
        </p:grpSpPr>
        <p:sp>
          <p:nvSpPr>
            <p:cNvPr id="84" name="Cadre 83">
              <a:extLst>
                <a:ext uri="{FF2B5EF4-FFF2-40B4-BE49-F238E27FC236}">
                  <a16:creationId xmlns:a16="http://schemas.microsoft.com/office/drawing/2014/main" id="{332B7B9E-3C9A-4D6F-BB42-2D8CAAD9FC61}"/>
                </a:ext>
              </a:extLst>
            </p:cNvPr>
            <p:cNvSpPr/>
            <p:nvPr/>
          </p:nvSpPr>
          <p:spPr>
            <a:xfrm>
              <a:off x="10352054" y="5237598"/>
              <a:ext cx="1360525" cy="669370"/>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5" name="Rectangle : coins arrondis 84">
              <a:extLst>
                <a:ext uri="{FF2B5EF4-FFF2-40B4-BE49-F238E27FC236}">
                  <a16:creationId xmlns:a16="http://schemas.microsoft.com/office/drawing/2014/main" id="{73654958-1961-4C22-8BA7-8FAAAE3ED068}"/>
                </a:ext>
              </a:extLst>
            </p:cNvPr>
            <p:cNvSpPr/>
            <p:nvPr/>
          </p:nvSpPr>
          <p:spPr>
            <a:xfrm>
              <a:off x="10383695" y="5251821"/>
              <a:ext cx="1297243" cy="634913"/>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a:solidFill>
                    <a:schemeClr val="tx1"/>
                  </a:solidFill>
                </a:rPr>
                <a:t>Bilan Statistique</a:t>
              </a:r>
            </a:p>
          </p:txBody>
        </p:sp>
        <p:sp>
          <p:nvSpPr>
            <p:cNvPr id="86" name="Cube 85">
              <a:extLst>
                <a:ext uri="{FF2B5EF4-FFF2-40B4-BE49-F238E27FC236}">
                  <a16:creationId xmlns:a16="http://schemas.microsoft.com/office/drawing/2014/main" id="{7114C54E-6997-4217-A290-89B4C886FDC9}"/>
                </a:ext>
              </a:extLst>
            </p:cNvPr>
            <p:cNvSpPr/>
            <p:nvPr/>
          </p:nvSpPr>
          <p:spPr>
            <a:xfrm>
              <a:off x="10155115" y="5899253"/>
              <a:ext cx="1557464" cy="246018"/>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 name="Groupe 21">
            <a:extLst>
              <a:ext uri="{FF2B5EF4-FFF2-40B4-BE49-F238E27FC236}">
                <a16:creationId xmlns:a16="http://schemas.microsoft.com/office/drawing/2014/main" id="{B6E546EF-3641-AFFE-8669-439C151FFC97}"/>
              </a:ext>
            </a:extLst>
          </p:cNvPr>
          <p:cNvGrpSpPr/>
          <p:nvPr/>
        </p:nvGrpSpPr>
        <p:grpSpPr>
          <a:xfrm>
            <a:off x="135532" y="1029396"/>
            <a:ext cx="1924223" cy="1161756"/>
            <a:chOff x="135532" y="1029396"/>
            <a:chExt cx="1924223" cy="1161756"/>
          </a:xfrm>
        </p:grpSpPr>
        <p:grpSp>
          <p:nvGrpSpPr>
            <p:cNvPr id="21" name="Groupe 20">
              <a:extLst>
                <a:ext uri="{FF2B5EF4-FFF2-40B4-BE49-F238E27FC236}">
                  <a16:creationId xmlns:a16="http://schemas.microsoft.com/office/drawing/2014/main" id="{FF3EDC55-795E-C60C-0E98-D159E16F28F0}"/>
                </a:ext>
              </a:extLst>
            </p:cNvPr>
            <p:cNvGrpSpPr/>
            <p:nvPr/>
          </p:nvGrpSpPr>
          <p:grpSpPr>
            <a:xfrm>
              <a:off x="135532" y="1029396"/>
              <a:ext cx="1924223" cy="1161756"/>
              <a:chOff x="135532" y="1029396"/>
              <a:chExt cx="1924223" cy="1161756"/>
            </a:xfrm>
          </p:grpSpPr>
          <p:sp>
            <p:nvSpPr>
              <p:cNvPr id="94" name="Cadre 93">
                <a:extLst>
                  <a:ext uri="{FF2B5EF4-FFF2-40B4-BE49-F238E27FC236}">
                    <a16:creationId xmlns:a16="http://schemas.microsoft.com/office/drawing/2014/main" id="{9CB0C9C5-0124-4876-888A-23C440B9ECA0}"/>
                  </a:ext>
                </a:extLst>
              </p:cNvPr>
              <p:cNvSpPr/>
              <p:nvPr/>
            </p:nvSpPr>
            <p:spPr>
              <a:xfrm>
                <a:off x="364039" y="1029396"/>
                <a:ext cx="1695716" cy="890321"/>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Rectangle : coins arrondis 94">
                <a:extLst>
                  <a:ext uri="{FF2B5EF4-FFF2-40B4-BE49-F238E27FC236}">
                    <a16:creationId xmlns:a16="http://schemas.microsoft.com/office/drawing/2014/main" id="{EC123760-6285-4E97-AFAD-C8AA8249D66A}"/>
                  </a:ext>
                </a:extLst>
              </p:cNvPr>
              <p:cNvSpPr/>
              <p:nvPr/>
            </p:nvSpPr>
            <p:spPr>
              <a:xfrm>
                <a:off x="403476" y="1048314"/>
                <a:ext cx="1616843" cy="844490"/>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200" dirty="0">
                    <a:solidFill>
                      <a:schemeClr val="tx1"/>
                    </a:solidFill>
                  </a:rPr>
                  <a:t>Prise de commandes</a:t>
                </a:r>
              </a:p>
            </p:txBody>
          </p:sp>
          <p:sp>
            <p:nvSpPr>
              <p:cNvPr id="96" name="Cube 95">
                <a:extLst>
                  <a:ext uri="{FF2B5EF4-FFF2-40B4-BE49-F238E27FC236}">
                    <a16:creationId xmlns:a16="http://schemas.microsoft.com/office/drawing/2014/main" id="{B9716D35-4FEA-49CC-A1BB-9289F666862B}"/>
                  </a:ext>
                </a:extLst>
              </p:cNvPr>
              <p:cNvSpPr/>
              <p:nvPr/>
            </p:nvSpPr>
            <p:spPr>
              <a:xfrm>
                <a:off x="135532" y="1919514"/>
                <a:ext cx="1924223" cy="271638"/>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17" name="Image 116">
              <a:extLst>
                <a:ext uri="{FF2B5EF4-FFF2-40B4-BE49-F238E27FC236}">
                  <a16:creationId xmlns:a16="http://schemas.microsoft.com/office/drawing/2014/main" id="{4E5793EF-2DCD-45EF-B3B3-B5AEB8205989}"/>
                </a:ext>
              </a:extLst>
            </p:cNvPr>
            <p:cNvPicPr>
              <a:picLocks noChangeAspect="1"/>
            </p:cNvPicPr>
            <p:nvPr/>
          </p:nvPicPr>
          <p:blipFill>
            <a:blip r:embed="rId2"/>
            <a:stretch>
              <a:fillRect/>
            </a:stretch>
          </p:blipFill>
          <p:spPr>
            <a:xfrm>
              <a:off x="1674771" y="1575569"/>
              <a:ext cx="324911" cy="287361"/>
            </a:xfrm>
            <a:prstGeom prst="rect">
              <a:avLst/>
            </a:prstGeom>
          </p:spPr>
        </p:pic>
      </p:grpSp>
      <p:grpSp>
        <p:nvGrpSpPr>
          <p:cNvPr id="24" name="Groupe 23">
            <a:extLst>
              <a:ext uri="{FF2B5EF4-FFF2-40B4-BE49-F238E27FC236}">
                <a16:creationId xmlns:a16="http://schemas.microsoft.com/office/drawing/2014/main" id="{5F0107CD-27BE-C383-78E4-986EC13B9C1D}"/>
              </a:ext>
            </a:extLst>
          </p:cNvPr>
          <p:cNvGrpSpPr/>
          <p:nvPr/>
        </p:nvGrpSpPr>
        <p:grpSpPr>
          <a:xfrm>
            <a:off x="10278443" y="1167705"/>
            <a:ext cx="1723569" cy="981016"/>
            <a:chOff x="10278443" y="1167705"/>
            <a:chExt cx="1723569" cy="981016"/>
          </a:xfrm>
        </p:grpSpPr>
        <p:sp>
          <p:nvSpPr>
            <p:cNvPr id="128" name="Cadre 127">
              <a:extLst>
                <a:ext uri="{FF2B5EF4-FFF2-40B4-BE49-F238E27FC236}">
                  <a16:creationId xmlns:a16="http://schemas.microsoft.com/office/drawing/2014/main" id="{B71E63DA-3905-42C1-BEAB-7402740B5B9B}"/>
                </a:ext>
              </a:extLst>
            </p:cNvPr>
            <p:cNvSpPr/>
            <p:nvPr/>
          </p:nvSpPr>
          <p:spPr>
            <a:xfrm>
              <a:off x="10474770" y="1167705"/>
              <a:ext cx="1527242" cy="751809"/>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9" name="Rectangle : coins arrondis 128">
              <a:extLst>
                <a:ext uri="{FF2B5EF4-FFF2-40B4-BE49-F238E27FC236}">
                  <a16:creationId xmlns:a16="http://schemas.microsoft.com/office/drawing/2014/main" id="{DE39847E-4098-4F9B-9C12-380E6F539794}"/>
                </a:ext>
              </a:extLst>
            </p:cNvPr>
            <p:cNvSpPr/>
            <p:nvPr/>
          </p:nvSpPr>
          <p:spPr>
            <a:xfrm>
              <a:off x="10510288" y="1183680"/>
              <a:ext cx="1456205" cy="713109"/>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200" dirty="0">
                  <a:solidFill>
                    <a:schemeClr val="tx1"/>
                  </a:solidFill>
                </a:rPr>
                <a:t>Approvisionnement</a:t>
              </a:r>
            </a:p>
          </p:txBody>
        </p:sp>
        <p:sp>
          <p:nvSpPr>
            <p:cNvPr id="130" name="Cube 129">
              <a:extLst>
                <a:ext uri="{FF2B5EF4-FFF2-40B4-BE49-F238E27FC236}">
                  <a16:creationId xmlns:a16="http://schemas.microsoft.com/office/drawing/2014/main" id="{3480D4D4-85CE-411A-94CA-080A1A21D8CE}"/>
                </a:ext>
              </a:extLst>
            </p:cNvPr>
            <p:cNvSpPr/>
            <p:nvPr/>
          </p:nvSpPr>
          <p:spPr>
            <a:xfrm>
              <a:off x="10278443" y="1919514"/>
              <a:ext cx="1723569" cy="229207"/>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2" name="Image 131">
              <a:extLst>
                <a:ext uri="{FF2B5EF4-FFF2-40B4-BE49-F238E27FC236}">
                  <a16:creationId xmlns:a16="http://schemas.microsoft.com/office/drawing/2014/main" id="{C1CCC208-9390-41AA-967B-C4A9DBC4AC01}"/>
                </a:ext>
              </a:extLst>
            </p:cNvPr>
            <p:cNvPicPr>
              <a:picLocks noChangeAspect="1"/>
            </p:cNvPicPr>
            <p:nvPr/>
          </p:nvPicPr>
          <p:blipFill>
            <a:blip r:embed="rId2"/>
            <a:stretch>
              <a:fillRect/>
            </a:stretch>
          </p:blipFill>
          <p:spPr>
            <a:xfrm>
              <a:off x="11697652" y="1669950"/>
              <a:ext cx="253756" cy="207714"/>
            </a:xfrm>
            <a:prstGeom prst="rect">
              <a:avLst/>
            </a:prstGeom>
          </p:spPr>
        </p:pic>
      </p:grpSp>
      <p:grpSp>
        <p:nvGrpSpPr>
          <p:cNvPr id="25" name="Groupe 24">
            <a:extLst>
              <a:ext uri="{FF2B5EF4-FFF2-40B4-BE49-F238E27FC236}">
                <a16:creationId xmlns:a16="http://schemas.microsoft.com/office/drawing/2014/main" id="{D4C989F5-3261-BC6C-0EE8-48E1E7787ECF}"/>
              </a:ext>
            </a:extLst>
          </p:cNvPr>
          <p:cNvGrpSpPr/>
          <p:nvPr/>
        </p:nvGrpSpPr>
        <p:grpSpPr>
          <a:xfrm>
            <a:off x="5471730" y="3938421"/>
            <a:ext cx="1349400" cy="870736"/>
            <a:chOff x="5471730" y="3938421"/>
            <a:chExt cx="1349400" cy="870736"/>
          </a:xfrm>
        </p:grpSpPr>
        <p:sp>
          <p:nvSpPr>
            <p:cNvPr id="159" name="Cadre 158">
              <a:extLst>
                <a:ext uri="{FF2B5EF4-FFF2-40B4-BE49-F238E27FC236}">
                  <a16:creationId xmlns:a16="http://schemas.microsoft.com/office/drawing/2014/main" id="{B40683F3-7A60-43A5-8B0C-C3CA32F88EAC}"/>
                </a:ext>
              </a:extLst>
            </p:cNvPr>
            <p:cNvSpPr/>
            <p:nvPr/>
          </p:nvSpPr>
          <p:spPr>
            <a:xfrm>
              <a:off x="5657935" y="3938421"/>
              <a:ext cx="1163195" cy="667295"/>
            </a:xfrm>
            <a:prstGeom prst="frame">
              <a:avLst>
                <a:gd name="adj1" fmla="val 3432"/>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0" name="Rectangle : coins arrondis 159">
              <a:extLst>
                <a:ext uri="{FF2B5EF4-FFF2-40B4-BE49-F238E27FC236}">
                  <a16:creationId xmlns:a16="http://schemas.microsoft.com/office/drawing/2014/main" id="{6FBF650B-2BEC-458A-A3F5-27E73779BED5}"/>
                </a:ext>
              </a:extLst>
            </p:cNvPr>
            <p:cNvSpPr/>
            <p:nvPr/>
          </p:nvSpPr>
          <p:spPr>
            <a:xfrm>
              <a:off x="5684987" y="3952600"/>
              <a:ext cx="1109091" cy="632945"/>
            </a:xfrm>
            <a:prstGeom prst="roundRect">
              <a:avLst>
                <a:gd name="adj" fmla="val 10293"/>
              </a:avLst>
            </a:prstGeom>
            <a:pattFill prst="pct50">
              <a:fgClr>
                <a:schemeClr val="accent5">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dirty="0">
                  <a:solidFill>
                    <a:schemeClr val="tx1"/>
                  </a:solidFill>
                </a:rPr>
                <a:t>Gestion Stock</a:t>
              </a:r>
            </a:p>
          </p:txBody>
        </p:sp>
        <p:sp>
          <p:nvSpPr>
            <p:cNvPr id="161" name="Cube 160">
              <a:extLst>
                <a:ext uri="{FF2B5EF4-FFF2-40B4-BE49-F238E27FC236}">
                  <a16:creationId xmlns:a16="http://schemas.microsoft.com/office/drawing/2014/main" id="{0238F851-A7AD-4B08-A628-488196EF9DDB}"/>
                </a:ext>
              </a:extLst>
            </p:cNvPr>
            <p:cNvSpPr/>
            <p:nvPr/>
          </p:nvSpPr>
          <p:spPr>
            <a:xfrm>
              <a:off x="5471730" y="4605716"/>
              <a:ext cx="1349400" cy="203441"/>
            </a:xfrm>
            <a:prstGeom prst="cube">
              <a:avLst>
                <a:gd name="adj" fmla="val 89226"/>
              </a:avLst>
            </a:prstGeom>
            <a:pattFill prst="plaid">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3" name="Image 162">
              <a:extLst>
                <a:ext uri="{FF2B5EF4-FFF2-40B4-BE49-F238E27FC236}">
                  <a16:creationId xmlns:a16="http://schemas.microsoft.com/office/drawing/2014/main" id="{D8AEB0FA-8F86-41D1-BC1E-49AE952B248C}"/>
                </a:ext>
              </a:extLst>
            </p:cNvPr>
            <p:cNvPicPr>
              <a:picLocks noChangeAspect="1"/>
            </p:cNvPicPr>
            <p:nvPr/>
          </p:nvPicPr>
          <p:blipFill>
            <a:blip r:embed="rId2"/>
            <a:stretch>
              <a:fillRect/>
            </a:stretch>
          </p:blipFill>
          <p:spPr>
            <a:xfrm>
              <a:off x="5694983" y="4366293"/>
              <a:ext cx="277742" cy="214663"/>
            </a:xfrm>
            <a:prstGeom prst="rect">
              <a:avLst/>
            </a:prstGeom>
          </p:spPr>
        </p:pic>
      </p:grpSp>
      <p:sp>
        <p:nvSpPr>
          <p:cNvPr id="7" name="Flèche : gauche 6">
            <a:extLst>
              <a:ext uri="{FF2B5EF4-FFF2-40B4-BE49-F238E27FC236}">
                <a16:creationId xmlns:a16="http://schemas.microsoft.com/office/drawing/2014/main" id="{75AEFC0D-D0B9-BEAD-2F3D-ED2149678C7B}"/>
              </a:ext>
            </a:extLst>
          </p:cNvPr>
          <p:cNvSpPr/>
          <p:nvPr/>
        </p:nvSpPr>
        <p:spPr>
          <a:xfrm rot="1477776">
            <a:off x="2601894" y="1453052"/>
            <a:ext cx="2047672" cy="62190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bg1"/>
                </a:solidFill>
              </a:rPr>
              <a:t>Quantité stock ?</a:t>
            </a:r>
          </a:p>
        </p:txBody>
      </p:sp>
      <p:sp>
        <p:nvSpPr>
          <p:cNvPr id="8" name="Flèche : droite 7">
            <a:extLst>
              <a:ext uri="{FF2B5EF4-FFF2-40B4-BE49-F238E27FC236}">
                <a16:creationId xmlns:a16="http://schemas.microsoft.com/office/drawing/2014/main" id="{1AF69287-D140-07C7-D85A-AB9D9F35A4C3}"/>
              </a:ext>
            </a:extLst>
          </p:cNvPr>
          <p:cNvSpPr/>
          <p:nvPr/>
        </p:nvSpPr>
        <p:spPr>
          <a:xfrm rot="1477776">
            <a:off x="2385142" y="1887950"/>
            <a:ext cx="1993520" cy="751842"/>
          </a:xfrm>
          <a:prstGeom prs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Quantité commandée</a:t>
            </a:r>
          </a:p>
        </p:txBody>
      </p:sp>
      <p:sp>
        <p:nvSpPr>
          <p:cNvPr id="9" name="Flèche : gauche 8">
            <a:extLst>
              <a:ext uri="{FF2B5EF4-FFF2-40B4-BE49-F238E27FC236}">
                <a16:creationId xmlns:a16="http://schemas.microsoft.com/office/drawing/2014/main" id="{34A34FF3-FA7D-9755-C088-1FFF1C2E26F8}"/>
              </a:ext>
            </a:extLst>
          </p:cNvPr>
          <p:cNvSpPr/>
          <p:nvPr/>
        </p:nvSpPr>
        <p:spPr>
          <a:xfrm rot="-1440000" flipH="1">
            <a:off x="7743630" y="1394052"/>
            <a:ext cx="2246296" cy="1289728"/>
          </a:xfrm>
          <a:prstGeom prst="leftArrow">
            <a:avLst>
              <a:gd name="adj1" fmla="val 59963"/>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bg1"/>
                </a:solidFill>
              </a:rPr>
              <a:t>Quantité stock</a:t>
            </a:r>
          </a:p>
          <a:p>
            <a:pPr algn="ctr"/>
            <a:r>
              <a:rPr lang="fr-FR" sz="1400" dirty="0">
                <a:solidFill>
                  <a:schemeClr val="bg1"/>
                </a:solidFill>
              </a:rPr>
              <a:t>Quantité Commandée</a:t>
            </a:r>
          </a:p>
          <a:p>
            <a:pPr algn="ctr"/>
            <a:r>
              <a:rPr lang="fr-FR" sz="1400" dirty="0">
                <a:solidFill>
                  <a:schemeClr val="bg1"/>
                </a:solidFill>
              </a:rPr>
              <a:t>Prévision de Vente</a:t>
            </a:r>
          </a:p>
        </p:txBody>
      </p:sp>
      <p:sp>
        <p:nvSpPr>
          <p:cNvPr id="10" name="Flèche : droite 9">
            <a:extLst>
              <a:ext uri="{FF2B5EF4-FFF2-40B4-BE49-F238E27FC236}">
                <a16:creationId xmlns:a16="http://schemas.microsoft.com/office/drawing/2014/main" id="{B33BF303-74B1-0E62-FABB-7FAA8591631A}"/>
              </a:ext>
            </a:extLst>
          </p:cNvPr>
          <p:cNvSpPr/>
          <p:nvPr/>
        </p:nvSpPr>
        <p:spPr>
          <a:xfrm rot="-1440000" flipH="1">
            <a:off x="7964600" y="2544086"/>
            <a:ext cx="2211463" cy="751823"/>
          </a:xfrm>
          <a:prstGeom prs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Quantité Approvisionnée</a:t>
            </a:r>
          </a:p>
        </p:txBody>
      </p:sp>
      <p:sp>
        <p:nvSpPr>
          <p:cNvPr id="11" name="ZoneTexte 10">
            <a:extLst>
              <a:ext uri="{FF2B5EF4-FFF2-40B4-BE49-F238E27FC236}">
                <a16:creationId xmlns:a16="http://schemas.microsoft.com/office/drawing/2014/main" id="{CDC03DBD-EF1E-77EC-C53C-20C3927D3D89}"/>
              </a:ext>
            </a:extLst>
          </p:cNvPr>
          <p:cNvSpPr txBox="1"/>
          <p:nvPr/>
        </p:nvSpPr>
        <p:spPr>
          <a:xfrm>
            <a:off x="4777292" y="2894316"/>
            <a:ext cx="2537132" cy="861774"/>
          </a:xfrm>
          <a:prstGeom prst="rect">
            <a:avLst/>
          </a:prstGeom>
          <a:solidFill>
            <a:schemeClr val="accent5">
              <a:lumMod val="20000"/>
              <a:lumOff val="80000"/>
            </a:schemeClr>
          </a:solidFill>
          <a:ln>
            <a:solidFill>
              <a:srgbClr val="FF0000"/>
            </a:solidFill>
          </a:ln>
        </p:spPr>
        <p:txBody>
          <a:bodyPr wrap="square" rtlCol="0">
            <a:spAutoFit/>
          </a:bodyPr>
          <a:lstStyle/>
          <a:p>
            <a:r>
              <a:rPr lang="fr-FR" sz="1400" dirty="0"/>
              <a:t>Inventaire Stock</a:t>
            </a:r>
          </a:p>
          <a:p>
            <a:pPr marL="285750" indent="-285750">
              <a:buFont typeface="Wingdings" panose="05000000000000000000" pitchFamily="2" charset="2"/>
              <a:buChar char="n"/>
            </a:pPr>
            <a:r>
              <a:rPr lang="fr-FR" sz="1200" dirty="0"/>
              <a:t>Informations Commande</a:t>
            </a:r>
          </a:p>
          <a:p>
            <a:pPr marL="285750" indent="-285750">
              <a:buFont typeface="Wingdings" panose="05000000000000000000" pitchFamily="2" charset="2"/>
              <a:buChar char="n"/>
            </a:pPr>
            <a:r>
              <a:rPr lang="fr-FR" sz="1200" dirty="0"/>
              <a:t>Informations Stock</a:t>
            </a:r>
          </a:p>
          <a:p>
            <a:pPr marL="285750" indent="-285750">
              <a:buFont typeface="Wingdings" panose="05000000000000000000" pitchFamily="2" charset="2"/>
              <a:buChar char="n"/>
            </a:pPr>
            <a:r>
              <a:rPr lang="fr-FR" sz="1200" dirty="0"/>
              <a:t>Informations Approvisionnement</a:t>
            </a:r>
          </a:p>
        </p:txBody>
      </p:sp>
      <p:sp>
        <p:nvSpPr>
          <p:cNvPr id="6" name="Flèche : gauche 5">
            <a:extLst>
              <a:ext uri="{FF2B5EF4-FFF2-40B4-BE49-F238E27FC236}">
                <a16:creationId xmlns:a16="http://schemas.microsoft.com/office/drawing/2014/main" id="{A60E0A58-8EBE-91AE-0F66-9662C7F2D20B}"/>
              </a:ext>
            </a:extLst>
          </p:cNvPr>
          <p:cNvSpPr/>
          <p:nvPr/>
        </p:nvSpPr>
        <p:spPr>
          <a:xfrm>
            <a:off x="2328105" y="3151397"/>
            <a:ext cx="2005011" cy="687210"/>
          </a:xfrm>
          <a:prstGeom prst="leftArrow">
            <a:avLst>
              <a:gd name="adj1" fmla="val 62234"/>
              <a:gd name="adj2" fmla="val 3963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200" dirty="0">
                <a:solidFill>
                  <a:schemeClr val="bg1"/>
                </a:solidFill>
              </a:rPr>
              <a:t>N° Lot, </a:t>
            </a:r>
          </a:p>
          <a:p>
            <a:pPr marL="171450" indent="-171450">
              <a:buFont typeface="Arial" panose="020B0604020202020204" pitchFamily="34" charset="0"/>
              <a:buChar char="•"/>
            </a:pPr>
            <a:r>
              <a:rPr lang="fr-FR" sz="1200" dirty="0">
                <a:solidFill>
                  <a:schemeClr val="bg1"/>
                </a:solidFill>
              </a:rPr>
              <a:t>Secteur, Rang, Colonne</a:t>
            </a:r>
          </a:p>
        </p:txBody>
      </p:sp>
      <p:sp>
        <p:nvSpPr>
          <p:cNvPr id="12" name="Flèche : droite 11">
            <a:extLst>
              <a:ext uri="{FF2B5EF4-FFF2-40B4-BE49-F238E27FC236}">
                <a16:creationId xmlns:a16="http://schemas.microsoft.com/office/drawing/2014/main" id="{E6532EAF-000D-9300-B015-8F33502D20CE}"/>
              </a:ext>
            </a:extLst>
          </p:cNvPr>
          <p:cNvSpPr/>
          <p:nvPr/>
        </p:nvSpPr>
        <p:spPr>
          <a:xfrm>
            <a:off x="2371100" y="3700039"/>
            <a:ext cx="1989068" cy="666254"/>
          </a:xfrm>
          <a:prstGeom prs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Quantité Sortie</a:t>
            </a:r>
          </a:p>
        </p:txBody>
      </p:sp>
      <p:sp>
        <p:nvSpPr>
          <p:cNvPr id="13" name="Flèche : gauche 12">
            <a:extLst>
              <a:ext uri="{FF2B5EF4-FFF2-40B4-BE49-F238E27FC236}">
                <a16:creationId xmlns:a16="http://schemas.microsoft.com/office/drawing/2014/main" id="{36C6A6BD-492D-A0A4-E12F-D8905B39BF20}"/>
              </a:ext>
            </a:extLst>
          </p:cNvPr>
          <p:cNvSpPr/>
          <p:nvPr/>
        </p:nvSpPr>
        <p:spPr>
          <a:xfrm rot="20346562">
            <a:off x="2431240" y="4947277"/>
            <a:ext cx="2117054" cy="778893"/>
          </a:xfrm>
          <a:prstGeom prst="leftArrow">
            <a:avLst>
              <a:gd name="adj1" fmla="val 59963"/>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bg1"/>
                </a:solidFill>
              </a:rPr>
              <a:t>Quantité Livrée</a:t>
            </a:r>
          </a:p>
          <a:p>
            <a:pPr algn="ctr"/>
            <a:r>
              <a:rPr lang="fr-FR" sz="1400" dirty="0">
                <a:solidFill>
                  <a:schemeClr val="bg1"/>
                </a:solidFill>
              </a:rPr>
              <a:t>Tarifs</a:t>
            </a:r>
          </a:p>
        </p:txBody>
      </p:sp>
      <p:sp>
        <p:nvSpPr>
          <p:cNvPr id="14" name="Flèche : gauche 13">
            <a:extLst>
              <a:ext uri="{FF2B5EF4-FFF2-40B4-BE49-F238E27FC236}">
                <a16:creationId xmlns:a16="http://schemas.microsoft.com/office/drawing/2014/main" id="{B60BBC1A-0AF7-D81F-7A40-BFFA7A51AE18}"/>
              </a:ext>
            </a:extLst>
          </p:cNvPr>
          <p:cNvSpPr/>
          <p:nvPr/>
        </p:nvSpPr>
        <p:spPr>
          <a:xfrm rot="1105167" flipH="1">
            <a:off x="7531566" y="4846501"/>
            <a:ext cx="2509812" cy="720943"/>
          </a:xfrm>
          <a:prstGeom prst="leftArrow">
            <a:avLst>
              <a:gd name="adj1" fmla="val 59963"/>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bg1"/>
                </a:solidFill>
              </a:rPr>
              <a:t>Historique Vente</a:t>
            </a:r>
          </a:p>
        </p:txBody>
      </p:sp>
      <p:sp>
        <p:nvSpPr>
          <p:cNvPr id="15" name="Organigramme : Connecteur 14">
            <a:extLst>
              <a:ext uri="{FF2B5EF4-FFF2-40B4-BE49-F238E27FC236}">
                <a16:creationId xmlns:a16="http://schemas.microsoft.com/office/drawing/2014/main" id="{F0860CEC-54F5-5582-BA13-75DE38A6AD41}"/>
              </a:ext>
            </a:extLst>
          </p:cNvPr>
          <p:cNvSpPr/>
          <p:nvPr/>
        </p:nvSpPr>
        <p:spPr>
          <a:xfrm>
            <a:off x="179556" y="421475"/>
            <a:ext cx="574766" cy="505535"/>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t>1</a:t>
            </a:r>
          </a:p>
        </p:txBody>
      </p:sp>
      <p:sp>
        <p:nvSpPr>
          <p:cNvPr id="16" name="Organigramme : Connecteur 15">
            <a:extLst>
              <a:ext uri="{FF2B5EF4-FFF2-40B4-BE49-F238E27FC236}">
                <a16:creationId xmlns:a16="http://schemas.microsoft.com/office/drawing/2014/main" id="{B7E78BD8-37E5-1122-0A09-8211A70F40AC}"/>
              </a:ext>
            </a:extLst>
          </p:cNvPr>
          <p:cNvSpPr/>
          <p:nvPr/>
        </p:nvSpPr>
        <p:spPr>
          <a:xfrm>
            <a:off x="179556" y="2663935"/>
            <a:ext cx="574766" cy="505535"/>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t>2</a:t>
            </a:r>
          </a:p>
        </p:txBody>
      </p:sp>
      <p:sp>
        <p:nvSpPr>
          <p:cNvPr id="17" name="Organigramme : Connecteur 16">
            <a:extLst>
              <a:ext uri="{FF2B5EF4-FFF2-40B4-BE49-F238E27FC236}">
                <a16:creationId xmlns:a16="http://schemas.microsoft.com/office/drawing/2014/main" id="{32B34F09-56A5-8411-A0DE-FC5F55F06C92}"/>
              </a:ext>
            </a:extLst>
          </p:cNvPr>
          <p:cNvSpPr/>
          <p:nvPr/>
        </p:nvSpPr>
        <p:spPr>
          <a:xfrm>
            <a:off x="179556" y="5058770"/>
            <a:ext cx="574766" cy="505535"/>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t>3</a:t>
            </a:r>
          </a:p>
        </p:txBody>
      </p:sp>
      <p:sp>
        <p:nvSpPr>
          <p:cNvPr id="18" name="Flèche : droite 17">
            <a:extLst>
              <a:ext uri="{FF2B5EF4-FFF2-40B4-BE49-F238E27FC236}">
                <a16:creationId xmlns:a16="http://schemas.microsoft.com/office/drawing/2014/main" id="{D0F7574F-CA52-B830-357D-6A52ED42D9B7}"/>
              </a:ext>
            </a:extLst>
          </p:cNvPr>
          <p:cNvSpPr/>
          <p:nvPr/>
        </p:nvSpPr>
        <p:spPr>
          <a:xfrm rot="20337253">
            <a:off x="2761087" y="5529437"/>
            <a:ext cx="1993520" cy="751842"/>
          </a:xfrm>
          <a:prstGeom prs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Chiffre d’Affaire</a:t>
            </a:r>
          </a:p>
        </p:txBody>
      </p:sp>
    </p:spTree>
    <p:extLst>
      <p:ext uri="{BB962C8B-B14F-4D97-AF65-F5344CB8AC3E}">
        <p14:creationId xmlns:p14="http://schemas.microsoft.com/office/powerpoint/2010/main" val="3267277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745872"/>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a:t>
            </a:r>
            <a:br>
              <a:rPr lang="fr-FR" sz="3200" b="1" dirty="0"/>
            </a:br>
            <a:r>
              <a:rPr lang="fr-FR" sz="1300" b="1" dirty="0"/>
              <a:t>	Exploitation d’Entrepôt Informatisée et Automatisée</a:t>
            </a:r>
            <a:br>
              <a:rPr lang="fr-FR" sz="1300" b="1" dirty="0"/>
            </a:br>
            <a:r>
              <a:rPr lang="fr-FR" sz="1300" b="1" dirty="0"/>
              <a:t>	Documentation Sans Papier</a:t>
            </a:r>
          </a:p>
        </p:txBody>
      </p:sp>
      <p:sp>
        <p:nvSpPr>
          <p:cNvPr id="33" name="Rectangle 32">
            <a:extLst>
              <a:ext uri="{FF2B5EF4-FFF2-40B4-BE49-F238E27FC236}">
                <a16:creationId xmlns:a16="http://schemas.microsoft.com/office/drawing/2014/main" id="{4C96ACF6-CA42-461F-977B-4EBBFF710259}"/>
              </a:ext>
            </a:extLst>
          </p:cNvPr>
          <p:cNvSpPr/>
          <p:nvPr/>
        </p:nvSpPr>
        <p:spPr>
          <a:xfrm>
            <a:off x="119826" y="4313526"/>
            <a:ext cx="5599912" cy="209358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Exploitation Entrepôt</a:t>
            </a:r>
          </a:p>
          <a:p>
            <a:endParaRPr lang="fr-FR" sz="1600" dirty="0">
              <a:solidFill>
                <a:schemeClr val="tx1"/>
              </a:solidFill>
            </a:endParaRPr>
          </a:p>
          <a:p>
            <a:pPr marL="285750" indent="-285750">
              <a:buFont typeface="Arial" panose="020B0604020202020204" pitchFamily="34" charset="0"/>
              <a:buChar char="•"/>
            </a:pPr>
            <a:r>
              <a:rPr lang="fr-FR" sz="1600" dirty="0">
                <a:solidFill>
                  <a:schemeClr val="tx1"/>
                </a:solidFill>
              </a:rPr>
              <a:t>Inventaire de Stock</a:t>
            </a:r>
          </a:p>
          <a:p>
            <a:pPr marL="285750" indent="-285750">
              <a:buFont typeface="Arial" panose="020B0604020202020204" pitchFamily="34" charset="0"/>
              <a:buChar char="•"/>
            </a:pPr>
            <a:r>
              <a:rPr lang="fr-FR" sz="1600" dirty="0">
                <a:solidFill>
                  <a:schemeClr val="tx1"/>
                </a:solidFill>
              </a:rPr>
              <a:t>Prévision d’Approvisionnement</a:t>
            </a:r>
          </a:p>
          <a:p>
            <a:pPr marL="285750" indent="-285750">
              <a:buFont typeface="Arial" panose="020B0604020202020204" pitchFamily="34" charset="0"/>
              <a:buChar char="•"/>
            </a:pPr>
            <a:r>
              <a:rPr lang="fr-FR" sz="1600" dirty="0">
                <a:solidFill>
                  <a:schemeClr val="tx1"/>
                </a:solidFill>
              </a:rPr>
              <a:t>Optimisation d’Espace de Stockage</a:t>
            </a:r>
          </a:p>
          <a:p>
            <a:pPr marL="285750" indent="-285750">
              <a:buFont typeface="Arial" panose="020B0604020202020204" pitchFamily="34" charset="0"/>
              <a:buChar char="•"/>
            </a:pPr>
            <a:r>
              <a:rPr lang="fr-FR" sz="1600" dirty="0">
                <a:solidFill>
                  <a:schemeClr val="tx1"/>
                </a:solidFill>
              </a:rPr>
              <a:t>Organisation de Flux Entrant et Sortant (FEFO ou FIFO)</a:t>
            </a:r>
          </a:p>
          <a:p>
            <a:pPr marL="285750" indent="-285750">
              <a:buFont typeface="Arial" panose="020B0604020202020204" pitchFamily="34" charset="0"/>
              <a:buChar char="•"/>
            </a:pPr>
            <a:r>
              <a:rPr lang="fr-FR" sz="1600" dirty="0">
                <a:solidFill>
                  <a:schemeClr val="tx1"/>
                </a:solidFill>
              </a:rPr>
              <a:t>Préparation de Commande/Livraison</a:t>
            </a:r>
          </a:p>
          <a:p>
            <a:pPr marL="285750" indent="-285750">
              <a:buFont typeface="Arial" panose="020B0604020202020204" pitchFamily="34" charset="0"/>
              <a:buChar char="•"/>
            </a:pPr>
            <a:r>
              <a:rPr lang="fr-FR" sz="1600" dirty="0">
                <a:solidFill>
                  <a:schemeClr val="tx1"/>
                </a:solidFill>
              </a:rPr>
              <a:t>Edition d’étiquette de palette</a:t>
            </a:r>
          </a:p>
        </p:txBody>
      </p:sp>
      <p:sp>
        <p:nvSpPr>
          <p:cNvPr id="32" name="Rectangle 31">
            <a:extLst>
              <a:ext uri="{FF2B5EF4-FFF2-40B4-BE49-F238E27FC236}">
                <a16:creationId xmlns:a16="http://schemas.microsoft.com/office/drawing/2014/main" id="{307B6FFB-69E2-4BED-BF39-A7D7CFD73D81}"/>
              </a:ext>
            </a:extLst>
          </p:cNvPr>
          <p:cNvSpPr/>
          <p:nvPr/>
        </p:nvSpPr>
        <p:spPr>
          <a:xfrm>
            <a:off x="119826" y="1409711"/>
            <a:ext cx="5599912" cy="229666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Gestion Clientèle/Commande</a:t>
            </a:r>
          </a:p>
          <a:p>
            <a:endParaRPr lang="fr-FR" sz="1600" dirty="0">
              <a:solidFill>
                <a:schemeClr val="tx1"/>
              </a:solidFill>
            </a:endParaRPr>
          </a:p>
          <a:p>
            <a:pPr marL="171450" indent="-171450">
              <a:buFont typeface="Arial" panose="020B0604020202020204" pitchFamily="34" charset="0"/>
              <a:buChar char="•"/>
            </a:pPr>
            <a:r>
              <a:rPr lang="fr-FR" sz="1600" dirty="0">
                <a:solidFill>
                  <a:schemeClr val="tx1"/>
                </a:solidFill>
              </a:rPr>
              <a:t>Edition de Devis</a:t>
            </a:r>
          </a:p>
          <a:p>
            <a:pPr marL="171450" indent="-171450">
              <a:buFont typeface="Arial" panose="020B0604020202020204" pitchFamily="34" charset="0"/>
              <a:buChar char="•"/>
            </a:pPr>
            <a:r>
              <a:rPr lang="fr-FR" sz="1600" dirty="0">
                <a:solidFill>
                  <a:schemeClr val="tx1"/>
                </a:solidFill>
              </a:rPr>
              <a:t>Prise de Commande</a:t>
            </a:r>
          </a:p>
          <a:p>
            <a:pPr marL="171450" indent="-171450">
              <a:buFont typeface="Arial" panose="020B0604020202020204" pitchFamily="34" charset="0"/>
              <a:buChar char="•"/>
            </a:pPr>
            <a:r>
              <a:rPr lang="fr-FR" sz="1600" dirty="0">
                <a:solidFill>
                  <a:schemeClr val="tx1"/>
                </a:solidFill>
              </a:rPr>
              <a:t>Contrôle Tarifaire</a:t>
            </a:r>
          </a:p>
          <a:p>
            <a:pPr marL="171450" indent="-171450">
              <a:buFont typeface="Arial" panose="020B0604020202020204" pitchFamily="34" charset="0"/>
              <a:buChar char="•"/>
            </a:pPr>
            <a:r>
              <a:rPr lang="fr-FR" sz="1600" dirty="0">
                <a:solidFill>
                  <a:schemeClr val="tx1"/>
                </a:solidFill>
              </a:rPr>
              <a:t>Prévision de Livraison</a:t>
            </a:r>
          </a:p>
          <a:p>
            <a:pPr marL="171450" indent="-171450">
              <a:buFont typeface="Arial" panose="020B0604020202020204" pitchFamily="34" charset="0"/>
              <a:buChar char="•"/>
            </a:pPr>
            <a:r>
              <a:rPr lang="fr-FR" sz="1600" dirty="0">
                <a:solidFill>
                  <a:schemeClr val="tx1"/>
                </a:solidFill>
              </a:rPr>
              <a:t>Condition de Production</a:t>
            </a:r>
          </a:p>
          <a:p>
            <a:pPr marL="171450" indent="-171450">
              <a:buFont typeface="Arial" panose="020B0604020202020204" pitchFamily="34" charset="0"/>
              <a:buChar char="•"/>
            </a:pPr>
            <a:r>
              <a:rPr lang="fr-FR" sz="1600" dirty="0">
                <a:solidFill>
                  <a:schemeClr val="tx1"/>
                </a:solidFill>
              </a:rPr>
              <a:t>Condition d’Emballage</a:t>
            </a:r>
          </a:p>
          <a:p>
            <a:pPr marL="171450" indent="-171450">
              <a:buFont typeface="Arial" panose="020B0604020202020204" pitchFamily="34" charset="0"/>
              <a:buChar char="•"/>
            </a:pPr>
            <a:r>
              <a:rPr lang="fr-FR" sz="1600" dirty="0">
                <a:solidFill>
                  <a:schemeClr val="tx1"/>
                </a:solidFill>
              </a:rPr>
              <a:t>Confirmation de Commande</a:t>
            </a:r>
          </a:p>
        </p:txBody>
      </p:sp>
      <p:sp>
        <p:nvSpPr>
          <p:cNvPr id="24" name="Rectangle 23">
            <a:extLst>
              <a:ext uri="{FF2B5EF4-FFF2-40B4-BE49-F238E27FC236}">
                <a16:creationId xmlns:a16="http://schemas.microsoft.com/office/drawing/2014/main" id="{DC3121FB-774F-49E0-8153-FD890CF297ED}"/>
              </a:ext>
            </a:extLst>
          </p:cNvPr>
          <p:cNvSpPr/>
          <p:nvPr/>
        </p:nvSpPr>
        <p:spPr>
          <a:xfrm>
            <a:off x="6029172" y="1411135"/>
            <a:ext cx="6037644" cy="229469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Production/Approvisionnement/Transport</a:t>
            </a:r>
          </a:p>
          <a:p>
            <a:endParaRPr lang="fr-FR" sz="1600" dirty="0">
              <a:solidFill>
                <a:schemeClr val="tx1"/>
              </a:solidFill>
            </a:endParaRPr>
          </a:p>
          <a:p>
            <a:pPr marL="171450" indent="-171450">
              <a:buFont typeface="Arial" panose="020B0604020202020204" pitchFamily="34" charset="0"/>
              <a:buChar char="•"/>
            </a:pPr>
            <a:r>
              <a:rPr lang="fr-FR" sz="1600" dirty="0">
                <a:solidFill>
                  <a:schemeClr val="tx1"/>
                </a:solidFill>
              </a:rPr>
              <a:t>Commande de Production</a:t>
            </a:r>
          </a:p>
          <a:p>
            <a:pPr marL="171450" indent="-171450">
              <a:buFont typeface="Arial" panose="020B0604020202020204" pitchFamily="34" charset="0"/>
              <a:buChar char="•"/>
            </a:pPr>
            <a:r>
              <a:rPr lang="fr-FR" sz="1600" dirty="0">
                <a:solidFill>
                  <a:schemeClr val="tx1"/>
                </a:solidFill>
              </a:rPr>
              <a:t>Commande d’Approvisionnement</a:t>
            </a:r>
          </a:p>
          <a:p>
            <a:pPr marL="171450" indent="-171450">
              <a:buFont typeface="Arial" panose="020B0604020202020204" pitchFamily="34" charset="0"/>
              <a:buChar char="•"/>
            </a:pPr>
            <a:r>
              <a:rPr lang="fr-FR" sz="1600" dirty="0">
                <a:solidFill>
                  <a:schemeClr val="tx1"/>
                </a:solidFill>
              </a:rPr>
              <a:t>Edition Bon de Livraison ou Planning des Travaux</a:t>
            </a:r>
          </a:p>
          <a:p>
            <a:pPr marL="171450" indent="-171450">
              <a:buFont typeface="Arial" panose="020B0604020202020204" pitchFamily="34" charset="0"/>
              <a:buChar char="•"/>
            </a:pPr>
            <a:r>
              <a:rPr lang="fr-FR" sz="1600" dirty="0">
                <a:solidFill>
                  <a:schemeClr val="tx1"/>
                </a:solidFill>
              </a:rPr>
              <a:t>Edition Commande d’Approvisionnement</a:t>
            </a:r>
          </a:p>
          <a:p>
            <a:pPr marL="171450" indent="-171450">
              <a:buFont typeface="Arial" panose="020B0604020202020204" pitchFamily="34" charset="0"/>
              <a:buChar char="•"/>
            </a:pPr>
            <a:r>
              <a:rPr lang="fr-FR" sz="1600" dirty="0">
                <a:solidFill>
                  <a:schemeClr val="tx1"/>
                </a:solidFill>
              </a:rPr>
              <a:t>Organisation/Optimisation de Tournées ou de Travaux</a:t>
            </a:r>
          </a:p>
          <a:p>
            <a:pPr marL="171450" indent="-171450">
              <a:buFont typeface="Arial" panose="020B0604020202020204" pitchFamily="34" charset="0"/>
              <a:buChar char="•"/>
            </a:pPr>
            <a:r>
              <a:rPr lang="fr-FR" sz="1600" dirty="0">
                <a:solidFill>
                  <a:schemeClr val="tx1"/>
                </a:solidFill>
              </a:rPr>
              <a:t>Optimisation Plan d’Approvisionnement</a:t>
            </a:r>
          </a:p>
        </p:txBody>
      </p:sp>
      <p:sp>
        <p:nvSpPr>
          <p:cNvPr id="25" name="Rectangle 24">
            <a:extLst>
              <a:ext uri="{FF2B5EF4-FFF2-40B4-BE49-F238E27FC236}">
                <a16:creationId xmlns:a16="http://schemas.microsoft.com/office/drawing/2014/main" id="{1CEB6B81-B366-4899-ACA3-E9AFDE52E2A5}"/>
              </a:ext>
            </a:extLst>
          </p:cNvPr>
          <p:cNvSpPr/>
          <p:nvPr/>
        </p:nvSpPr>
        <p:spPr>
          <a:xfrm>
            <a:off x="6029172" y="4323833"/>
            <a:ext cx="6037643" cy="203117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Gestion Comptable</a:t>
            </a:r>
          </a:p>
          <a:p>
            <a:endParaRPr lang="fr-FR" sz="1600" dirty="0">
              <a:solidFill>
                <a:schemeClr val="tx1"/>
              </a:solidFill>
            </a:endParaRPr>
          </a:p>
          <a:p>
            <a:pPr marL="171450" indent="-171450">
              <a:buFont typeface="Arial" panose="020B0604020202020204" pitchFamily="34" charset="0"/>
              <a:buChar char="•"/>
            </a:pPr>
            <a:r>
              <a:rPr lang="fr-FR" sz="1600" dirty="0">
                <a:solidFill>
                  <a:schemeClr val="tx1"/>
                </a:solidFill>
              </a:rPr>
              <a:t>Edition de Facture</a:t>
            </a:r>
          </a:p>
          <a:p>
            <a:pPr marL="171450" indent="-171450">
              <a:buFont typeface="Arial" panose="020B0604020202020204" pitchFamily="34" charset="0"/>
              <a:buChar char="•"/>
            </a:pPr>
            <a:r>
              <a:rPr lang="fr-FR" sz="1600" dirty="0">
                <a:solidFill>
                  <a:schemeClr val="tx1"/>
                </a:solidFill>
              </a:rPr>
              <a:t>Edition d’Avoir</a:t>
            </a:r>
          </a:p>
          <a:p>
            <a:pPr marL="171450" indent="-171450">
              <a:buFont typeface="Arial" panose="020B0604020202020204" pitchFamily="34" charset="0"/>
              <a:buChar char="•"/>
            </a:pPr>
            <a:r>
              <a:rPr lang="fr-FR" sz="1600" dirty="0">
                <a:solidFill>
                  <a:schemeClr val="tx1"/>
                </a:solidFill>
              </a:rPr>
              <a:t>Bilan Chiffres d’Affaires/Tonnage/Quantité par Article ou par Client</a:t>
            </a:r>
          </a:p>
          <a:p>
            <a:pPr marL="171450" indent="-171450">
              <a:buFont typeface="Arial" panose="020B0604020202020204" pitchFamily="34" charset="0"/>
              <a:buChar char="•"/>
            </a:pPr>
            <a:r>
              <a:rPr lang="fr-FR" sz="1600" dirty="0">
                <a:solidFill>
                  <a:schemeClr val="tx1"/>
                </a:solidFill>
              </a:rPr>
              <a:t>Etude de Rentabilité</a:t>
            </a:r>
          </a:p>
          <a:p>
            <a:pPr marL="171450" indent="-171450">
              <a:buFont typeface="Arial" panose="020B0604020202020204" pitchFamily="34" charset="0"/>
              <a:buChar char="•"/>
            </a:pPr>
            <a:r>
              <a:rPr lang="fr-FR" sz="1600" dirty="0">
                <a:solidFill>
                  <a:schemeClr val="tx1"/>
                </a:solidFill>
              </a:rPr>
              <a:t>Tableau de Bord Qualité</a:t>
            </a:r>
          </a:p>
          <a:p>
            <a:pPr marL="171450" indent="-171450">
              <a:buFont typeface="Arial" panose="020B0604020202020204" pitchFamily="34" charset="0"/>
              <a:buChar char="•"/>
            </a:pPr>
            <a:endParaRPr lang="fr-FR" sz="1600" dirty="0">
              <a:solidFill>
                <a:schemeClr val="tx1"/>
              </a:solidFill>
            </a:endParaRPr>
          </a:p>
        </p:txBody>
      </p:sp>
    </p:spTree>
    <p:extLst>
      <p:ext uri="{BB962C8B-B14F-4D97-AF65-F5344CB8AC3E}">
        <p14:creationId xmlns:p14="http://schemas.microsoft.com/office/powerpoint/2010/main" val="3935987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5000">
              <a:schemeClr val="accent1">
                <a:lumMod val="45000"/>
                <a:lumOff val="55000"/>
              </a:schemeClr>
            </a:gs>
            <a:gs pos="5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322457"/>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Structure des données</a:t>
            </a:r>
          </a:p>
        </p:txBody>
      </p:sp>
      <p:pic>
        <p:nvPicPr>
          <p:cNvPr id="6" name="Image 5">
            <a:extLst>
              <a:ext uri="{FF2B5EF4-FFF2-40B4-BE49-F238E27FC236}">
                <a16:creationId xmlns:a16="http://schemas.microsoft.com/office/drawing/2014/main" id="{F259715F-2B71-EB52-0B1E-6A6889F5CFE1}"/>
              </a:ext>
            </a:extLst>
          </p:cNvPr>
          <p:cNvPicPr>
            <a:picLocks noChangeAspect="1"/>
          </p:cNvPicPr>
          <p:nvPr/>
        </p:nvPicPr>
        <p:blipFill>
          <a:blip r:embed="rId3"/>
          <a:stretch>
            <a:fillRect/>
          </a:stretch>
        </p:blipFill>
        <p:spPr>
          <a:xfrm>
            <a:off x="0" y="322458"/>
            <a:ext cx="12192000" cy="6535823"/>
          </a:xfrm>
          <a:prstGeom prst="rect">
            <a:avLst/>
          </a:prstGeom>
        </p:spPr>
      </p:pic>
    </p:spTree>
    <p:extLst>
      <p:ext uri="{BB962C8B-B14F-4D97-AF65-F5344CB8AC3E}">
        <p14:creationId xmlns:p14="http://schemas.microsoft.com/office/powerpoint/2010/main" val="397709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5000">
              <a:schemeClr val="accent1">
                <a:lumMod val="45000"/>
                <a:lumOff val="55000"/>
              </a:schemeClr>
            </a:gs>
            <a:gs pos="5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476491"/>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a:bodyPr>
          <a:lstStyle/>
          <a:p>
            <a:pPr algn="l">
              <a:defRPr/>
            </a:pPr>
            <a:r>
              <a:rPr lang="fr-FR" sz="2200" b="1" dirty="0"/>
              <a:t>Gestion de la Logistique – </a:t>
            </a:r>
            <a:r>
              <a:rPr lang="fr-FR" sz="1800" b="1" dirty="0">
                <a:solidFill>
                  <a:srgbClr val="FF0000"/>
                </a:solidFill>
              </a:rPr>
              <a:t>Structure des données</a:t>
            </a:r>
          </a:p>
        </p:txBody>
      </p:sp>
      <p:sp>
        <p:nvSpPr>
          <p:cNvPr id="13" name="ZoneTexte 12">
            <a:extLst>
              <a:ext uri="{FF2B5EF4-FFF2-40B4-BE49-F238E27FC236}">
                <a16:creationId xmlns:a16="http://schemas.microsoft.com/office/drawing/2014/main" id="{74F42BC6-00E1-DAA5-2F72-6753C67898F4}"/>
              </a:ext>
            </a:extLst>
          </p:cNvPr>
          <p:cNvSpPr txBox="1"/>
          <p:nvPr/>
        </p:nvSpPr>
        <p:spPr>
          <a:xfrm>
            <a:off x="1714429" y="1192346"/>
            <a:ext cx="1718701" cy="104644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a:latin typeface="+mn-lt"/>
                <a:cs typeface="+mn-cs"/>
              </a:rPr>
              <a:t>Product</a:t>
            </a:r>
            <a:r>
              <a:rPr lang="fr-FR" sz="1400" b="1" dirty="0"/>
              <a:t> </a:t>
            </a:r>
            <a:r>
              <a:rPr lang="fr-FR" sz="1400" b="1" dirty="0">
                <a:latin typeface="+mn-lt"/>
                <a:cs typeface="+mn-cs"/>
              </a:rPr>
              <a:t>Component</a:t>
            </a: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endParaRPr lang="fr-FR" sz="1200" b="1" u="sng"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IdSubProduct</a:t>
            </a:r>
            <a:endParaRPr lang="fr-FR" sz="1200"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Quantity</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endParaRPr lang="fr-FR" sz="1400" dirty="0">
              <a:solidFill>
                <a:schemeClr val="accent2">
                  <a:lumMod val="75000"/>
                </a:schemeClr>
              </a:solidFill>
              <a:latin typeface="+mn-lt"/>
              <a:cs typeface="+mn-cs"/>
            </a:endParaRPr>
          </a:p>
        </p:txBody>
      </p:sp>
      <p:sp>
        <p:nvSpPr>
          <p:cNvPr id="14" name="ZoneTexte 13">
            <a:extLst>
              <a:ext uri="{FF2B5EF4-FFF2-40B4-BE49-F238E27FC236}">
                <a16:creationId xmlns:a16="http://schemas.microsoft.com/office/drawing/2014/main" id="{57FC4A26-9C0C-BD4A-70D4-C3F94612CC02}"/>
              </a:ext>
            </a:extLst>
          </p:cNvPr>
          <p:cNvSpPr txBox="1"/>
          <p:nvPr/>
        </p:nvSpPr>
        <p:spPr>
          <a:xfrm>
            <a:off x="34229" y="704326"/>
            <a:ext cx="1363321" cy="1077218"/>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a:latin typeface="+mn-lt"/>
                <a:cs typeface="+mn-cs"/>
              </a:rPr>
              <a:t>Product/Kit</a:t>
            </a:r>
          </a:p>
          <a:p>
            <a:pPr marL="285750" indent="-285750" fontAlgn="auto">
              <a:spcBef>
                <a:spcPts val="0"/>
              </a:spcBef>
              <a:spcAft>
                <a:spcPts val="0"/>
              </a:spcAft>
              <a:buFont typeface="Arial" panose="020B0604020202020204" pitchFamily="34" charset="0"/>
              <a:buChar char="•"/>
              <a:defRPr/>
            </a:pPr>
            <a:r>
              <a:rPr lang="fr-FR" sz="1200" b="1" u="sng" dirty="0">
                <a:highlight>
                  <a:srgbClr val="FFFF0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latin typeface="+mn-lt"/>
                <a:cs typeface="+mn-cs"/>
              </a:rPr>
              <a:t>Designation</a:t>
            </a:r>
            <a:endParaRPr lang="fr-FR" sz="12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rPr>
              <a:t>Price</a:t>
            </a: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sp>
        <p:nvSpPr>
          <p:cNvPr id="16" name="ZoneTexte 15">
            <a:extLst>
              <a:ext uri="{FF2B5EF4-FFF2-40B4-BE49-F238E27FC236}">
                <a16:creationId xmlns:a16="http://schemas.microsoft.com/office/drawing/2014/main" id="{AC6E0C5C-E18D-03C4-4691-53EE17FD93FA}"/>
              </a:ext>
            </a:extLst>
          </p:cNvPr>
          <p:cNvSpPr txBox="1"/>
          <p:nvPr/>
        </p:nvSpPr>
        <p:spPr>
          <a:xfrm>
            <a:off x="10312674" y="3460205"/>
            <a:ext cx="1751997" cy="2031325"/>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highlight>
                  <a:srgbClr val="FFFF00"/>
                </a:highlight>
                <a:latin typeface="+mn-lt"/>
                <a:cs typeface="+mn-cs"/>
              </a:rPr>
              <a:t>Product</a:t>
            </a:r>
          </a:p>
          <a:p>
            <a:pPr marL="285750" indent="-285750" fontAlgn="auto">
              <a:spcBef>
                <a:spcPts val="0"/>
              </a:spcBef>
              <a:spcAft>
                <a:spcPts val="0"/>
              </a:spcAft>
              <a:buFont typeface="Arial" panose="020B0604020202020204" pitchFamily="34" charset="0"/>
              <a:buChar char="•"/>
              <a:defRPr/>
            </a:pPr>
            <a:r>
              <a:rPr lang="fr-FR" sz="1400" b="1" u="sng" dirty="0">
                <a:highlight>
                  <a:srgbClr val="FFFF0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Type</a:t>
            </a: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Désignation</a:t>
            </a:r>
          </a:p>
          <a:p>
            <a:pPr marL="285750" indent="-285750" fontAlgn="auto">
              <a:spcBef>
                <a:spcPts val="0"/>
              </a:spcBef>
              <a:spcAft>
                <a:spcPts val="0"/>
              </a:spcAft>
              <a:buFont typeface="Arial" panose="020B0604020202020204" pitchFamily="34" charset="0"/>
              <a:buChar char="•"/>
              <a:defRPr/>
            </a:pPr>
            <a:r>
              <a:rPr lang="fr-FR" sz="1200" dirty="0" err="1">
                <a:solidFill>
                  <a:schemeClr val="accent1">
                    <a:lumMod val="75000"/>
                  </a:schemeClr>
                </a:solidFill>
              </a:rPr>
              <a:t>Quantity</a:t>
            </a:r>
            <a:r>
              <a:rPr lang="fr-FR" sz="1200" dirty="0">
                <a:solidFill>
                  <a:schemeClr val="accent1">
                    <a:lumMod val="75000"/>
                  </a:schemeClr>
                </a:solidFill>
              </a:rPr>
              <a:t> Stock</a:t>
            </a:r>
            <a:endParaRPr lang="fr-FR" sz="1200" dirty="0">
              <a:solidFill>
                <a:schemeClr val="accent1">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1">
                    <a:lumMod val="75000"/>
                  </a:schemeClr>
                </a:solidFill>
              </a:rPr>
              <a:t>Quantity</a:t>
            </a:r>
            <a:r>
              <a:rPr lang="fr-FR" sz="1200" dirty="0">
                <a:solidFill>
                  <a:schemeClr val="accent1">
                    <a:lumMod val="75000"/>
                  </a:schemeClr>
                </a:solidFill>
              </a:rPr>
              <a:t> </a:t>
            </a:r>
            <a:r>
              <a:rPr lang="fr-FR" sz="1200" dirty="0" err="1">
                <a:solidFill>
                  <a:schemeClr val="accent1">
                    <a:lumMod val="75000"/>
                  </a:schemeClr>
                </a:solidFill>
              </a:rPr>
              <a:t>Ordered</a:t>
            </a:r>
            <a:endParaRPr lang="fr-FR" sz="1200" dirty="0">
              <a:solidFill>
                <a:schemeClr val="accent1">
                  <a:lumMod val="75000"/>
                </a:schemeClr>
              </a:solidFill>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1">
                    <a:lumMod val="75000"/>
                  </a:schemeClr>
                </a:solidFill>
                <a:latin typeface="+mn-lt"/>
                <a:cs typeface="+mn-cs"/>
              </a:rPr>
              <a:t>Quantity</a:t>
            </a:r>
            <a:r>
              <a:rPr lang="fr-FR" sz="1200" dirty="0">
                <a:solidFill>
                  <a:schemeClr val="accent1">
                    <a:lumMod val="75000"/>
                  </a:schemeClr>
                </a:solidFill>
                <a:latin typeface="+mn-lt"/>
                <a:cs typeface="+mn-cs"/>
              </a:rPr>
              <a:t> </a:t>
            </a:r>
            <a:r>
              <a:rPr lang="fr-FR" sz="1200" dirty="0" err="1">
                <a:solidFill>
                  <a:schemeClr val="accent1">
                    <a:lumMod val="75000"/>
                  </a:schemeClr>
                </a:solidFill>
                <a:latin typeface="+mn-lt"/>
                <a:cs typeface="+mn-cs"/>
              </a:rPr>
              <a:t>Suppl</a:t>
            </a:r>
            <a:r>
              <a:rPr lang="fr-FR" sz="1200" dirty="0" err="1">
                <a:solidFill>
                  <a:schemeClr val="accent1">
                    <a:lumMod val="75000"/>
                  </a:schemeClr>
                </a:solidFill>
              </a:rPr>
              <a:t>ied</a:t>
            </a:r>
            <a:endParaRPr lang="fr-FR" sz="1200" dirty="0">
              <a:solidFill>
                <a:schemeClr val="accent1">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p>
          <a:p>
            <a:pPr marL="285750" indent="-285750" fontAlgn="auto">
              <a:spcBef>
                <a:spcPts val="0"/>
              </a:spcBef>
              <a:spcAft>
                <a:spcPts val="0"/>
              </a:spcAft>
              <a:buFont typeface="Arial" panose="020B0604020202020204" pitchFamily="34" charset="0"/>
              <a:buChar char="•"/>
              <a:defRPr/>
            </a:pPr>
            <a:r>
              <a:rPr lang="fr-FR" sz="1400" dirty="0"/>
              <a:t>…</a:t>
            </a:r>
            <a:endParaRPr lang="fr-FR" sz="1200" dirty="0">
              <a:latin typeface="+mn-lt"/>
              <a:cs typeface="+mn-cs"/>
            </a:endParaRPr>
          </a:p>
        </p:txBody>
      </p:sp>
      <p:sp>
        <p:nvSpPr>
          <p:cNvPr id="3" name="ZoneTexte 2">
            <a:extLst>
              <a:ext uri="{FF2B5EF4-FFF2-40B4-BE49-F238E27FC236}">
                <a16:creationId xmlns:a16="http://schemas.microsoft.com/office/drawing/2014/main" id="{DE3A1213-6982-EED5-0756-50914488D4AE}"/>
              </a:ext>
            </a:extLst>
          </p:cNvPr>
          <p:cNvSpPr txBox="1"/>
          <p:nvPr/>
        </p:nvSpPr>
        <p:spPr>
          <a:xfrm>
            <a:off x="5234030" y="1055426"/>
            <a:ext cx="1266590" cy="1077218"/>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err="1"/>
              <a:t>Quote</a:t>
            </a:r>
            <a:r>
              <a:rPr lang="fr-FR" sz="1400" b="1" dirty="0"/>
              <a:t> Product</a:t>
            </a:r>
            <a:endParaRPr lang="fr-FR" sz="14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IdQuote</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endParaRPr lang="fr-FR" sz="1200"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Quantity</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endParaRPr lang="fr-FR" sz="1400" dirty="0">
              <a:solidFill>
                <a:schemeClr val="accent2">
                  <a:lumMod val="75000"/>
                </a:schemeClr>
              </a:solidFill>
              <a:latin typeface="+mn-lt"/>
              <a:cs typeface="+mn-cs"/>
            </a:endParaRPr>
          </a:p>
        </p:txBody>
      </p:sp>
      <p:sp>
        <p:nvSpPr>
          <p:cNvPr id="4" name="ZoneTexte 3">
            <a:extLst>
              <a:ext uri="{FF2B5EF4-FFF2-40B4-BE49-F238E27FC236}">
                <a16:creationId xmlns:a16="http://schemas.microsoft.com/office/drawing/2014/main" id="{28449246-25A6-B46F-2937-5D86EED472A4}"/>
              </a:ext>
            </a:extLst>
          </p:cNvPr>
          <p:cNvSpPr txBox="1"/>
          <p:nvPr/>
        </p:nvSpPr>
        <p:spPr>
          <a:xfrm>
            <a:off x="3632492" y="704326"/>
            <a:ext cx="1236372" cy="1261884"/>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err="1">
                <a:latin typeface="+mn-lt"/>
                <a:cs typeface="+mn-cs"/>
              </a:rPr>
              <a:t>Quote</a:t>
            </a:r>
            <a:endParaRPr lang="fr-FR" sz="16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highlight>
                  <a:srgbClr val="00FFFF"/>
                </a:highlight>
                <a:latin typeface="+mn-lt"/>
                <a:cs typeface="+mn-cs"/>
              </a:rPr>
              <a:t>IdClient</a:t>
            </a:r>
            <a:endParaRPr lang="fr-FR" sz="1200" dirty="0">
              <a:highlight>
                <a:srgbClr val="00FFFF"/>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Amount</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sp>
        <p:nvSpPr>
          <p:cNvPr id="25" name="ZoneTexte 24">
            <a:extLst>
              <a:ext uri="{FF2B5EF4-FFF2-40B4-BE49-F238E27FC236}">
                <a16:creationId xmlns:a16="http://schemas.microsoft.com/office/drawing/2014/main" id="{0AB32901-4EB8-56DD-6802-F740B793E390}"/>
              </a:ext>
            </a:extLst>
          </p:cNvPr>
          <p:cNvSpPr txBox="1"/>
          <p:nvPr/>
        </p:nvSpPr>
        <p:spPr>
          <a:xfrm>
            <a:off x="8366517" y="1055426"/>
            <a:ext cx="1667260" cy="144655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err="1"/>
              <a:t>Order</a:t>
            </a:r>
            <a:r>
              <a:rPr lang="fr-FR" sz="1400" b="1" dirty="0"/>
              <a:t> Product</a:t>
            </a:r>
            <a:endParaRPr lang="fr-FR" sz="14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IdOrder</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endParaRPr lang="fr-FR" sz="1200"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Quantity</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p>
          <a:p>
            <a:pPr marL="285750" indent="-285750" fontAlgn="auto">
              <a:spcBef>
                <a:spcPts val="0"/>
              </a:spcBef>
              <a:spcAft>
                <a:spcPts val="0"/>
              </a:spcAft>
              <a:buFont typeface="Arial" panose="020B0604020202020204" pitchFamily="34" charset="0"/>
              <a:buChar char="•"/>
              <a:defRPr/>
            </a:pPr>
            <a:r>
              <a:rPr lang="fr-FR" sz="1200" dirty="0" err="1">
                <a:solidFill>
                  <a:schemeClr val="accent6">
                    <a:lumMod val="75000"/>
                  </a:schemeClr>
                </a:solidFill>
              </a:rPr>
              <a:t>Quantity</a:t>
            </a:r>
            <a:r>
              <a:rPr lang="fr-FR" sz="1200" dirty="0">
                <a:solidFill>
                  <a:schemeClr val="accent6">
                    <a:lumMod val="75000"/>
                  </a:schemeClr>
                </a:solidFill>
              </a:rPr>
              <a:t> </a:t>
            </a:r>
            <a:r>
              <a:rPr lang="fr-FR" sz="1200" dirty="0" err="1">
                <a:solidFill>
                  <a:schemeClr val="accent6">
                    <a:lumMod val="75000"/>
                  </a:schemeClr>
                </a:solidFill>
              </a:rPr>
              <a:t>Delivered</a:t>
            </a:r>
            <a:endParaRPr lang="fr-FR" sz="1400" dirty="0">
              <a:solidFill>
                <a:schemeClr val="accent6">
                  <a:lumMod val="75000"/>
                </a:schemeClr>
              </a:solidFill>
            </a:endParaRPr>
          </a:p>
          <a:p>
            <a:pPr marL="285750" indent="-285750" fontAlgn="auto">
              <a:spcBef>
                <a:spcPts val="0"/>
              </a:spcBef>
              <a:spcAft>
                <a:spcPts val="0"/>
              </a:spcAft>
              <a:buFont typeface="Arial" panose="020B0604020202020204" pitchFamily="34" charset="0"/>
              <a:buChar char="•"/>
              <a:defRPr/>
            </a:pPr>
            <a:r>
              <a:rPr lang="fr-FR" sz="1400" dirty="0" err="1">
                <a:solidFill>
                  <a:schemeClr val="accent1">
                    <a:lumMod val="75000"/>
                  </a:schemeClr>
                </a:solidFill>
              </a:rPr>
              <a:t>Quantity</a:t>
            </a:r>
            <a:r>
              <a:rPr lang="fr-FR" sz="1400" dirty="0">
                <a:solidFill>
                  <a:schemeClr val="accent1">
                    <a:lumMod val="75000"/>
                  </a:schemeClr>
                </a:solidFill>
              </a:rPr>
              <a:t> </a:t>
            </a:r>
            <a:r>
              <a:rPr lang="fr-FR" sz="1400" dirty="0" err="1">
                <a:solidFill>
                  <a:schemeClr val="accent1">
                    <a:lumMod val="75000"/>
                  </a:schemeClr>
                </a:solidFill>
              </a:rPr>
              <a:t>Rest</a:t>
            </a:r>
            <a:endParaRPr lang="fr-FR" sz="1200" dirty="0">
              <a:solidFill>
                <a:schemeClr val="accent1">
                  <a:lumMod val="75000"/>
                </a:schemeClr>
              </a:solidFill>
            </a:endParaRPr>
          </a:p>
        </p:txBody>
      </p:sp>
      <p:sp>
        <p:nvSpPr>
          <p:cNvPr id="26" name="ZoneTexte 25">
            <a:extLst>
              <a:ext uri="{FF2B5EF4-FFF2-40B4-BE49-F238E27FC236}">
                <a16:creationId xmlns:a16="http://schemas.microsoft.com/office/drawing/2014/main" id="{11C3E2A9-6F8B-8575-CEBD-E64494A665DF}"/>
              </a:ext>
            </a:extLst>
          </p:cNvPr>
          <p:cNvSpPr txBox="1"/>
          <p:nvPr/>
        </p:nvSpPr>
        <p:spPr>
          <a:xfrm>
            <a:off x="6894664" y="704326"/>
            <a:ext cx="1123889" cy="1261884"/>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err="1">
                <a:latin typeface="+mn-lt"/>
                <a:cs typeface="+mn-cs"/>
              </a:rPr>
              <a:t>Order</a:t>
            </a:r>
            <a:endParaRPr lang="fr-FR" sz="16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highlight>
                  <a:srgbClr val="00FFFF"/>
                </a:highlight>
                <a:latin typeface="+mn-lt"/>
                <a:cs typeface="+mn-cs"/>
              </a:rPr>
              <a:t>IdClient</a:t>
            </a:r>
            <a:endParaRPr lang="fr-FR" sz="1200" dirty="0">
              <a:highlight>
                <a:srgbClr val="00FFFF"/>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Amount</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cxnSp>
        <p:nvCxnSpPr>
          <p:cNvPr id="6" name="Connecteur : en angle 5">
            <a:extLst>
              <a:ext uri="{FF2B5EF4-FFF2-40B4-BE49-F238E27FC236}">
                <a16:creationId xmlns:a16="http://schemas.microsoft.com/office/drawing/2014/main" id="{B6080961-B5AF-B418-D7E2-4D8C56745B8D}"/>
              </a:ext>
            </a:extLst>
          </p:cNvPr>
          <p:cNvCxnSpPr>
            <a:cxnSpLocks/>
          </p:cNvCxnSpPr>
          <p:nvPr/>
        </p:nvCxnSpPr>
        <p:spPr>
          <a:xfrm>
            <a:off x="1087328" y="1075551"/>
            <a:ext cx="831120" cy="476491"/>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eur : en angle 11">
            <a:extLst>
              <a:ext uri="{FF2B5EF4-FFF2-40B4-BE49-F238E27FC236}">
                <a16:creationId xmlns:a16="http://schemas.microsoft.com/office/drawing/2014/main" id="{84D3D621-CACE-B19D-D49E-38FB2002DBAA}"/>
              </a:ext>
            </a:extLst>
          </p:cNvPr>
          <p:cNvCxnSpPr>
            <a:cxnSpLocks/>
          </p:cNvCxnSpPr>
          <p:nvPr/>
        </p:nvCxnSpPr>
        <p:spPr>
          <a:xfrm>
            <a:off x="7823732" y="1055426"/>
            <a:ext cx="625288" cy="37647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 en angle 14">
            <a:extLst>
              <a:ext uri="{FF2B5EF4-FFF2-40B4-BE49-F238E27FC236}">
                <a16:creationId xmlns:a16="http://schemas.microsoft.com/office/drawing/2014/main" id="{22806CEC-DB51-2297-3AA5-3456D59277EF}"/>
              </a:ext>
            </a:extLst>
          </p:cNvPr>
          <p:cNvCxnSpPr>
            <a:cxnSpLocks/>
          </p:cNvCxnSpPr>
          <p:nvPr/>
        </p:nvCxnSpPr>
        <p:spPr>
          <a:xfrm>
            <a:off x="4403588" y="1100001"/>
            <a:ext cx="975191" cy="304800"/>
          </a:xfrm>
          <a:prstGeom prst="bentConnector3">
            <a:avLst>
              <a:gd name="adj1" fmla="val 5689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A3768311-8066-C7F5-0279-20A0466F9361}"/>
              </a:ext>
            </a:extLst>
          </p:cNvPr>
          <p:cNvSpPr txBox="1"/>
          <p:nvPr/>
        </p:nvSpPr>
        <p:spPr>
          <a:xfrm>
            <a:off x="1716330" y="3007740"/>
            <a:ext cx="1664761" cy="1415772"/>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a:t>Delivery Product</a:t>
            </a:r>
            <a:endParaRPr lang="fr-FR" sz="14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a:t>
            </a:r>
            <a:r>
              <a:rPr lang="fr-FR" sz="1200" b="1" u="sng" dirty="0" err="1"/>
              <a:t>Delivery</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r>
              <a:rPr lang="fr-FR" sz="1200" b="1" u="sng" dirty="0">
                <a:highlight>
                  <a:srgbClr val="FFFF00"/>
                </a:highlight>
                <a:latin typeface="+mn-lt"/>
                <a:cs typeface="+mn-cs"/>
              </a:rPr>
              <a:t> </a:t>
            </a: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Quantity</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p>
          <a:p>
            <a:pPr marL="285750" indent="-285750" fontAlgn="auto">
              <a:spcBef>
                <a:spcPts val="0"/>
              </a:spcBef>
              <a:spcAft>
                <a:spcPts val="0"/>
              </a:spcAft>
              <a:buFont typeface="Arial" panose="020B0604020202020204" pitchFamily="34" charset="0"/>
              <a:buChar char="•"/>
              <a:defRPr/>
            </a:pPr>
            <a:r>
              <a:rPr lang="fr-FR" sz="1200" dirty="0" err="1">
                <a:solidFill>
                  <a:schemeClr val="accent6">
                    <a:lumMod val="75000"/>
                  </a:schemeClr>
                </a:solidFill>
              </a:rPr>
              <a:t>Quantity</a:t>
            </a:r>
            <a:r>
              <a:rPr lang="fr-FR" sz="1200" dirty="0">
                <a:solidFill>
                  <a:schemeClr val="accent6">
                    <a:lumMod val="75000"/>
                  </a:schemeClr>
                </a:solidFill>
              </a:rPr>
              <a:t> Real</a:t>
            </a:r>
          </a:p>
          <a:p>
            <a:pPr marL="285750" indent="-285750" fontAlgn="auto">
              <a:spcBef>
                <a:spcPts val="0"/>
              </a:spcBef>
              <a:spcAft>
                <a:spcPts val="0"/>
              </a:spcAft>
              <a:buFont typeface="Arial" panose="020B0604020202020204" pitchFamily="34" charset="0"/>
              <a:buChar char="•"/>
              <a:defRPr/>
            </a:pPr>
            <a:r>
              <a:rPr lang="fr-FR" sz="1200" dirty="0" err="1">
                <a:latin typeface="+mn-lt"/>
                <a:cs typeface="+mn-cs"/>
              </a:rPr>
              <a:t>Quantity</a:t>
            </a:r>
            <a:r>
              <a:rPr lang="fr-FR" sz="1200" dirty="0">
                <a:latin typeface="+mn-lt"/>
                <a:cs typeface="+mn-cs"/>
              </a:rPr>
              <a:t> </a:t>
            </a:r>
            <a:r>
              <a:rPr lang="fr-FR" sz="1200" dirty="0" err="1">
                <a:latin typeface="+mn-lt"/>
                <a:cs typeface="+mn-cs"/>
              </a:rPr>
              <a:t>Defective</a:t>
            </a:r>
            <a:endParaRPr lang="fr-FR" sz="1400" dirty="0">
              <a:latin typeface="+mn-lt"/>
              <a:cs typeface="+mn-cs"/>
            </a:endParaRPr>
          </a:p>
        </p:txBody>
      </p:sp>
      <p:sp>
        <p:nvSpPr>
          <p:cNvPr id="22" name="ZoneTexte 21">
            <a:extLst>
              <a:ext uri="{FF2B5EF4-FFF2-40B4-BE49-F238E27FC236}">
                <a16:creationId xmlns:a16="http://schemas.microsoft.com/office/drawing/2014/main" id="{2D1F535F-E71F-5696-39D8-0D8F7491B265}"/>
              </a:ext>
            </a:extLst>
          </p:cNvPr>
          <p:cNvSpPr txBox="1"/>
          <p:nvPr/>
        </p:nvSpPr>
        <p:spPr>
          <a:xfrm>
            <a:off x="161178" y="2698813"/>
            <a:ext cx="1159079" cy="1261884"/>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a:latin typeface="+mn-lt"/>
                <a:cs typeface="+mn-cs"/>
              </a:rPr>
              <a:t>Delivery</a:t>
            </a:r>
          </a:p>
          <a:p>
            <a:pPr marL="285750" indent="-285750" fontAlgn="auto">
              <a:spcBef>
                <a:spcPts val="0"/>
              </a:spcBef>
              <a:spcAft>
                <a:spcPts val="0"/>
              </a:spcAft>
              <a:buFont typeface="Arial" panose="020B0604020202020204" pitchFamily="34" charset="0"/>
              <a:buChar char="•"/>
              <a:defRPr/>
            </a:pPr>
            <a:r>
              <a:rPr lang="fr-FR" sz="1200" b="1" u="sng" dirty="0">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highlight>
                  <a:srgbClr val="00FFFF"/>
                </a:highlight>
                <a:latin typeface="+mn-lt"/>
                <a:cs typeface="+mn-cs"/>
              </a:rPr>
              <a:t>IdClient</a:t>
            </a:r>
            <a:endParaRPr lang="fr-FR" sz="1200" dirty="0">
              <a:highlight>
                <a:srgbClr val="00FFFF"/>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Amount</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cxnSp>
        <p:nvCxnSpPr>
          <p:cNvPr id="23" name="Connecteur : en angle 22">
            <a:extLst>
              <a:ext uri="{FF2B5EF4-FFF2-40B4-BE49-F238E27FC236}">
                <a16:creationId xmlns:a16="http://schemas.microsoft.com/office/drawing/2014/main" id="{BB929BE9-F2E3-8DC0-7715-0946FA8F35B3}"/>
              </a:ext>
            </a:extLst>
          </p:cNvPr>
          <p:cNvCxnSpPr>
            <a:cxnSpLocks/>
          </p:cNvCxnSpPr>
          <p:nvPr/>
        </p:nvCxnSpPr>
        <p:spPr>
          <a:xfrm>
            <a:off x="1163712" y="3069849"/>
            <a:ext cx="794204" cy="33189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D84052AC-2DC3-90CC-6AA9-CD9FE0FC7E47}"/>
              </a:ext>
            </a:extLst>
          </p:cNvPr>
          <p:cNvSpPr txBox="1"/>
          <p:nvPr/>
        </p:nvSpPr>
        <p:spPr>
          <a:xfrm>
            <a:off x="8527614" y="3002850"/>
            <a:ext cx="1334158" cy="104644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err="1"/>
              <a:t>Invoice</a:t>
            </a:r>
            <a:r>
              <a:rPr lang="fr-FR" sz="1400" b="1" dirty="0"/>
              <a:t> Product</a:t>
            </a:r>
            <a:endParaRPr lang="fr-FR" sz="14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a:t>
            </a:r>
            <a:r>
              <a:rPr lang="fr-FR" sz="1200" b="1" u="sng" dirty="0" err="1"/>
              <a:t>Invoice</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endParaRPr lang="fr-FR" sz="1200"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Quantity</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endParaRPr lang="fr-FR" sz="1400" dirty="0">
              <a:solidFill>
                <a:schemeClr val="accent2">
                  <a:lumMod val="75000"/>
                </a:schemeClr>
              </a:solidFill>
              <a:latin typeface="+mn-lt"/>
              <a:cs typeface="+mn-cs"/>
            </a:endParaRPr>
          </a:p>
        </p:txBody>
      </p:sp>
      <p:sp>
        <p:nvSpPr>
          <p:cNvPr id="27" name="ZoneTexte 26">
            <a:extLst>
              <a:ext uri="{FF2B5EF4-FFF2-40B4-BE49-F238E27FC236}">
                <a16:creationId xmlns:a16="http://schemas.microsoft.com/office/drawing/2014/main" id="{682BE78E-68CA-0C7A-20F1-6696A9C0F784}"/>
              </a:ext>
            </a:extLst>
          </p:cNvPr>
          <p:cNvSpPr txBox="1"/>
          <p:nvPr/>
        </p:nvSpPr>
        <p:spPr>
          <a:xfrm>
            <a:off x="6885972" y="2698813"/>
            <a:ext cx="1233786" cy="1261884"/>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err="1">
                <a:latin typeface="+mn-lt"/>
                <a:cs typeface="+mn-cs"/>
              </a:rPr>
              <a:t>Invoice</a:t>
            </a:r>
            <a:endParaRPr lang="fr-FR" sz="16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highlight>
                  <a:srgbClr val="00FFFF"/>
                </a:highlight>
                <a:latin typeface="+mn-lt"/>
                <a:cs typeface="+mn-cs"/>
              </a:rPr>
              <a:t>IdClient</a:t>
            </a:r>
            <a:endParaRPr lang="fr-FR" sz="1200" dirty="0">
              <a:highlight>
                <a:srgbClr val="00FFFF"/>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Amount</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cxnSp>
        <p:nvCxnSpPr>
          <p:cNvPr id="28" name="Connecteur : en angle 27">
            <a:extLst>
              <a:ext uri="{FF2B5EF4-FFF2-40B4-BE49-F238E27FC236}">
                <a16:creationId xmlns:a16="http://schemas.microsoft.com/office/drawing/2014/main" id="{997F426F-9CDE-36B2-9186-F3561247961E}"/>
              </a:ext>
            </a:extLst>
          </p:cNvPr>
          <p:cNvCxnSpPr>
            <a:cxnSpLocks/>
          </p:cNvCxnSpPr>
          <p:nvPr/>
        </p:nvCxnSpPr>
        <p:spPr>
          <a:xfrm>
            <a:off x="7868826" y="3080595"/>
            <a:ext cx="729952" cy="27714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2A50F381-7D4D-E270-F9F5-E63464CEFA68}"/>
              </a:ext>
            </a:extLst>
          </p:cNvPr>
          <p:cNvSpPr txBox="1"/>
          <p:nvPr/>
        </p:nvSpPr>
        <p:spPr>
          <a:xfrm>
            <a:off x="5155790" y="3012630"/>
            <a:ext cx="1377762" cy="104644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err="1"/>
              <a:t>Supply</a:t>
            </a:r>
            <a:r>
              <a:rPr lang="fr-FR" sz="1400" b="1" dirty="0"/>
              <a:t> Product</a:t>
            </a:r>
            <a:endParaRPr lang="fr-FR" sz="14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IdSupply</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endParaRPr lang="fr-FR" sz="1200"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Quantity</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solidFill>
                  <a:schemeClr val="accent2">
                    <a:lumMod val="75000"/>
                  </a:schemeClr>
                </a:solidFill>
                <a:latin typeface="+mn-lt"/>
                <a:cs typeface="+mn-cs"/>
              </a:rPr>
              <a:t>Price Unit</a:t>
            </a:r>
            <a:endParaRPr lang="fr-FR" sz="1400" dirty="0">
              <a:solidFill>
                <a:schemeClr val="accent2">
                  <a:lumMod val="75000"/>
                </a:schemeClr>
              </a:solidFill>
              <a:latin typeface="+mn-lt"/>
              <a:cs typeface="+mn-cs"/>
            </a:endParaRPr>
          </a:p>
        </p:txBody>
      </p:sp>
      <p:sp>
        <p:nvSpPr>
          <p:cNvPr id="30" name="ZoneTexte 29">
            <a:extLst>
              <a:ext uri="{FF2B5EF4-FFF2-40B4-BE49-F238E27FC236}">
                <a16:creationId xmlns:a16="http://schemas.microsoft.com/office/drawing/2014/main" id="{DF757B7A-6FFC-A64C-C961-53E5223F87E8}"/>
              </a:ext>
            </a:extLst>
          </p:cNvPr>
          <p:cNvSpPr txBox="1"/>
          <p:nvPr/>
        </p:nvSpPr>
        <p:spPr>
          <a:xfrm>
            <a:off x="3632492" y="2698813"/>
            <a:ext cx="1226485" cy="1261884"/>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err="1"/>
              <a:t>Supply</a:t>
            </a:r>
            <a:endParaRPr lang="fr-FR" sz="16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latin typeface="+mn-lt"/>
                <a:cs typeface="+mn-cs"/>
              </a:rPr>
              <a:t>IdSupplier</a:t>
            </a:r>
            <a:endParaRPr lang="fr-FR" sz="12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200" dirty="0" err="1">
                <a:solidFill>
                  <a:schemeClr val="accent2">
                    <a:lumMod val="75000"/>
                  </a:schemeClr>
                </a:solidFill>
                <a:latin typeface="+mn-lt"/>
                <a:cs typeface="+mn-cs"/>
              </a:rPr>
              <a:t>Amount</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cxnSp>
        <p:nvCxnSpPr>
          <p:cNvPr id="31" name="Connecteur : en angle 30">
            <a:extLst>
              <a:ext uri="{FF2B5EF4-FFF2-40B4-BE49-F238E27FC236}">
                <a16:creationId xmlns:a16="http://schemas.microsoft.com/office/drawing/2014/main" id="{D6736BED-29C9-7DD7-38ED-11CCAECE00EC}"/>
              </a:ext>
            </a:extLst>
          </p:cNvPr>
          <p:cNvCxnSpPr>
            <a:cxnSpLocks/>
          </p:cNvCxnSpPr>
          <p:nvPr/>
        </p:nvCxnSpPr>
        <p:spPr>
          <a:xfrm>
            <a:off x="4600202" y="3069849"/>
            <a:ext cx="767765" cy="33189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 en angle 31">
            <a:extLst>
              <a:ext uri="{FF2B5EF4-FFF2-40B4-BE49-F238E27FC236}">
                <a16:creationId xmlns:a16="http://schemas.microsoft.com/office/drawing/2014/main" id="{31C862A5-EAEE-AAE9-1830-EC2A18E153AC}"/>
              </a:ext>
            </a:extLst>
          </p:cNvPr>
          <p:cNvCxnSpPr>
            <a:cxnSpLocks/>
            <a:stCxn id="24" idx="3"/>
            <a:endCxn id="16" idx="1"/>
          </p:cNvCxnSpPr>
          <p:nvPr/>
        </p:nvCxnSpPr>
        <p:spPr>
          <a:xfrm>
            <a:off x="9861772" y="3526070"/>
            <a:ext cx="450902" cy="949798"/>
          </a:xfrm>
          <a:prstGeom prst="bentConnector3">
            <a:avLst>
              <a:gd name="adj1" fmla="val 5000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 en angle 43">
            <a:extLst>
              <a:ext uri="{FF2B5EF4-FFF2-40B4-BE49-F238E27FC236}">
                <a16:creationId xmlns:a16="http://schemas.microsoft.com/office/drawing/2014/main" id="{DD67BCF9-1EC9-6EE1-728D-C4E0F9C0F1D2}"/>
              </a:ext>
            </a:extLst>
          </p:cNvPr>
          <p:cNvCxnSpPr>
            <a:cxnSpLocks/>
            <a:stCxn id="29" idx="3"/>
            <a:endCxn id="16" idx="1"/>
          </p:cNvCxnSpPr>
          <p:nvPr/>
        </p:nvCxnSpPr>
        <p:spPr>
          <a:xfrm>
            <a:off x="6533552" y="3535850"/>
            <a:ext cx="3779122" cy="940018"/>
          </a:xfrm>
          <a:prstGeom prst="bentConnector3">
            <a:avLst>
              <a:gd name="adj1" fmla="val 5000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 en angle 50">
            <a:extLst>
              <a:ext uri="{FF2B5EF4-FFF2-40B4-BE49-F238E27FC236}">
                <a16:creationId xmlns:a16="http://schemas.microsoft.com/office/drawing/2014/main" id="{250CDA31-EA54-EB89-9A4B-E390328A8705}"/>
              </a:ext>
            </a:extLst>
          </p:cNvPr>
          <p:cNvCxnSpPr>
            <a:cxnSpLocks/>
            <a:stCxn id="25" idx="3"/>
            <a:endCxn id="16" idx="1"/>
          </p:cNvCxnSpPr>
          <p:nvPr/>
        </p:nvCxnSpPr>
        <p:spPr>
          <a:xfrm>
            <a:off x="10033777" y="1778701"/>
            <a:ext cx="278897" cy="2697167"/>
          </a:xfrm>
          <a:prstGeom prst="bentConnector3">
            <a:avLst>
              <a:gd name="adj1" fmla="val 5000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eur : en angle 54">
            <a:extLst>
              <a:ext uri="{FF2B5EF4-FFF2-40B4-BE49-F238E27FC236}">
                <a16:creationId xmlns:a16="http://schemas.microsoft.com/office/drawing/2014/main" id="{DCC78A53-F4B3-7D43-3660-93A8B01AD055}"/>
              </a:ext>
            </a:extLst>
          </p:cNvPr>
          <p:cNvCxnSpPr>
            <a:cxnSpLocks/>
            <a:stCxn id="21" idx="3"/>
            <a:endCxn id="16" idx="1"/>
          </p:cNvCxnSpPr>
          <p:nvPr/>
        </p:nvCxnSpPr>
        <p:spPr>
          <a:xfrm>
            <a:off x="3381091" y="3715626"/>
            <a:ext cx="6931583" cy="760242"/>
          </a:xfrm>
          <a:prstGeom prst="bentConnector3">
            <a:avLst>
              <a:gd name="adj1" fmla="val 5000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eur : en angle 58">
            <a:extLst>
              <a:ext uri="{FF2B5EF4-FFF2-40B4-BE49-F238E27FC236}">
                <a16:creationId xmlns:a16="http://schemas.microsoft.com/office/drawing/2014/main" id="{CDC1DD5F-B4F5-C997-6C05-58D9E9556512}"/>
              </a:ext>
            </a:extLst>
          </p:cNvPr>
          <p:cNvCxnSpPr>
            <a:cxnSpLocks/>
            <a:stCxn id="3" idx="3"/>
            <a:endCxn id="16" idx="1"/>
          </p:cNvCxnSpPr>
          <p:nvPr/>
        </p:nvCxnSpPr>
        <p:spPr>
          <a:xfrm>
            <a:off x="6500620" y="1594035"/>
            <a:ext cx="3812054" cy="2881833"/>
          </a:xfrm>
          <a:prstGeom prst="bentConnector3">
            <a:avLst>
              <a:gd name="adj1" fmla="val 5000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eur : en angle 62">
            <a:extLst>
              <a:ext uri="{FF2B5EF4-FFF2-40B4-BE49-F238E27FC236}">
                <a16:creationId xmlns:a16="http://schemas.microsoft.com/office/drawing/2014/main" id="{C4D751D9-A229-2FF1-4E1D-E659E69261B6}"/>
              </a:ext>
            </a:extLst>
          </p:cNvPr>
          <p:cNvCxnSpPr>
            <a:cxnSpLocks/>
            <a:endCxn id="16" idx="1"/>
          </p:cNvCxnSpPr>
          <p:nvPr/>
        </p:nvCxnSpPr>
        <p:spPr>
          <a:xfrm>
            <a:off x="3281082" y="1549306"/>
            <a:ext cx="7031592" cy="2926562"/>
          </a:xfrm>
          <a:prstGeom prst="bentConnector3">
            <a:avLst>
              <a:gd name="adj1" fmla="val 3894"/>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83" name="ZoneTexte 82">
            <a:extLst>
              <a:ext uri="{FF2B5EF4-FFF2-40B4-BE49-F238E27FC236}">
                <a16:creationId xmlns:a16="http://schemas.microsoft.com/office/drawing/2014/main" id="{72B9CF03-D912-C4B6-1DBB-C172D9964FBD}"/>
              </a:ext>
            </a:extLst>
          </p:cNvPr>
          <p:cNvSpPr txBox="1"/>
          <p:nvPr/>
        </p:nvSpPr>
        <p:spPr>
          <a:xfrm>
            <a:off x="10694885" y="792236"/>
            <a:ext cx="1405446" cy="144655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highlight>
                  <a:srgbClr val="00FFFF"/>
                </a:highlight>
                <a:latin typeface="+mn-lt"/>
                <a:cs typeface="+mn-cs"/>
              </a:rPr>
              <a:t>Client</a:t>
            </a:r>
          </a:p>
          <a:p>
            <a:pPr marL="285750" indent="-285750" fontAlgn="auto">
              <a:spcBef>
                <a:spcPts val="0"/>
              </a:spcBef>
              <a:spcAft>
                <a:spcPts val="0"/>
              </a:spcAft>
              <a:buFont typeface="Arial" panose="020B0604020202020204" pitchFamily="34" charset="0"/>
              <a:buChar char="•"/>
              <a:defRPr/>
            </a:pPr>
            <a:r>
              <a:rPr lang="fr-FR" sz="1400" b="1" u="sng" dirty="0">
                <a:highlight>
                  <a:srgbClr val="00FFFF"/>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Name</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Address</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a:p>
            <a:pPr fontAlgn="auto">
              <a:spcBef>
                <a:spcPts val="0"/>
              </a:spcBef>
              <a:spcAft>
                <a:spcPts val="0"/>
              </a:spcAft>
              <a:defRPr/>
            </a:pPr>
            <a:endParaRPr lang="fr-FR" sz="1200" dirty="0">
              <a:latin typeface="+mn-lt"/>
              <a:cs typeface="+mn-cs"/>
            </a:endParaRPr>
          </a:p>
        </p:txBody>
      </p:sp>
      <p:sp>
        <p:nvSpPr>
          <p:cNvPr id="65" name="ZoneTexte 64">
            <a:extLst>
              <a:ext uri="{FF2B5EF4-FFF2-40B4-BE49-F238E27FC236}">
                <a16:creationId xmlns:a16="http://schemas.microsoft.com/office/drawing/2014/main" id="{C0F5C158-3252-886D-E464-0524E4FEEDA3}"/>
              </a:ext>
            </a:extLst>
          </p:cNvPr>
          <p:cNvSpPr txBox="1"/>
          <p:nvPr/>
        </p:nvSpPr>
        <p:spPr>
          <a:xfrm>
            <a:off x="3383938" y="5157820"/>
            <a:ext cx="1667260" cy="1631216"/>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400" b="1" dirty="0"/>
              <a:t>Pallet Product</a:t>
            </a:r>
            <a:endParaRPr lang="fr-FR" sz="14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IdPacking</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t>NoPallet</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highlight>
                  <a:srgbClr val="FFFF00"/>
                </a:highlight>
                <a:latin typeface="+mn-lt"/>
                <a:cs typeface="+mn-cs"/>
              </a:rPr>
              <a:t>IdProduct</a:t>
            </a:r>
            <a:endParaRPr lang="fr-FR" sz="1200"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latin typeface="+mn-lt"/>
                <a:cs typeface="+mn-cs"/>
              </a:rPr>
              <a:t>Quantity</a:t>
            </a:r>
            <a:endParaRPr lang="fr-FR" sz="12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t>Quantity</a:t>
            </a:r>
            <a:r>
              <a:rPr lang="fr-FR" sz="1200" dirty="0"/>
              <a:t> Real</a:t>
            </a:r>
            <a:endParaRPr lang="fr-FR" sz="12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err="1"/>
              <a:t>Quantity</a:t>
            </a:r>
            <a:r>
              <a:rPr lang="fr-FR" sz="1200" dirty="0"/>
              <a:t> </a:t>
            </a:r>
            <a:r>
              <a:rPr lang="fr-FR" sz="1200" dirty="0" err="1"/>
              <a:t>Defective</a:t>
            </a:r>
            <a:endParaRPr lang="fr-FR" sz="1400" dirty="0"/>
          </a:p>
          <a:p>
            <a:pPr marL="285750" indent="-285750" fontAlgn="auto">
              <a:spcBef>
                <a:spcPts val="0"/>
              </a:spcBef>
              <a:spcAft>
                <a:spcPts val="0"/>
              </a:spcAft>
              <a:buFont typeface="Arial" panose="020B0604020202020204" pitchFamily="34" charset="0"/>
              <a:buChar char="•"/>
              <a:defRPr/>
            </a:pPr>
            <a:r>
              <a:rPr lang="fr-FR" sz="1400" dirty="0" err="1">
                <a:solidFill>
                  <a:schemeClr val="accent1">
                    <a:lumMod val="75000"/>
                  </a:schemeClr>
                </a:solidFill>
              </a:rPr>
              <a:t>Quantity</a:t>
            </a:r>
            <a:r>
              <a:rPr lang="fr-FR" sz="1400" dirty="0">
                <a:solidFill>
                  <a:schemeClr val="accent1">
                    <a:lumMod val="75000"/>
                  </a:schemeClr>
                </a:solidFill>
              </a:rPr>
              <a:t> Stock</a:t>
            </a:r>
            <a:endParaRPr lang="fr-FR" sz="1200" dirty="0">
              <a:solidFill>
                <a:schemeClr val="accent1">
                  <a:lumMod val="75000"/>
                </a:schemeClr>
              </a:solidFill>
            </a:endParaRPr>
          </a:p>
        </p:txBody>
      </p:sp>
      <p:sp>
        <p:nvSpPr>
          <p:cNvPr id="66" name="ZoneTexte 65">
            <a:extLst>
              <a:ext uri="{FF2B5EF4-FFF2-40B4-BE49-F238E27FC236}">
                <a16:creationId xmlns:a16="http://schemas.microsoft.com/office/drawing/2014/main" id="{89565B41-A574-1B39-8878-5270BC623B19}"/>
              </a:ext>
            </a:extLst>
          </p:cNvPr>
          <p:cNvSpPr txBox="1"/>
          <p:nvPr/>
        </p:nvSpPr>
        <p:spPr>
          <a:xfrm>
            <a:off x="1838735" y="4772490"/>
            <a:ext cx="1123889" cy="1077218"/>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a:latin typeface="+mn-lt"/>
                <a:cs typeface="+mn-cs"/>
              </a:rPr>
              <a:t>Pallet</a:t>
            </a:r>
          </a:p>
          <a:p>
            <a:pPr marL="285750" indent="-285750" fontAlgn="auto">
              <a:spcBef>
                <a:spcPts val="0"/>
              </a:spcBef>
              <a:spcAft>
                <a:spcPts val="0"/>
              </a:spcAft>
              <a:buFont typeface="Arial" panose="020B0604020202020204" pitchFamily="34" charset="0"/>
              <a:buChar char="•"/>
              <a:defRPr/>
            </a:pPr>
            <a:r>
              <a:rPr lang="fr-FR" sz="1200" b="1" u="sng" dirty="0" err="1">
                <a:latin typeface="+mn-lt"/>
                <a:cs typeface="+mn-cs"/>
              </a:rPr>
              <a:t>IdPacking</a:t>
            </a:r>
            <a:endParaRPr lang="fr-FR" sz="1200" b="1" u="sng"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200" b="1" u="sng" dirty="0" err="1"/>
              <a:t>NoPallet</a:t>
            </a:r>
            <a:endParaRPr lang="fr-FR" sz="1200" dirty="0">
              <a:highlight>
                <a:srgbClr val="00FFFF"/>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Date</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cxnSp>
        <p:nvCxnSpPr>
          <p:cNvPr id="67" name="Connecteur : en angle 66">
            <a:extLst>
              <a:ext uri="{FF2B5EF4-FFF2-40B4-BE49-F238E27FC236}">
                <a16:creationId xmlns:a16="http://schemas.microsoft.com/office/drawing/2014/main" id="{3A8FFB54-4438-CFFC-98F9-F3BBCF19084F}"/>
              </a:ext>
            </a:extLst>
          </p:cNvPr>
          <p:cNvCxnSpPr>
            <a:cxnSpLocks/>
          </p:cNvCxnSpPr>
          <p:nvPr/>
        </p:nvCxnSpPr>
        <p:spPr>
          <a:xfrm>
            <a:off x="2841153" y="5157820"/>
            <a:ext cx="625288" cy="37647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eur : en angle 67">
            <a:extLst>
              <a:ext uri="{FF2B5EF4-FFF2-40B4-BE49-F238E27FC236}">
                <a16:creationId xmlns:a16="http://schemas.microsoft.com/office/drawing/2014/main" id="{04D519AA-1BB2-959C-9777-CDF92906688F}"/>
              </a:ext>
            </a:extLst>
          </p:cNvPr>
          <p:cNvCxnSpPr>
            <a:cxnSpLocks/>
            <a:endCxn id="16" idx="1"/>
          </p:cNvCxnSpPr>
          <p:nvPr/>
        </p:nvCxnSpPr>
        <p:spPr>
          <a:xfrm flipV="1">
            <a:off x="5051198" y="4475868"/>
            <a:ext cx="5261476" cy="1160446"/>
          </a:xfrm>
          <a:prstGeom prst="bentConnector3">
            <a:avLst>
              <a:gd name="adj1" fmla="val 985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4" name="ZoneTexte 73">
            <a:extLst>
              <a:ext uri="{FF2B5EF4-FFF2-40B4-BE49-F238E27FC236}">
                <a16:creationId xmlns:a16="http://schemas.microsoft.com/office/drawing/2014/main" id="{337D0E4E-62E8-F98F-3C56-EEF4B1AED95A}"/>
              </a:ext>
            </a:extLst>
          </p:cNvPr>
          <p:cNvSpPr txBox="1"/>
          <p:nvPr/>
        </p:nvSpPr>
        <p:spPr>
          <a:xfrm>
            <a:off x="296378" y="4430040"/>
            <a:ext cx="1123889" cy="892552"/>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a:latin typeface="+mn-lt"/>
                <a:cs typeface="+mn-cs"/>
              </a:rPr>
              <a:t>Packing</a:t>
            </a:r>
          </a:p>
          <a:p>
            <a:pPr marL="285750" indent="-285750" fontAlgn="auto">
              <a:spcBef>
                <a:spcPts val="0"/>
              </a:spcBef>
              <a:spcAft>
                <a:spcPts val="0"/>
              </a:spcAft>
              <a:buFont typeface="Arial" panose="020B0604020202020204" pitchFamily="34" charset="0"/>
              <a:buChar char="•"/>
              <a:defRPr/>
            </a:pPr>
            <a:r>
              <a:rPr lang="fr-FR" sz="1200" b="1" u="sng" dirty="0">
                <a:latin typeface="+mn-lt"/>
                <a:cs typeface="+mn-cs"/>
              </a:rPr>
              <a:t>ID</a:t>
            </a:r>
            <a:endParaRPr lang="fr-FR" sz="1200" dirty="0">
              <a:highlight>
                <a:srgbClr val="00FFFF"/>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latin typeface="+mn-lt"/>
                <a:cs typeface="+mn-cs"/>
              </a:rPr>
              <a:t>Nb Pallet</a:t>
            </a:r>
            <a:endParaRPr lang="fr-FR" sz="1200" dirty="0">
              <a:solidFill>
                <a:schemeClr val="accent2">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200" dirty="0"/>
              <a:t>…</a:t>
            </a:r>
            <a:endParaRPr lang="fr-FR" sz="1200" dirty="0">
              <a:latin typeface="+mn-lt"/>
              <a:cs typeface="+mn-cs"/>
            </a:endParaRPr>
          </a:p>
        </p:txBody>
      </p:sp>
      <p:cxnSp>
        <p:nvCxnSpPr>
          <p:cNvPr id="75" name="Connecteur : en angle 74">
            <a:extLst>
              <a:ext uri="{FF2B5EF4-FFF2-40B4-BE49-F238E27FC236}">
                <a16:creationId xmlns:a16="http://schemas.microsoft.com/office/drawing/2014/main" id="{709C0867-E0C6-6EC3-073F-F3B967891E3E}"/>
              </a:ext>
            </a:extLst>
          </p:cNvPr>
          <p:cNvCxnSpPr>
            <a:cxnSpLocks/>
          </p:cNvCxnSpPr>
          <p:nvPr/>
        </p:nvCxnSpPr>
        <p:spPr>
          <a:xfrm>
            <a:off x="1271301" y="4809753"/>
            <a:ext cx="625288" cy="37647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eur : en angle 75">
            <a:extLst>
              <a:ext uri="{FF2B5EF4-FFF2-40B4-BE49-F238E27FC236}">
                <a16:creationId xmlns:a16="http://schemas.microsoft.com/office/drawing/2014/main" id="{8DD6CF2B-B61B-BE57-99E2-3018CA7D94BF}"/>
              </a:ext>
            </a:extLst>
          </p:cNvPr>
          <p:cNvCxnSpPr>
            <a:cxnSpLocks/>
          </p:cNvCxnSpPr>
          <p:nvPr/>
        </p:nvCxnSpPr>
        <p:spPr>
          <a:xfrm>
            <a:off x="2827293" y="5329780"/>
            <a:ext cx="625288" cy="37647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ZoneTexte 80">
            <a:extLst>
              <a:ext uri="{FF2B5EF4-FFF2-40B4-BE49-F238E27FC236}">
                <a16:creationId xmlns:a16="http://schemas.microsoft.com/office/drawing/2014/main" id="{99626E50-EED7-1E92-37FC-C0AB35A91F7B}"/>
              </a:ext>
            </a:extLst>
          </p:cNvPr>
          <p:cNvSpPr txBox="1"/>
          <p:nvPr/>
        </p:nvSpPr>
        <p:spPr>
          <a:xfrm>
            <a:off x="7604964" y="5605670"/>
            <a:ext cx="4459707" cy="1200329"/>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highlight>
                  <a:srgbClr val="FFFF00"/>
                </a:highlight>
                <a:latin typeface="+mn-lt"/>
                <a:cs typeface="+mn-cs"/>
              </a:rPr>
              <a:t>Product</a:t>
            </a:r>
          </a:p>
          <a:p>
            <a:pPr marL="285750" indent="-285750" fontAlgn="auto">
              <a:spcBef>
                <a:spcPts val="0"/>
              </a:spcBef>
              <a:spcAft>
                <a:spcPts val="0"/>
              </a:spcAft>
              <a:buFont typeface="Arial" panose="020B0604020202020204" pitchFamily="34" charset="0"/>
              <a:buChar char="•"/>
              <a:defRPr/>
            </a:pPr>
            <a:r>
              <a:rPr lang="fr-FR" sz="1400" b="1" u="sng" dirty="0">
                <a:highlight>
                  <a:srgbClr val="FFFF0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200" dirty="0" err="1">
                <a:solidFill>
                  <a:schemeClr val="accent1">
                    <a:lumMod val="75000"/>
                  </a:schemeClr>
                </a:solidFill>
              </a:rPr>
              <a:t>Quantity</a:t>
            </a:r>
            <a:r>
              <a:rPr lang="fr-FR" sz="1200" dirty="0">
                <a:solidFill>
                  <a:schemeClr val="accent1">
                    <a:lumMod val="75000"/>
                  </a:schemeClr>
                </a:solidFill>
              </a:rPr>
              <a:t> Stock = </a:t>
            </a:r>
            <a:r>
              <a:rPr lang="fr-FR" sz="1200" dirty="0" err="1">
                <a:solidFill>
                  <a:schemeClr val="accent1">
                    <a:lumMod val="75000"/>
                  </a:schemeClr>
                </a:solidFill>
              </a:rPr>
              <a:t>sum</a:t>
            </a:r>
            <a:r>
              <a:rPr lang="fr-FR" sz="1200" dirty="0">
                <a:solidFill>
                  <a:schemeClr val="accent1">
                    <a:lumMod val="75000"/>
                  </a:schemeClr>
                </a:solidFill>
              </a:rPr>
              <a:t>(</a:t>
            </a:r>
            <a:r>
              <a:rPr lang="fr-FR" sz="1200" dirty="0" err="1">
                <a:solidFill>
                  <a:schemeClr val="accent1">
                    <a:lumMod val="75000"/>
                  </a:schemeClr>
                </a:solidFill>
              </a:rPr>
              <a:t>PALLET_PRODUCT.QuantiyStock</a:t>
            </a:r>
            <a:r>
              <a:rPr lang="fr-FR" sz="1200" dirty="0">
                <a:solidFill>
                  <a:schemeClr val="accent1">
                    <a:lumMod val="75000"/>
                  </a:schemeClr>
                </a:solidFill>
              </a:rPr>
              <a:t>)</a:t>
            </a:r>
            <a:endParaRPr lang="fr-FR" sz="1200" dirty="0">
              <a:solidFill>
                <a:schemeClr val="accent1">
                  <a:lumMod val="75000"/>
                </a:schemeClr>
              </a:solidFill>
              <a:latin typeface="+mn-lt"/>
              <a:cs typeface="+mn-cs"/>
            </a:endParaRPr>
          </a:p>
          <a:p>
            <a:pPr marL="285750" indent="-285750">
              <a:buFont typeface="Arial" panose="020B0604020202020204" pitchFamily="34" charset="0"/>
              <a:buChar char="•"/>
              <a:defRPr/>
            </a:pPr>
            <a:r>
              <a:rPr lang="fr-FR" sz="1200" dirty="0" err="1">
                <a:solidFill>
                  <a:schemeClr val="accent1">
                    <a:lumMod val="75000"/>
                  </a:schemeClr>
                </a:solidFill>
              </a:rPr>
              <a:t>Quantity</a:t>
            </a:r>
            <a:r>
              <a:rPr lang="fr-FR" sz="1200" dirty="0">
                <a:solidFill>
                  <a:schemeClr val="accent1">
                    <a:lumMod val="75000"/>
                  </a:schemeClr>
                </a:solidFill>
              </a:rPr>
              <a:t> </a:t>
            </a:r>
            <a:r>
              <a:rPr lang="fr-FR" sz="1200" dirty="0" err="1">
                <a:solidFill>
                  <a:schemeClr val="accent1">
                    <a:lumMod val="75000"/>
                  </a:schemeClr>
                </a:solidFill>
              </a:rPr>
              <a:t>Ordered</a:t>
            </a:r>
            <a:r>
              <a:rPr lang="fr-FR" sz="1200" dirty="0">
                <a:solidFill>
                  <a:schemeClr val="accent1">
                    <a:lumMod val="75000"/>
                  </a:schemeClr>
                </a:solidFill>
              </a:rPr>
              <a:t>= </a:t>
            </a:r>
            <a:r>
              <a:rPr lang="fr-FR" sz="1200" dirty="0" err="1">
                <a:solidFill>
                  <a:schemeClr val="accent1">
                    <a:lumMod val="75000"/>
                  </a:schemeClr>
                </a:solidFill>
              </a:rPr>
              <a:t>sum</a:t>
            </a:r>
            <a:r>
              <a:rPr lang="fr-FR" sz="1200" dirty="0">
                <a:solidFill>
                  <a:schemeClr val="accent1">
                    <a:lumMod val="75000"/>
                  </a:schemeClr>
                </a:solidFill>
              </a:rPr>
              <a:t>(</a:t>
            </a:r>
            <a:r>
              <a:rPr lang="fr-FR" sz="1200" dirty="0" err="1">
                <a:solidFill>
                  <a:schemeClr val="accent1">
                    <a:lumMod val="75000"/>
                  </a:schemeClr>
                </a:solidFill>
              </a:rPr>
              <a:t>ORDER_PRODUCT.QuantiyRest</a:t>
            </a:r>
            <a:r>
              <a:rPr lang="fr-FR" sz="1200" dirty="0">
                <a:solidFill>
                  <a:schemeClr val="accent1">
                    <a:lumMod val="75000"/>
                  </a:schemeClr>
                </a:solidFill>
              </a:rPr>
              <a:t>)</a:t>
            </a:r>
          </a:p>
          <a:p>
            <a:pPr marL="285750" indent="-285750">
              <a:buFont typeface="Arial" panose="020B0604020202020204" pitchFamily="34" charset="0"/>
              <a:buChar char="•"/>
              <a:defRPr/>
            </a:pPr>
            <a:r>
              <a:rPr lang="fr-FR" sz="1200" dirty="0" err="1">
                <a:solidFill>
                  <a:schemeClr val="accent1">
                    <a:lumMod val="75000"/>
                  </a:schemeClr>
                </a:solidFill>
                <a:latin typeface="+mn-lt"/>
                <a:cs typeface="+mn-cs"/>
              </a:rPr>
              <a:t>Quantity</a:t>
            </a:r>
            <a:r>
              <a:rPr lang="fr-FR" sz="1200" dirty="0">
                <a:solidFill>
                  <a:schemeClr val="accent1">
                    <a:lumMod val="75000"/>
                  </a:schemeClr>
                </a:solidFill>
                <a:latin typeface="+mn-lt"/>
                <a:cs typeface="+mn-cs"/>
              </a:rPr>
              <a:t> </a:t>
            </a:r>
            <a:r>
              <a:rPr lang="fr-FR" sz="1200" dirty="0" err="1">
                <a:solidFill>
                  <a:schemeClr val="accent1">
                    <a:lumMod val="75000"/>
                  </a:schemeClr>
                </a:solidFill>
                <a:latin typeface="+mn-lt"/>
                <a:cs typeface="+mn-cs"/>
              </a:rPr>
              <a:t>Suppl</a:t>
            </a:r>
            <a:r>
              <a:rPr lang="fr-FR" sz="1200" dirty="0" err="1">
                <a:solidFill>
                  <a:schemeClr val="accent1">
                    <a:lumMod val="75000"/>
                  </a:schemeClr>
                </a:solidFill>
              </a:rPr>
              <a:t>ied</a:t>
            </a:r>
            <a:r>
              <a:rPr lang="fr-FR" sz="1200" dirty="0">
                <a:solidFill>
                  <a:schemeClr val="accent1">
                    <a:lumMod val="75000"/>
                  </a:schemeClr>
                </a:solidFill>
              </a:rPr>
              <a:t>= </a:t>
            </a:r>
            <a:r>
              <a:rPr lang="fr-FR" sz="1200" dirty="0" err="1">
                <a:solidFill>
                  <a:schemeClr val="accent1">
                    <a:lumMod val="75000"/>
                  </a:schemeClr>
                </a:solidFill>
              </a:rPr>
              <a:t>sum</a:t>
            </a:r>
            <a:r>
              <a:rPr lang="fr-FR" sz="1200" dirty="0">
                <a:solidFill>
                  <a:schemeClr val="accent1">
                    <a:lumMod val="75000"/>
                  </a:schemeClr>
                </a:solidFill>
              </a:rPr>
              <a:t>(</a:t>
            </a:r>
            <a:r>
              <a:rPr lang="fr-FR" sz="1200" dirty="0" err="1">
                <a:solidFill>
                  <a:schemeClr val="accent1">
                    <a:lumMod val="75000"/>
                  </a:schemeClr>
                </a:solidFill>
              </a:rPr>
              <a:t>SUPPLY_PRODUCT.Quantiy</a:t>
            </a:r>
            <a:r>
              <a:rPr lang="fr-FR" sz="1200" dirty="0">
                <a:solidFill>
                  <a:schemeClr val="accent1">
                    <a:lumMod val="75000"/>
                  </a:schemeClr>
                </a:solidFill>
              </a:rPr>
              <a:t>)</a:t>
            </a:r>
            <a:r>
              <a:rPr lang="fr-FR" sz="1400" dirty="0"/>
              <a:t>…</a:t>
            </a:r>
            <a:endParaRPr lang="fr-FR" sz="1200" dirty="0">
              <a:latin typeface="+mn-lt"/>
              <a:cs typeface="+mn-cs"/>
            </a:endParaRPr>
          </a:p>
        </p:txBody>
      </p:sp>
    </p:spTree>
    <p:extLst>
      <p:ext uri="{BB962C8B-B14F-4D97-AF65-F5344CB8AC3E}">
        <p14:creationId xmlns:p14="http://schemas.microsoft.com/office/powerpoint/2010/main" val="3404143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Informatisation élémentaire</a:t>
            </a:r>
          </a:p>
        </p:txBody>
      </p:sp>
      <p:sp>
        <p:nvSpPr>
          <p:cNvPr id="32" name="Rectangle 31">
            <a:extLst>
              <a:ext uri="{FF2B5EF4-FFF2-40B4-BE49-F238E27FC236}">
                <a16:creationId xmlns:a16="http://schemas.microsoft.com/office/drawing/2014/main" id="{307B6FFB-69E2-4BED-BF39-A7D7CFD73D81}"/>
              </a:ext>
            </a:extLst>
          </p:cNvPr>
          <p:cNvSpPr/>
          <p:nvPr/>
        </p:nvSpPr>
        <p:spPr>
          <a:xfrm>
            <a:off x="490888" y="412354"/>
            <a:ext cx="5072513" cy="63734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Produits</a:t>
            </a:r>
          </a:p>
          <a:p>
            <a:r>
              <a:rPr lang="fr-FR" sz="1600" dirty="0">
                <a:solidFill>
                  <a:schemeClr val="tx1"/>
                </a:solidFill>
              </a:rPr>
              <a:t>Tout ce qui peut apparaitre dans une commande :</a:t>
            </a:r>
          </a:p>
          <a:p>
            <a:pPr marL="742950" lvl="1" indent="-285750">
              <a:buFont typeface="Wingdings" panose="05000000000000000000" pitchFamily="2" charset="2"/>
              <a:buChar char="v"/>
            </a:pPr>
            <a:r>
              <a:rPr lang="fr-FR" sz="1600" dirty="0">
                <a:solidFill>
                  <a:schemeClr val="tx1"/>
                </a:solidFill>
              </a:rPr>
              <a:t>Produit</a:t>
            </a:r>
          </a:p>
          <a:p>
            <a:pPr marL="1200150" lvl="2" indent="-285750">
              <a:buFont typeface="Wingdings" panose="05000000000000000000" pitchFamily="2" charset="2"/>
              <a:buChar char="Ø"/>
            </a:pPr>
            <a:r>
              <a:rPr lang="fr-FR" sz="1400" dirty="0">
                <a:solidFill>
                  <a:schemeClr val="tx1"/>
                </a:solidFill>
              </a:rPr>
              <a:t>Produit Elémentaire</a:t>
            </a:r>
          </a:p>
          <a:p>
            <a:pPr marL="1200150" lvl="2" indent="-285750">
              <a:buFont typeface="Wingdings" panose="05000000000000000000" pitchFamily="2" charset="2"/>
              <a:buChar char="Ø"/>
            </a:pPr>
            <a:r>
              <a:rPr lang="fr-FR" sz="1400" dirty="0">
                <a:solidFill>
                  <a:schemeClr val="tx1"/>
                </a:solidFill>
              </a:rPr>
              <a:t>Produit Semi-Fini (Composé par d’autres articles)</a:t>
            </a:r>
          </a:p>
          <a:p>
            <a:pPr marL="1200150" lvl="2" indent="-285750">
              <a:buFont typeface="Wingdings" panose="05000000000000000000" pitchFamily="2" charset="2"/>
              <a:buChar char="Ø"/>
            </a:pPr>
            <a:r>
              <a:rPr lang="fr-FR" sz="1400" dirty="0">
                <a:solidFill>
                  <a:schemeClr val="tx1"/>
                </a:solidFill>
              </a:rPr>
              <a:t>Produit Fini (Composé par d’autres articles)</a:t>
            </a:r>
          </a:p>
          <a:p>
            <a:pPr marL="742950" lvl="1" indent="-285750">
              <a:buFont typeface="Wingdings" panose="05000000000000000000" pitchFamily="2" charset="2"/>
              <a:buChar char="v"/>
            </a:pPr>
            <a:r>
              <a:rPr lang="fr-FR" sz="1600" dirty="0">
                <a:solidFill>
                  <a:schemeClr val="tx1"/>
                </a:solidFill>
              </a:rPr>
              <a:t>Construction / Fabrication / Installation</a:t>
            </a:r>
          </a:p>
          <a:p>
            <a:pPr marL="1200150" lvl="2" indent="-285750">
              <a:buFont typeface="Wingdings" panose="05000000000000000000" pitchFamily="2" charset="2"/>
              <a:buChar char="Ø"/>
            </a:pPr>
            <a:r>
              <a:rPr lang="fr-FR" sz="1400" dirty="0">
                <a:solidFill>
                  <a:schemeClr val="tx1"/>
                </a:solidFill>
              </a:rPr>
              <a:t>Outillage</a:t>
            </a:r>
          </a:p>
          <a:p>
            <a:pPr marL="1200150" lvl="2" indent="-285750">
              <a:buFont typeface="Wingdings" panose="05000000000000000000" pitchFamily="2" charset="2"/>
              <a:buChar char="Ø"/>
            </a:pPr>
            <a:r>
              <a:rPr lang="fr-FR" sz="1400" dirty="0">
                <a:solidFill>
                  <a:schemeClr val="tx1"/>
                </a:solidFill>
              </a:rPr>
              <a:t>Pièces / Matière Première</a:t>
            </a:r>
          </a:p>
          <a:p>
            <a:pPr marL="1200150" lvl="2" indent="-285750">
              <a:buFont typeface="Wingdings" panose="05000000000000000000" pitchFamily="2" charset="2"/>
              <a:buChar char="Ø"/>
            </a:pPr>
            <a:r>
              <a:rPr lang="fr-FR" sz="1400" dirty="0">
                <a:solidFill>
                  <a:schemeClr val="tx1"/>
                </a:solidFill>
              </a:rPr>
              <a:t>Main-d'œuvre</a:t>
            </a:r>
          </a:p>
          <a:p>
            <a:pPr marL="742950" lvl="1" indent="-285750">
              <a:buFont typeface="Wingdings" panose="05000000000000000000" pitchFamily="2" charset="2"/>
              <a:buChar char="v"/>
            </a:pPr>
            <a:r>
              <a:rPr lang="fr-FR" sz="1600" dirty="0">
                <a:solidFill>
                  <a:schemeClr val="tx1"/>
                </a:solidFill>
              </a:rPr>
              <a:t>Service prestation</a:t>
            </a:r>
          </a:p>
          <a:p>
            <a:pPr marL="1200150" lvl="2" indent="-285750">
              <a:buFont typeface="Wingdings" panose="05000000000000000000" pitchFamily="2" charset="2"/>
              <a:buChar char="Ø"/>
            </a:pPr>
            <a:r>
              <a:rPr lang="fr-FR" sz="1400" dirty="0">
                <a:solidFill>
                  <a:schemeClr val="tx1"/>
                </a:solidFill>
              </a:rPr>
              <a:t>Pose/Installation</a:t>
            </a:r>
          </a:p>
          <a:p>
            <a:pPr marL="1200150" lvl="2" indent="-285750">
              <a:buFont typeface="Wingdings" panose="05000000000000000000" pitchFamily="2" charset="2"/>
              <a:buChar char="Ø"/>
            </a:pPr>
            <a:r>
              <a:rPr lang="fr-FR" sz="1400" dirty="0">
                <a:solidFill>
                  <a:schemeClr val="tx1"/>
                </a:solidFill>
              </a:rPr>
              <a:t>Emballage</a:t>
            </a:r>
          </a:p>
          <a:p>
            <a:pPr marL="1200150" lvl="2" indent="-285750">
              <a:buFont typeface="Wingdings" panose="05000000000000000000" pitchFamily="2" charset="2"/>
              <a:buChar char="Ø"/>
            </a:pPr>
            <a:r>
              <a:rPr lang="fr-FR" sz="1400" dirty="0">
                <a:solidFill>
                  <a:schemeClr val="tx1"/>
                </a:solidFill>
              </a:rPr>
              <a:t>Transport/Livraison</a:t>
            </a:r>
          </a:p>
          <a:p>
            <a:pPr marL="1200150" lvl="2" indent="-285750">
              <a:buFont typeface="Wingdings" panose="05000000000000000000" pitchFamily="2" charset="2"/>
              <a:buChar char="Ø"/>
            </a:pPr>
            <a:r>
              <a:rPr lang="fr-FR" sz="1400" dirty="0">
                <a:solidFill>
                  <a:schemeClr val="tx1"/>
                </a:solidFill>
              </a:rPr>
              <a:t>Documentation</a:t>
            </a:r>
          </a:p>
          <a:p>
            <a:pPr marL="1200150" lvl="2" indent="-285750">
              <a:buFont typeface="Wingdings" panose="05000000000000000000" pitchFamily="2" charset="2"/>
              <a:buChar char="Ø"/>
            </a:pPr>
            <a:r>
              <a:rPr lang="fr-FR" sz="1400" dirty="0">
                <a:solidFill>
                  <a:schemeClr val="tx1"/>
                </a:solidFill>
              </a:rPr>
              <a:t>Devis</a:t>
            </a:r>
          </a:p>
          <a:p>
            <a:endParaRPr lang="fr-FR" sz="1600" dirty="0">
              <a:solidFill>
                <a:schemeClr val="tx1"/>
              </a:solidFill>
            </a:endParaRPr>
          </a:p>
          <a:p>
            <a:r>
              <a:rPr lang="fr-FR" sz="1600" dirty="0">
                <a:solidFill>
                  <a:schemeClr val="tx1"/>
                </a:solidFill>
              </a:rPr>
              <a:t>Les informations nécessaires :</a:t>
            </a:r>
          </a:p>
          <a:p>
            <a:pPr marL="742950" lvl="1" indent="-285750">
              <a:buFont typeface="Wingdings" panose="05000000000000000000" pitchFamily="2" charset="2"/>
              <a:buChar char="v"/>
            </a:pPr>
            <a:r>
              <a:rPr lang="fr-FR" sz="1600" dirty="0">
                <a:solidFill>
                  <a:schemeClr val="tx1"/>
                </a:solidFill>
              </a:rPr>
              <a:t>ID</a:t>
            </a:r>
          </a:p>
          <a:p>
            <a:pPr marL="742950" lvl="1" indent="-285750">
              <a:buFont typeface="Wingdings" panose="05000000000000000000" pitchFamily="2" charset="2"/>
              <a:buChar char="v"/>
            </a:pPr>
            <a:r>
              <a:rPr lang="fr-FR" sz="1600" dirty="0">
                <a:solidFill>
                  <a:schemeClr val="tx1"/>
                </a:solidFill>
              </a:rPr>
              <a:t>Désignation</a:t>
            </a:r>
          </a:p>
          <a:p>
            <a:pPr marL="742950" lvl="1" indent="-285750">
              <a:buFont typeface="Wingdings" panose="05000000000000000000" pitchFamily="2" charset="2"/>
              <a:buChar char="v"/>
            </a:pPr>
            <a:r>
              <a:rPr lang="fr-FR" sz="1600" dirty="0">
                <a:solidFill>
                  <a:schemeClr val="tx1"/>
                </a:solidFill>
              </a:rPr>
              <a:t>Technique</a:t>
            </a:r>
          </a:p>
          <a:p>
            <a:pPr marL="742950" lvl="1" indent="-285750">
              <a:buFont typeface="Wingdings" panose="05000000000000000000" pitchFamily="2" charset="2"/>
              <a:buChar char="v"/>
            </a:pPr>
            <a:r>
              <a:rPr lang="fr-FR" sz="1600" dirty="0">
                <a:solidFill>
                  <a:schemeClr val="tx1"/>
                </a:solidFill>
              </a:rPr>
              <a:t>Tarifs (achat et vente)</a:t>
            </a:r>
          </a:p>
          <a:p>
            <a:pPr marL="742950" lvl="1" indent="-285750">
              <a:buFont typeface="Wingdings" panose="05000000000000000000" pitchFamily="2" charset="2"/>
              <a:buChar char="v"/>
            </a:pPr>
            <a:r>
              <a:rPr lang="fr-FR" sz="1600" dirty="0">
                <a:solidFill>
                  <a:schemeClr val="tx1"/>
                </a:solidFill>
              </a:rPr>
              <a:t>Dimensions, Volume, Poids</a:t>
            </a:r>
          </a:p>
          <a:p>
            <a:pPr marL="742950" lvl="1" indent="-285750">
              <a:buFont typeface="Wingdings" panose="05000000000000000000" pitchFamily="2" charset="2"/>
              <a:buChar char="v"/>
            </a:pPr>
            <a:r>
              <a:rPr lang="fr-FR" sz="1600" dirty="0">
                <a:solidFill>
                  <a:schemeClr val="tx1"/>
                </a:solidFill>
              </a:rPr>
              <a:t>Condition de Production</a:t>
            </a:r>
          </a:p>
          <a:p>
            <a:pPr marL="742950" lvl="1" indent="-285750">
              <a:buFont typeface="Wingdings" panose="05000000000000000000" pitchFamily="2" charset="2"/>
              <a:buChar char="v"/>
            </a:pPr>
            <a:r>
              <a:rPr lang="fr-FR" sz="1600" dirty="0">
                <a:solidFill>
                  <a:schemeClr val="tx1"/>
                </a:solidFill>
              </a:rPr>
              <a:t>Condition d’Emballage</a:t>
            </a:r>
          </a:p>
          <a:p>
            <a:pPr marL="742950" lvl="1" indent="-285750">
              <a:buFont typeface="Wingdings" panose="05000000000000000000" pitchFamily="2" charset="2"/>
              <a:buChar char="v"/>
            </a:pPr>
            <a:r>
              <a:rPr lang="fr-FR" sz="1600" dirty="0">
                <a:solidFill>
                  <a:schemeClr val="tx1"/>
                </a:solidFill>
              </a:rPr>
              <a:t>N° Lot, Date Limite Consommation</a:t>
            </a:r>
          </a:p>
          <a:p>
            <a:pPr marL="742950" lvl="1" indent="-285750">
              <a:buFont typeface="Wingdings" panose="05000000000000000000" pitchFamily="2" charset="2"/>
              <a:buChar char="v"/>
            </a:pPr>
            <a:r>
              <a:rPr lang="fr-FR" sz="1600" dirty="0">
                <a:solidFill>
                  <a:schemeClr val="tx1"/>
                </a:solidFill>
              </a:rPr>
              <a:t>etc.</a:t>
            </a:r>
          </a:p>
        </p:txBody>
      </p:sp>
      <p:sp>
        <p:nvSpPr>
          <p:cNvPr id="25" name="Rectangle 24">
            <a:extLst>
              <a:ext uri="{FF2B5EF4-FFF2-40B4-BE49-F238E27FC236}">
                <a16:creationId xmlns:a16="http://schemas.microsoft.com/office/drawing/2014/main" id="{1CEB6B81-B366-4899-ACA3-E9AFDE52E2A5}"/>
              </a:ext>
            </a:extLst>
          </p:cNvPr>
          <p:cNvSpPr/>
          <p:nvPr/>
        </p:nvSpPr>
        <p:spPr>
          <a:xfrm>
            <a:off x="7019686" y="402729"/>
            <a:ext cx="4774131" cy="271585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100" b="1" dirty="0">
              <a:solidFill>
                <a:srgbClr val="FF0000"/>
              </a:solidFill>
            </a:endParaRPr>
          </a:p>
          <a:p>
            <a:pPr algn="ctr"/>
            <a:r>
              <a:rPr lang="fr-FR" sz="1600" b="1" dirty="0">
                <a:solidFill>
                  <a:srgbClr val="FF0000"/>
                </a:solidFill>
              </a:rPr>
              <a:t>IMPORTANT</a:t>
            </a:r>
          </a:p>
          <a:p>
            <a:endParaRPr lang="fr-FR" sz="1100" dirty="0">
              <a:solidFill>
                <a:schemeClr val="tx1"/>
              </a:solidFill>
            </a:endParaRPr>
          </a:p>
          <a:p>
            <a:r>
              <a:rPr lang="fr-FR" sz="1600" dirty="0">
                <a:solidFill>
                  <a:schemeClr val="tx1"/>
                </a:solidFill>
              </a:rPr>
              <a:t>Les produits jouent un rôle primordial dans ce système.</a:t>
            </a:r>
          </a:p>
          <a:p>
            <a:r>
              <a:rPr lang="fr-FR" sz="1600" dirty="0">
                <a:solidFill>
                  <a:schemeClr val="tx1"/>
                </a:solidFill>
              </a:rPr>
              <a:t>Ce sont des éléments de base pour faire </a:t>
            </a:r>
          </a:p>
          <a:p>
            <a:pPr marL="742950" lvl="1" indent="-285750">
              <a:buFont typeface="Wingdings" panose="05000000000000000000" pitchFamily="2" charset="2"/>
              <a:buChar char="Ø"/>
            </a:pPr>
            <a:r>
              <a:rPr lang="fr-FR" sz="1600" dirty="0">
                <a:solidFill>
                  <a:schemeClr val="tx1"/>
                </a:solidFill>
              </a:rPr>
              <a:t>Devis</a:t>
            </a:r>
          </a:p>
          <a:p>
            <a:pPr marL="742950" lvl="1" indent="-285750">
              <a:buFont typeface="Wingdings" panose="05000000000000000000" pitchFamily="2" charset="2"/>
              <a:buChar char="Ø"/>
            </a:pPr>
            <a:r>
              <a:rPr lang="fr-FR" sz="1600" dirty="0">
                <a:solidFill>
                  <a:schemeClr val="tx1"/>
                </a:solidFill>
              </a:rPr>
              <a:t>Commande</a:t>
            </a:r>
          </a:p>
          <a:p>
            <a:pPr marL="742950" lvl="1" indent="-285750">
              <a:buFont typeface="Wingdings" panose="05000000000000000000" pitchFamily="2" charset="2"/>
              <a:buChar char="Ø"/>
            </a:pPr>
            <a:r>
              <a:rPr lang="fr-FR" sz="1600" dirty="0">
                <a:solidFill>
                  <a:schemeClr val="tx1"/>
                </a:solidFill>
              </a:rPr>
              <a:t>Préparation : Pick / Pack</a:t>
            </a:r>
          </a:p>
          <a:p>
            <a:pPr marL="742950" lvl="1" indent="-285750">
              <a:buFont typeface="Wingdings" panose="05000000000000000000" pitchFamily="2" charset="2"/>
              <a:buChar char="Ø"/>
            </a:pPr>
            <a:r>
              <a:rPr lang="fr-FR" sz="1600" dirty="0">
                <a:solidFill>
                  <a:schemeClr val="tx1"/>
                </a:solidFill>
              </a:rPr>
              <a:t>Livraison</a:t>
            </a:r>
          </a:p>
          <a:p>
            <a:pPr marL="742950" lvl="1" indent="-285750">
              <a:buFont typeface="Wingdings" panose="05000000000000000000" pitchFamily="2" charset="2"/>
              <a:buChar char="Ø"/>
            </a:pPr>
            <a:r>
              <a:rPr lang="fr-FR" sz="1600" dirty="0">
                <a:solidFill>
                  <a:schemeClr val="tx1"/>
                </a:solidFill>
              </a:rPr>
              <a:t>Facturation</a:t>
            </a:r>
          </a:p>
          <a:p>
            <a:pPr marL="742950" lvl="1" indent="-285750">
              <a:buFont typeface="Wingdings" panose="05000000000000000000" pitchFamily="2" charset="2"/>
              <a:buChar char="Ø"/>
            </a:pPr>
            <a:r>
              <a:rPr lang="fr-FR" sz="1600" dirty="0">
                <a:solidFill>
                  <a:schemeClr val="tx1"/>
                </a:solidFill>
              </a:rPr>
              <a:t>Approvisionnement</a:t>
            </a:r>
          </a:p>
        </p:txBody>
      </p:sp>
      <p:sp>
        <p:nvSpPr>
          <p:cNvPr id="3" name="Rectangle 2">
            <a:extLst>
              <a:ext uri="{FF2B5EF4-FFF2-40B4-BE49-F238E27FC236}">
                <a16:creationId xmlns:a16="http://schemas.microsoft.com/office/drawing/2014/main" id="{5033C871-71EC-38E0-D197-626CD2D3F583}"/>
              </a:ext>
            </a:extLst>
          </p:cNvPr>
          <p:cNvSpPr/>
          <p:nvPr/>
        </p:nvSpPr>
        <p:spPr>
          <a:xfrm>
            <a:off x="6870496" y="3223764"/>
            <a:ext cx="5072513" cy="152587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Entrepôt</a:t>
            </a:r>
          </a:p>
          <a:p>
            <a:pPr marL="171450" indent="-171450">
              <a:buFont typeface="Arial" panose="020B0604020202020204" pitchFamily="34" charset="0"/>
              <a:buChar char="•"/>
            </a:pPr>
            <a:r>
              <a:rPr lang="fr-FR" sz="1600" dirty="0">
                <a:solidFill>
                  <a:schemeClr val="tx1"/>
                </a:solidFill>
              </a:rPr>
              <a:t>ID</a:t>
            </a:r>
          </a:p>
          <a:p>
            <a:pPr marL="171450" indent="-171450">
              <a:buFont typeface="Arial" panose="020B0604020202020204" pitchFamily="34" charset="0"/>
              <a:buChar char="•"/>
            </a:pPr>
            <a:r>
              <a:rPr lang="fr-FR" sz="1600" dirty="0">
                <a:solidFill>
                  <a:schemeClr val="tx1"/>
                </a:solidFill>
              </a:rPr>
              <a:t>Nom</a:t>
            </a:r>
          </a:p>
          <a:p>
            <a:pPr marL="171450" indent="-171450">
              <a:buFont typeface="Arial" panose="020B0604020202020204" pitchFamily="34" charset="0"/>
              <a:buChar char="•"/>
            </a:pPr>
            <a:r>
              <a:rPr lang="fr-FR" sz="1600" dirty="0">
                <a:solidFill>
                  <a:schemeClr val="tx1"/>
                </a:solidFill>
              </a:rPr>
              <a:t>Adresse</a:t>
            </a:r>
          </a:p>
          <a:p>
            <a:pPr marL="171450" indent="-171450">
              <a:buFont typeface="Arial" panose="020B0604020202020204" pitchFamily="34" charset="0"/>
              <a:buChar char="•"/>
            </a:pPr>
            <a:r>
              <a:rPr lang="fr-FR" sz="1600" dirty="0">
                <a:solidFill>
                  <a:schemeClr val="tx1"/>
                </a:solidFill>
              </a:rPr>
              <a:t>Zone/Secteur, Allée/Rang, Colonne</a:t>
            </a:r>
          </a:p>
          <a:p>
            <a:pPr marL="171450" indent="-171450">
              <a:buFont typeface="Arial" panose="020B0604020202020204" pitchFamily="34" charset="0"/>
              <a:buChar char="•"/>
            </a:pPr>
            <a:r>
              <a:rPr lang="fr-FR" sz="1600" dirty="0">
                <a:solidFill>
                  <a:schemeClr val="tx1"/>
                </a:solidFill>
              </a:rPr>
              <a:t>Capacité : Surface, Volume, Nb Unité Logistique (Palette)</a:t>
            </a:r>
          </a:p>
        </p:txBody>
      </p:sp>
      <p:sp>
        <p:nvSpPr>
          <p:cNvPr id="5" name="Rectangle 4">
            <a:extLst>
              <a:ext uri="{FF2B5EF4-FFF2-40B4-BE49-F238E27FC236}">
                <a16:creationId xmlns:a16="http://schemas.microsoft.com/office/drawing/2014/main" id="{77582654-3BB3-021D-54B9-4CE43CD1270C}"/>
              </a:ext>
            </a:extLst>
          </p:cNvPr>
          <p:cNvSpPr/>
          <p:nvPr/>
        </p:nvSpPr>
        <p:spPr>
          <a:xfrm>
            <a:off x="6870496" y="4822256"/>
            <a:ext cx="5072513" cy="201649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Client / Fournisseur</a:t>
            </a:r>
          </a:p>
          <a:p>
            <a:endParaRPr lang="fr-FR" sz="1200" dirty="0">
              <a:solidFill>
                <a:schemeClr val="tx1"/>
              </a:solidFill>
            </a:endParaRPr>
          </a:p>
          <a:p>
            <a:pPr marL="171450" indent="-171450">
              <a:buFont typeface="Arial" panose="020B0604020202020204" pitchFamily="34" charset="0"/>
              <a:buChar char="•"/>
            </a:pPr>
            <a:r>
              <a:rPr lang="fr-FR" sz="1600" dirty="0">
                <a:solidFill>
                  <a:schemeClr val="tx1"/>
                </a:solidFill>
              </a:rPr>
              <a:t>ID</a:t>
            </a:r>
          </a:p>
          <a:p>
            <a:pPr marL="171450" indent="-171450">
              <a:buFont typeface="Arial" panose="020B0604020202020204" pitchFamily="34" charset="0"/>
              <a:buChar char="•"/>
            </a:pPr>
            <a:r>
              <a:rPr lang="fr-FR" sz="1600" dirty="0">
                <a:solidFill>
                  <a:schemeClr val="tx1"/>
                </a:solidFill>
              </a:rPr>
              <a:t>Raison Sociale</a:t>
            </a:r>
          </a:p>
          <a:p>
            <a:pPr marL="171450" indent="-171450">
              <a:buFont typeface="Arial" panose="020B0604020202020204" pitchFamily="34" charset="0"/>
              <a:buChar char="•"/>
            </a:pPr>
            <a:r>
              <a:rPr lang="fr-FR" sz="1600" dirty="0">
                <a:solidFill>
                  <a:schemeClr val="tx1"/>
                </a:solidFill>
              </a:rPr>
              <a:t>Adresse : Facturation et Livraison ou Construction</a:t>
            </a:r>
          </a:p>
          <a:p>
            <a:pPr marL="171450" indent="-171450">
              <a:buFont typeface="Arial" panose="020B0604020202020204" pitchFamily="34" charset="0"/>
              <a:buChar char="•"/>
            </a:pPr>
            <a:r>
              <a:rPr lang="fr-FR" sz="1600" dirty="0">
                <a:solidFill>
                  <a:schemeClr val="tx1"/>
                </a:solidFill>
              </a:rPr>
              <a:t>Contact : Représentant, Téléphone, Mail</a:t>
            </a:r>
          </a:p>
          <a:p>
            <a:pPr marL="171450" indent="-171450">
              <a:buFont typeface="Arial" panose="020B0604020202020204" pitchFamily="34" charset="0"/>
              <a:buChar char="•"/>
            </a:pPr>
            <a:r>
              <a:rPr lang="fr-FR" sz="1600" dirty="0">
                <a:solidFill>
                  <a:schemeClr val="tx1"/>
                </a:solidFill>
              </a:rPr>
              <a:t>N° TVA, SIRET</a:t>
            </a:r>
          </a:p>
          <a:p>
            <a:pPr marL="171450" indent="-171450">
              <a:buFont typeface="Arial" panose="020B0604020202020204" pitchFamily="34" charset="0"/>
              <a:buChar char="•"/>
            </a:pPr>
            <a:r>
              <a:rPr lang="fr-FR" sz="1600" dirty="0">
                <a:solidFill>
                  <a:schemeClr val="tx1"/>
                </a:solidFill>
              </a:rPr>
              <a:t>Horaires d’Ouverture</a:t>
            </a:r>
          </a:p>
        </p:txBody>
      </p:sp>
    </p:spTree>
    <p:extLst>
      <p:ext uri="{BB962C8B-B14F-4D97-AF65-F5344CB8AC3E}">
        <p14:creationId xmlns:p14="http://schemas.microsoft.com/office/powerpoint/2010/main" val="3897095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5000">
              <a:schemeClr val="accent1">
                <a:lumMod val="45000"/>
                <a:lumOff val="55000"/>
              </a:schemeClr>
            </a:gs>
            <a:gs pos="5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476491"/>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a:bodyPr>
          <a:lstStyle/>
          <a:p>
            <a:pPr algn="l">
              <a:defRPr/>
            </a:pPr>
            <a:r>
              <a:rPr lang="fr-FR" sz="2200" b="1" dirty="0"/>
              <a:t>Gestion de la Logistique – </a:t>
            </a:r>
            <a:r>
              <a:rPr lang="fr-FR" sz="2200" b="1" dirty="0">
                <a:solidFill>
                  <a:srgbClr val="FF0000"/>
                </a:solidFill>
              </a:rPr>
              <a:t>KIT (</a:t>
            </a:r>
            <a:r>
              <a:rPr lang="fr-FR" sz="1800" b="1" dirty="0">
                <a:solidFill>
                  <a:srgbClr val="FF0000"/>
                </a:solidFill>
              </a:rPr>
              <a:t>Produit Composé)</a:t>
            </a:r>
          </a:p>
        </p:txBody>
      </p:sp>
      <p:sp>
        <p:nvSpPr>
          <p:cNvPr id="13" name="ZoneTexte 12">
            <a:extLst>
              <a:ext uri="{FF2B5EF4-FFF2-40B4-BE49-F238E27FC236}">
                <a16:creationId xmlns:a16="http://schemas.microsoft.com/office/drawing/2014/main" id="{74F42BC6-00E1-DAA5-2F72-6753C67898F4}"/>
              </a:ext>
            </a:extLst>
          </p:cNvPr>
          <p:cNvSpPr txBox="1"/>
          <p:nvPr/>
        </p:nvSpPr>
        <p:spPr>
          <a:xfrm>
            <a:off x="2527179" y="1123997"/>
            <a:ext cx="1927465" cy="984885"/>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1600" b="1" dirty="0">
                <a:latin typeface="+mn-lt"/>
                <a:cs typeface="+mn-cs"/>
              </a:rPr>
              <a:t>Product Component</a:t>
            </a:r>
          </a:p>
          <a:p>
            <a:pPr marL="285750" indent="-285750" fontAlgn="auto">
              <a:spcBef>
                <a:spcPts val="0"/>
              </a:spcBef>
              <a:spcAft>
                <a:spcPts val="0"/>
              </a:spcAft>
              <a:buFont typeface="Arial" panose="020B0604020202020204" pitchFamily="34" charset="0"/>
              <a:buChar char="•"/>
              <a:defRPr/>
            </a:pPr>
            <a:r>
              <a:rPr lang="fr-FR" sz="1400" b="1" u="sng" dirty="0" err="1">
                <a:highlight>
                  <a:srgbClr val="FFFF00"/>
                </a:highlight>
                <a:latin typeface="+mn-lt"/>
                <a:cs typeface="+mn-cs"/>
              </a:rPr>
              <a:t>IdProduct</a:t>
            </a:r>
            <a:endParaRPr lang="fr-FR" sz="1400" b="1" u="sng"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err="1">
                <a:highlight>
                  <a:srgbClr val="C0C0C0"/>
                </a:highlight>
                <a:latin typeface="+mn-lt"/>
                <a:cs typeface="+mn-cs"/>
              </a:rPr>
              <a:t>IdSubProduct</a:t>
            </a:r>
            <a:endParaRPr lang="fr-FR" sz="1400" dirty="0">
              <a:highlight>
                <a:srgbClr val="C0C0C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err="1">
                <a:solidFill>
                  <a:schemeClr val="accent1">
                    <a:lumMod val="75000"/>
                  </a:schemeClr>
                </a:solidFill>
                <a:latin typeface="+mn-lt"/>
                <a:cs typeface="+mn-cs"/>
              </a:rPr>
              <a:t>Quantity</a:t>
            </a:r>
            <a:endParaRPr lang="fr-FR" sz="1400" dirty="0">
              <a:solidFill>
                <a:schemeClr val="accent1">
                  <a:lumMod val="75000"/>
                </a:schemeClr>
              </a:solidFill>
              <a:latin typeface="+mn-lt"/>
              <a:cs typeface="+mn-cs"/>
            </a:endParaRPr>
          </a:p>
        </p:txBody>
      </p:sp>
      <p:sp>
        <p:nvSpPr>
          <p:cNvPr id="14" name="ZoneTexte 13">
            <a:extLst>
              <a:ext uri="{FF2B5EF4-FFF2-40B4-BE49-F238E27FC236}">
                <a16:creationId xmlns:a16="http://schemas.microsoft.com/office/drawing/2014/main" id="{57FC4A26-9C0C-BD4A-70D4-C3F94612CC02}"/>
              </a:ext>
            </a:extLst>
          </p:cNvPr>
          <p:cNvSpPr txBox="1"/>
          <p:nvPr/>
        </p:nvSpPr>
        <p:spPr>
          <a:xfrm>
            <a:off x="400967" y="1079987"/>
            <a:ext cx="1540300" cy="104644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latin typeface="+mn-lt"/>
                <a:cs typeface="+mn-cs"/>
              </a:rPr>
              <a:t>Product</a:t>
            </a:r>
          </a:p>
          <a:p>
            <a:pPr marL="285750" indent="-285750" fontAlgn="auto">
              <a:spcBef>
                <a:spcPts val="0"/>
              </a:spcBef>
              <a:spcAft>
                <a:spcPts val="0"/>
              </a:spcAft>
              <a:buFont typeface="Arial" panose="020B0604020202020204" pitchFamily="34" charset="0"/>
              <a:buChar char="•"/>
              <a:defRPr/>
            </a:pPr>
            <a:r>
              <a:rPr lang="fr-FR" sz="1400" b="1" u="sng" dirty="0">
                <a:highlight>
                  <a:srgbClr val="FFFF0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Designation</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p:txBody>
      </p:sp>
      <p:sp>
        <p:nvSpPr>
          <p:cNvPr id="16" name="ZoneTexte 15">
            <a:extLst>
              <a:ext uri="{FF2B5EF4-FFF2-40B4-BE49-F238E27FC236}">
                <a16:creationId xmlns:a16="http://schemas.microsoft.com/office/drawing/2014/main" id="{AC6E0C5C-E18D-03C4-4691-53EE17FD93FA}"/>
              </a:ext>
            </a:extLst>
          </p:cNvPr>
          <p:cNvSpPr txBox="1"/>
          <p:nvPr/>
        </p:nvSpPr>
        <p:spPr>
          <a:xfrm>
            <a:off x="4971490" y="1283918"/>
            <a:ext cx="1647264" cy="144655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latin typeface="+mn-lt"/>
                <a:cs typeface="+mn-cs"/>
              </a:rPr>
              <a:t>Product</a:t>
            </a:r>
          </a:p>
          <a:p>
            <a:pPr marL="285750" indent="-285750" fontAlgn="auto">
              <a:spcBef>
                <a:spcPts val="0"/>
              </a:spcBef>
              <a:spcAft>
                <a:spcPts val="0"/>
              </a:spcAft>
              <a:buFont typeface="Arial" panose="020B0604020202020204" pitchFamily="34" charset="0"/>
              <a:buChar char="•"/>
              <a:defRPr/>
            </a:pPr>
            <a:r>
              <a:rPr lang="fr-FR" sz="1400" b="1" u="sng" dirty="0">
                <a:highlight>
                  <a:srgbClr val="C0C0C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Designation</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Price Unit</a:t>
            </a: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a:p>
            <a:pPr fontAlgn="auto">
              <a:spcBef>
                <a:spcPts val="0"/>
              </a:spcBef>
              <a:spcAft>
                <a:spcPts val="0"/>
              </a:spcAft>
              <a:defRPr/>
            </a:pPr>
            <a:endParaRPr lang="fr-FR" sz="1200" dirty="0">
              <a:latin typeface="+mn-lt"/>
              <a:cs typeface="+mn-cs"/>
            </a:endParaRPr>
          </a:p>
        </p:txBody>
      </p:sp>
      <p:cxnSp>
        <p:nvCxnSpPr>
          <p:cNvPr id="19" name="Connecteur droit avec flèche 18">
            <a:extLst>
              <a:ext uri="{FF2B5EF4-FFF2-40B4-BE49-F238E27FC236}">
                <a16:creationId xmlns:a16="http://schemas.microsoft.com/office/drawing/2014/main" id="{250F18D4-0F14-3F0E-D287-F86F52AFC7BC}"/>
              </a:ext>
            </a:extLst>
          </p:cNvPr>
          <p:cNvCxnSpPr>
            <a:cxnSpLocks/>
          </p:cNvCxnSpPr>
          <p:nvPr/>
        </p:nvCxnSpPr>
        <p:spPr>
          <a:xfrm>
            <a:off x="1438177" y="1526066"/>
            <a:ext cx="1159240" cy="0"/>
          </a:xfrm>
          <a:prstGeom prst="straightConnector1">
            <a:avLst/>
          </a:prstGeom>
          <a:ln w="4445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Bulle narrative : rectangle 20">
            <a:extLst>
              <a:ext uri="{FF2B5EF4-FFF2-40B4-BE49-F238E27FC236}">
                <a16:creationId xmlns:a16="http://schemas.microsoft.com/office/drawing/2014/main" id="{0598E70E-2BEE-1EB8-55F5-BC460CF76862}"/>
              </a:ext>
            </a:extLst>
          </p:cNvPr>
          <p:cNvSpPr/>
          <p:nvPr/>
        </p:nvSpPr>
        <p:spPr>
          <a:xfrm>
            <a:off x="1339906" y="4331463"/>
            <a:ext cx="4146494" cy="1446550"/>
          </a:xfrm>
          <a:prstGeom prst="wedgeRectCallout">
            <a:avLst>
              <a:gd name="adj1" fmla="val -15884"/>
              <a:gd name="adj2" fmla="val -8834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600" b="1" u="sng" dirty="0">
                <a:solidFill>
                  <a:schemeClr val="tx1"/>
                </a:solidFill>
              </a:rPr>
              <a:t>KIT </a:t>
            </a:r>
            <a:r>
              <a:rPr lang="fr-FR" sz="1600" dirty="0">
                <a:solidFill>
                  <a:schemeClr val="tx1"/>
                </a:solidFill>
              </a:rPr>
              <a:t>est un produit composé par un ensemble de sous-produits pour avoir </a:t>
            </a:r>
          </a:p>
          <a:p>
            <a:pPr marL="285750" indent="-285750">
              <a:buFont typeface="Arial" panose="020B0604020202020204" pitchFamily="34" charset="0"/>
              <a:buChar char="•"/>
            </a:pPr>
            <a:r>
              <a:rPr lang="fr-FR" sz="1400" dirty="0">
                <a:solidFill>
                  <a:schemeClr val="tx1"/>
                </a:solidFill>
              </a:rPr>
              <a:t>un produit fini</a:t>
            </a:r>
          </a:p>
          <a:p>
            <a:pPr marL="285750" indent="-285750">
              <a:buFont typeface="Arial" panose="020B0604020202020204" pitchFamily="34" charset="0"/>
              <a:buChar char="•"/>
            </a:pPr>
            <a:r>
              <a:rPr lang="fr-FR" sz="1400" dirty="0">
                <a:solidFill>
                  <a:schemeClr val="tx1"/>
                </a:solidFill>
              </a:rPr>
              <a:t>Produit semi-fini</a:t>
            </a:r>
          </a:p>
          <a:p>
            <a:pPr marL="285750" indent="-285750">
              <a:buFont typeface="Arial" panose="020B0604020202020204" pitchFamily="34" charset="0"/>
              <a:buChar char="•"/>
            </a:pPr>
            <a:r>
              <a:rPr lang="fr-FR" sz="1400" dirty="0">
                <a:solidFill>
                  <a:schemeClr val="tx1"/>
                </a:solidFill>
              </a:rPr>
              <a:t>kit</a:t>
            </a:r>
          </a:p>
        </p:txBody>
      </p:sp>
      <p:cxnSp>
        <p:nvCxnSpPr>
          <p:cNvPr id="15" name="Connecteur droit avec flèche 14">
            <a:extLst>
              <a:ext uri="{FF2B5EF4-FFF2-40B4-BE49-F238E27FC236}">
                <a16:creationId xmlns:a16="http://schemas.microsoft.com/office/drawing/2014/main" id="{DF1E3036-5D80-E5EF-E7BD-C05CC0438992}"/>
              </a:ext>
            </a:extLst>
          </p:cNvPr>
          <p:cNvCxnSpPr>
            <a:cxnSpLocks/>
          </p:cNvCxnSpPr>
          <p:nvPr/>
        </p:nvCxnSpPr>
        <p:spPr>
          <a:xfrm>
            <a:off x="4048788" y="1761233"/>
            <a:ext cx="1018695" cy="0"/>
          </a:xfrm>
          <a:prstGeom prst="straightConnector1">
            <a:avLst/>
          </a:prstGeom>
          <a:ln w="4445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1" name="Groupe 40">
            <a:extLst>
              <a:ext uri="{FF2B5EF4-FFF2-40B4-BE49-F238E27FC236}">
                <a16:creationId xmlns:a16="http://schemas.microsoft.com/office/drawing/2014/main" id="{FB761163-5551-7590-9343-2866BFE1C69E}"/>
              </a:ext>
            </a:extLst>
          </p:cNvPr>
          <p:cNvGrpSpPr/>
          <p:nvPr/>
        </p:nvGrpSpPr>
        <p:grpSpPr>
          <a:xfrm>
            <a:off x="6834864" y="2698417"/>
            <a:ext cx="5313441" cy="4110942"/>
            <a:chOff x="6834864" y="2698417"/>
            <a:chExt cx="5313441" cy="4110942"/>
          </a:xfrm>
        </p:grpSpPr>
        <p:sp>
          <p:nvSpPr>
            <p:cNvPr id="27" name="Rectangle 26">
              <a:extLst>
                <a:ext uri="{FF2B5EF4-FFF2-40B4-BE49-F238E27FC236}">
                  <a16:creationId xmlns:a16="http://schemas.microsoft.com/office/drawing/2014/main" id="{92204E8A-B361-B3E9-DB16-D4F809D5D1DA}"/>
                </a:ext>
              </a:extLst>
            </p:cNvPr>
            <p:cNvSpPr/>
            <p:nvPr/>
          </p:nvSpPr>
          <p:spPr>
            <a:xfrm>
              <a:off x="6834864" y="2698417"/>
              <a:ext cx="5313441" cy="4110942"/>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Produit / Procédure</a:t>
              </a:r>
            </a:p>
            <a:p>
              <a:pPr marL="742950" lvl="1" indent="-285750">
                <a:buFont typeface="Wingdings" panose="05000000000000000000" pitchFamily="2" charset="2"/>
                <a:buChar char="Ø"/>
              </a:pPr>
              <a:r>
                <a:rPr lang="fr-FR" sz="1400" dirty="0">
                  <a:solidFill>
                    <a:schemeClr val="tx1"/>
                  </a:solidFill>
                </a:rPr>
                <a:t>Produit/Travail : Désignation, …</a:t>
              </a:r>
            </a:p>
            <a:p>
              <a:pPr marL="742950" lvl="1" indent="-285750">
                <a:buFont typeface="Wingdings" panose="05000000000000000000" pitchFamily="2" charset="2"/>
                <a:buChar char="Ø"/>
              </a:pPr>
              <a:r>
                <a:rPr lang="fr-FR" sz="1400" dirty="0">
                  <a:solidFill>
                    <a:schemeClr val="tx1"/>
                  </a:solidFill>
                </a:rPr>
                <a:t>Totaux : Prix, Poids, Volume, …</a:t>
              </a:r>
            </a:p>
            <a:p>
              <a:pPr algn="ctr"/>
              <a:endParaRPr lang="fr-FR" sz="1600" dirty="0">
                <a:solidFill>
                  <a:schemeClr val="tx1"/>
                </a:solidFill>
              </a:endParaRPr>
            </a:p>
            <a:p>
              <a:pPr algn="ctr"/>
              <a:r>
                <a:rPr lang="fr-FR" sz="1600" dirty="0">
                  <a:solidFill>
                    <a:schemeClr val="tx1"/>
                  </a:solidFill>
                </a:rPr>
                <a:t>===============================================</a:t>
              </a:r>
            </a:p>
            <a:p>
              <a:pPr marL="742950" lvl="1" indent="-285750">
                <a:buFont typeface="Wingdings" panose="05000000000000000000" pitchFamily="2" charset="2"/>
                <a:buChar char="Ø"/>
              </a:pPr>
              <a:r>
                <a:rPr lang="fr-FR" sz="1600" dirty="0">
                  <a:solidFill>
                    <a:schemeClr val="tx1"/>
                  </a:solidFill>
                </a:rPr>
                <a:t>Les composants (sous produits)</a:t>
              </a:r>
            </a:p>
          </p:txBody>
        </p:sp>
        <p:pic>
          <p:nvPicPr>
            <p:cNvPr id="39" name="Image 38">
              <a:extLst>
                <a:ext uri="{FF2B5EF4-FFF2-40B4-BE49-F238E27FC236}">
                  <a16:creationId xmlns:a16="http://schemas.microsoft.com/office/drawing/2014/main" id="{321405EF-13A3-4037-6164-CE36B5678807}"/>
                </a:ext>
              </a:extLst>
            </p:cNvPr>
            <p:cNvPicPr>
              <a:picLocks noChangeAspect="1"/>
            </p:cNvPicPr>
            <p:nvPr/>
          </p:nvPicPr>
          <p:blipFill>
            <a:blip r:embed="rId3"/>
            <a:stretch>
              <a:fillRect/>
            </a:stretch>
          </p:blipFill>
          <p:spPr>
            <a:xfrm>
              <a:off x="6847447" y="4375472"/>
              <a:ext cx="5295708" cy="2398910"/>
            </a:xfrm>
            <a:prstGeom prst="rect">
              <a:avLst/>
            </a:prstGeom>
          </p:spPr>
        </p:pic>
      </p:grpSp>
    </p:spTree>
    <p:extLst>
      <p:ext uri="{BB962C8B-B14F-4D97-AF65-F5344CB8AC3E}">
        <p14:creationId xmlns:p14="http://schemas.microsoft.com/office/powerpoint/2010/main" val="1097173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F0AF01B-8DB2-DED0-2715-9550DF681AB5}"/>
              </a:ext>
            </a:extLst>
          </p:cNvPr>
          <p:cNvPicPr>
            <a:picLocks noChangeAspect="1"/>
          </p:cNvPicPr>
          <p:nvPr/>
        </p:nvPicPr>
        <p:blipFill>
          <a:blip r:embed="rId3"/>
          <a:stretch>
            <a:fillRect/>
          </a:stretch>
        </p:blipFill>
        <p:spPr>
          <a:xfrm>
            <a:off x="0" y="486268"/>
            <a:ext cx="8407656" cy="4750295"/>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Produit Composé</a:t>
            </a:r>
          </a:p>
        </p:txBody>
      </p:sp>
      <p:pic>
        <p:nvPicPr>
          <p:cNvPr id="30" name="Image 29">
            <a:extLst>
              <a:ext uri="{FF2B5EF4-FFF2-40B4-BE49-F238E27FC236}">
                <a16:creationId xmlns:a16="http://schemas.microsoft.com/office/drawing/2014/main" id="{67B60C03-EBC8-870F-B162-4513A4446E48}"/>
              </a:ext>
            </a:extLst>
          </p:cNvPr>
          <p:cNvPicPr>
            <a:picLocks noChangeAspect="1"/>
          </p:cNvPicPr>
          <p:nvPr/>
        </p:nvPicPr>
        <p:blipFill>
          <a:blip r:embed="rId4"/>
          <a:stretch>
            <a:fillRect/>
          </a:stretch>
        </p:blipFill>
        <p:spPr>
          <a:xfrm>
            <a:off x="5051073" y="2146934"/>
            <a:ext cx="2666392" cy="1815302"/>
          </a:xfrm>
          <a:prstGeom prst="rect">
            <a:avLst/>
          </a:prstGeom>
        </p:spPr>
      </p:pic>
      <p:sp>
        <p:nvSpPr>
          <p:cNvPr id="35" name="Rectangle 34">
            <a:extLst>
              <a:ext uri="{FF2B5EF4-FFF2-40B4-BE49-F238E27FC236}">
                <a16:creationId xmlns:a16="http://schemas.microsoft.com/office/drawing/2014/main" id="{8DC25948-D17D-4A66-6D00-24AA21067A17}"/>
              </a:ext>
            </a:extLst>
          </p:cNvPr>
          <p:cNvSpPr/>
          <p:nvPr/>
        </p:nvSpPr>
        <p:spPr>
          <a:xfrm>
            <a:off x="5149688" y="2177582"/>
            <a:ext cx="2469720" cy="480240"/>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35">
            <a:extLst>
              <a:ext uri="{FF2B5EF4-FFF2-40B4-BE49-F238E27FC236}">
                <a16:creationId xmlns:a16="http://schemas.microsoft.com/office/drawing/2014/main" id="{2C37CE34-8797-67B1-2635-EF1E9724E86C}"/>
              </a:ext>
            </a:extLst>
          </p:cNvPr>
          <p:cNvSpPr/>
          <p:nvPr/>
        </p:nvSpPr>
        <p:spPr>
          <a:xfrm>
            <a:off x="5149687" y="2683452"/>
            <a:ext cx="2469721" cy="25531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B3DC499F-E7DD-249A-1A88-9BDE834C5887}"/>
              </a:ext>
            </a:extLst>
          </p:cNvPr>
          <p:cNvSpPr/>
          <p:nvPr/>
        </p:nvSpPr>
        <p:spPr>
          <a:xfrm>
            <a:off x="5149687" y="2964399"/>
            <a:ext cx="2469721" cy="955179"/>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Organigramme : Multidocument 37">
            <a:extLst>
              <a:ext uri="{FF2B5EF4-FFF2-40B4-BE49-F238E27FC236}">
                <a16:creationId xmlns:a16="http://schemas.microsoft.com/office/drawing/2014/main" id="{2C5F2E47-8482-B457-BC43-B64003D2A475}"/>
              </a:ext>
            </a:extLst>
          </p:cNvPr>
          <p:cNvSpPr/>
          <p:nvPr/>
        </p:nvSpPr>
        <p:spPr>
          <a:xfrm>
            <a:off x="8076762" y="2612587"/>
            <a:ext cx="3908885" cy="781778"/>
          </a:xfrm>
          <a:prstGeom prst="flowChartMultidocument">
            <a:avLst/>
          </a:prstGeom>
          <a:solidFill>
            <a:schemeClr val="accent1">
              <a:lumMod val="20000"/>
              <a:lumOff val="80000"/>
            </a:schemeClr>
          </a:solid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Impressions des documents de Produit</a:t>
            </a:r>
          </a:p>
        </p:txBody>
      </p:sp>
      <p:sp>
        <p:nvSpPr>
          <p:cNvPr id="39" name="Bulle narrative : rectangle 38">
            <a:extLst>
              <a:ext uri="{FF2B5EF4-FFF2-40B4-BE49-F238E27FC236}">
                <a16:creationId xmlns:a16="http://schemas.microsoft.com/office/drawing/2014/main" id="{7C2D2D50-D5A8-BD41-E464-513F376FC592}"/>
              </a:ext>
            </a:extLst>
          </p:cNvPr>
          <p:cNvSpPr/>
          <p:nvPr/>
        </p:nvSpPr>
        <p:spPr>
          <a:xfrm>
            <a:off x="8076762" y="3482774"/>
            <a:ext cx="3908885" cy="379146"/>
          </a:xfrm>
          <a:prstGeom prst="wedgeRectCallout">
            <a:avLst>
              <a:gd name="adj1" fmla="val -62654"/>
              <a:gd name="adj2" fmla="val -25024"/>
            </a:avLst>
          </a:prstGeom>
          <a:solidFill>
            <a:schemeClr val="accent1">
              <a:lumMod val="20000"/>
              <a:lumOff val="80000"/>
            </a:schemeClr>
          </a:solid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Gestion Produit</a:t>
            </a:r>
          </a:p>
        </p:txBody>
      </p:sp>
      <p:sp>
        <p:nvSpPr>
          <p:cNvPr id="40" name="Bulle narrative : rectangle 39">
            <a:extLst>
              <a:ext uri="{FF2B5EF4-FFF2-40B4-BE49-F238E27FC236}">
                <a16:creationId xmlns:a16="http://schemas.microsoft.com/office/drawing/2014/main" id="{B145BE9A-C1DD-7649-5B41-7AA858C5527F}"/>
              </a:ext>
            </a:extLst>
          </p:cNvPr>
          <p:cNvSpPr/>
          <p:nvPr/>
        </p:nvSpPr>
        <p:spPr>
          <a:xfrm>
            <a:off x="8076763" y="1973286"/>
            <a:ext cx="3908885" cy="420477"/>
          </a:xfrm>
          <a:prstGeom prst="wedgeRectCallout">
            <a:avLst>
              <a:gd name="adj1" fmla="val -62393"/>
              <a:gd name="adj2" fmla="val 47437"/>
            </a:avLst>
          </a:prstGeom>
          <a:solidFill>
            <a:schemeClr val="accent1">
              <a:lumMod val="20000"/>
              <a:lumOff val="80000"/>
            </a:schemeClr>
          </a:solid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Gestion Composant de Produit</a:t>
            </a:r>
          </a:p>
        </p:txBody>
      </p:sp>
      <p:sp>
        <p:nvSpPr>
          <p:cNvPr id="43" name="Rectangle 42">
            <a:extLst>
              <a:ext uri="{FF2B5EF4-FFF2-40B4-BE49-F238E27FC236}">
                <a16:creationId xmlns:a16="http://schemas.microsoft.com/office/drawing/2014/main" id="{F8591BB1-BD53-95A7-1C1F-4AC4C149B87F}"/>
              </a:ext>
            </a:extLst>
          </p:cNvPr>
          <p:cNvSpPr/>
          <p:nvPr/>
        </p:nvSpPr>
        <p:spPr>
          <a:xfrm>
            <a:off x="472116" y="2346779"/>
            <a:ext cx="3500333" cy="300169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Produit/Projet</a:t>
            </a:r>
          </a:p>
          <a:p>
            <a:r>
              <a:rPr lang="fr-FR" sz="1200" dirty="0">
                <a:solidFill>
                  <a:schemeClr val="tx1"/>
                </a:solidFill>
              </a:rPr>
              <a:t>Un Produit ou un Projet de travaux est composé de plusieurs éléments que peut être un article physique (produit industriel, alimentaire, etc.)  ou une prestation de service (pose, installation, production, transport, emballage, etc.).</a:t>
            </a:r>
          </a:p>
          <a:p>
            <a:endParaRPr lang="fr-FR" sz="1200" dirty="0">
              <a:solidFill>
                <a:schemeClr val="tx1"/>
              </a:solidFill>
            </a:endParaRPr>
          </a:p>
          <a:p>
            <a:pPr marL="171450" indent="-171450">
              <a:buFont typeface="Arial" panose="020B0604020202020204" pitchFamily="34" charset="0"/>
              <a:buChar char="•"/>
            </a:pPr>
            <a:r>
              <a:rPr lang="fr-FR" sz="1400" dirty="0">
                <a:solidFill>
                  <a:schemeClr val="tx1"/>
                </a:solidFill>
              </a:rPr>
              <a:t>ID</a:t>
            </a:r>
          </a:p>
          <a:p>
            <a:pPr marL="171450" indent="-171450">
              <a:buFont typeface="Arial" panose="020B0604020202020204" pitchFamily="34" charset="0"/>
              <a:buChar char="•"/>
            </a:pPr>
            <a:r>
              <a:rPr lang="fr-FR" sz="1400" dirty="0">
                <a:solidFill>
                  <a:schemeClr val="tx1"/>
                </a:solidFill>
              </a:rPr>
              <a:t>Description</a:t>
            </a:r>
          </a:p>
          <a:p>
            <a:pPr marL="171450" indent="-171450">
              <a:buFont typeface="Arial" panose="020B0604020202020204" pitchFamily="34" charset="0"/>
              <a:buChar char="•"/>
            </a:pPr>
            <a:r>
              <a:rPr lang="fr-FR" sz="1400" dirty="0">
                <a:solidFill>
                  <a:schemeClr val="tx1"/>
                </a:solidFill>
              </a:rPr>
              <a:t>Les mesures (dimension, poids, durée, etc.)</a:t>
            </a:r>
          </a:p>
          <a:p>
            <a:pPr marL="171450" indent="-171450">
              <a:buFont typeface="Arial" panose="020B0604020202020204" pitchFamily="34" charset="0"/>
              <a:buChar char="•"/>
            </a:pPr>
            <a:r>
              <a:rPr lang="fr-FR" sz="1400" dirty="0">
                <a:solidFill>
                  <a:schemeClr val="tx1"/>
                </a:solidFill>
              </a:rPr>
              <a:t>Les Totaux : </a:t>
            </a:r>
          </a:p>
          <a:p>
            <a:pPr marL="742950" lvl="1" indent="-285750">
              <a:buFont typeface="Wingdings" panose="05000000000000000000" pitchFamily="2" charset="2"/>
              <a:buChar char="ü"/>
            </a:pPr>
            <a:r>
              <a:rPr lang="fr-FR" sz="1400" dirty="0">
                <a:solidFill>
                  <a:schemeClr val="tx1"/>
                </a:solidFill>
              </a:rPr>
              <a:t>Quantité/Poids/Volume</a:t>
            </a:r>
          </a:p>
          <a:p>
            <a:pPr marL="742950" lvl="1" indent="-285750">
              <a:buFont typeface="Wingdings" panose="05000000000000000000" pitchFamily="2" charset="2"/>
              <a:buChar char="ü"/>
            </a:pPr>
            <a:r>
              <a:rPr lang="fr-FR" sz="1400" dirty="0">
                <a:solidFill>
                  <a:schemeClr val="tx1"/>
                </a:solidFill>
              </a:rPr>
              <a:t>Nb Composants</a:t>
            </a:r>
          </a:p>
          <a:p>
            <a:pPr marL="742950" lvl="1" indent="-285750">
              <a:buFont typeface="Wingdings" panose="05000000000000000000" pitchFamily="2" charset="2"/>
              <a:buChar char="ü"/>
            </a:pPr>
            <a:r>
              <a:rPr lang="fr-FR" sz="1400" dirty="0">
                <a:solidFill>
                  <a:schemeClr val="tx1"/>
                </a:solidFill>
              </a:rPr>
              <a:t>Prix</a:t>
            </a:r>
          </a:p>
        </p:txBody>
      </p:sp>
      <p:pic>
        <p:nvPicPr>
          <p:cNvPr id="45" name="Image 44">
            <a:extLst>
              <a:ext uri="{FF2B5EF4-FFF2-40B4-BE49-F238E27FC236}">
                <a16:creationId xmlns:a16="http://schemas.microsoft.com/office/drawing/2014/main" id="{98D29DAC-128A-1F3C-758B-8AFF8FC24001}"/>
              </a:ext>
            </a:extLst>
          </p:cNvPr>
          <p:cNvPicPr>
            <a:picLocks noChangeAspect="1"/>
          </p:cNvPicPr>
          <p:nvPr/>
        </p:nvPicPr>
        <p:blipFill>
          <a:blip r:embed="rId5"/>
          <a:stretch>
            <a:fillRect/>
          </a:stretch>
        </p:blipFill>
        <p:spPr>
          <a:xfrm>
            <a:off x="4026744" y="4023757"/>
            <a:ext cx="5546973" cy="2798718"/>
          </a:xfrm>
          <a:prstGeom prst="rect">
            <a:avLst/>
          </a:prstGeom>
        </p:spPr>
      </p:pic>
      <p:sp>
        <p:nvSpPr>
          <p:cNvPr id="42" name="Rectangle 41">
            <a:extLst>
              <a:ext uri="{FF2B5EF4-FFF2-40B4-BE49-F238E27FC236}">
                <a16:creationId xmlns:a16="http://schemas.microsoft.com/office/drawing/2014/main" id="{F0AA665F-37EC-FEC9-D3D0-FC8718AB29C4}"/>
              </a:ext>
            </a:extLst>
          </p:cNvPr>
          <p:cNvSpPr/>
          <p:nvPr/>
        </p:nvSpPr>
        <p:spPr>
          <a:xfrm>
            <a:off x="7770363" y="5147761"/>
            <a:ext cx="2353210" cy="143638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Composant</a:t>
            </a:r>
          </a:p>
          <a:p>
            <a:endParaRPr lang="fr-FR" sz="1200" dirty="0">
              <a:solidFill>
                <a:schemeClr val="tx1"/>
              </a:solidFill>
            </a:endParaRPr>
          </a:p>
          <a:p>
            <a:pPr marL="171450" indent="-171450">
              <a:buFont typeface="Arial" panose="020B0604020202020204" pitchFamily="34" charset="0"/>
              <a:buChar char="•"/>
            </a:pPr>
            <a:r>
              <a:rPr lang="fr-FR" sz="1200" dirty="0">
                <a:solidFill>
                  <a:schemeClr val="tx1"/>
                </a:solidFill>
              </a:rPr>
              <a:t>ID Composant</a:t>
            </a:r>
          </a:p>
          <a:p>
            <a:pPr marL="171450" indent="-171450">
              <a:buFont typeface="Arial" panose="020B0604020202020204" pitchFamily="34" charset="0"/>
              <a:buChar char="•"/>
            </a:pPr>
            <a:r>
              <a:rPr lang="fr-FR" sz="1200" dirty="0">
                <a:solidFill>
                  <a:schemeClr val="tx1"/>
                </a:solidFill>
              </a:rPr>
              <a:t>Quantité</a:t>
            </a:r>
          </a:p>
          <a:p>
            <a:pPr marL="171450" indent="-171450">
              <a:buFont typeface="Arial" panose="020B0604020202020204" pitchFamily="34" charset="0"/>
              <a:buChar char="•"/>
            </a:pPr>
            <a:r>
              <a:rPr lang="fr-FR" sz="1200" dirty="0">
                <a:solidFill>
                  <a:schemeClr val="tx1"/>
                </a:solidFill>
              </a:rPr>
              <a:t>Les mesures par pièce</a:t>
            </a:r>
          </a:p>
          <a:p>
            <a:pPr marL="171450" indent="-171450">
              <a:buFont typeface="Arial" panose="020B0604020202020204" pitchFamily="34" charset="0"/>
              <a:buChar char="•"/>
            </a:pPr>
            <a:r>
              <a:rPr lang="fr-FR" sz="1200" dirty="0">
                <a:solidFill>
                  <a:schemeClr val="tx1"/>
                </a:solidFill>
              </a:rPr>
              <a:t>Ordre des composants</a:t>
            </a:r>
          </a:p>
          <a:p>
            <a:pPr marL="171450" indent="-171450">
              <a:buFont typeface="Arial" panose="020B0604020202020204" pitchFamily="34" charset="0"/>
              <a:buChar char="•"/>
            </a:pPr>
            <a:r>
              <a:rPr lang="fr-FR" sz="1200" dirty="0">
                <a:solidFill>
                  <a:schemeClr val="tx1"/>
                </a:solidFill>
              </a:rPr>
              <a:t>Etc.</a:t>
            </a:r>
          </a:p>
        </p:txBody>
      </p:sp>
    </p:spTree>
    <p:extLst>
      <p:ext uri="{BB962C8B-B14F-4D97-AF65-F5344CB8AC3E}">
        <p14:creationId xmlns:p14="http://schemas.microsoft.com/office/powerpoint/2010/main" val="294563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D0DE692-DBE2-4969-9A0D-FC98047E36CF}"/>
              </a:ext>
            </a:extLst>
          </p:cNvPr>
          <p:cNvPicPr>
            <a:picLocks noChangeAspect="1"/>
          </p:cNvPicPr>
          <p:nvPr/>
        </p:nvPicPr>
        <p:blipFill>
          <a:blip r:embed="rId3">
            <a:alphaModFix amt="49000"/>
          </a:blip>
          <a:stretch>
            <a:fillRect/>
          </a:stretch>
        </p:blipFill>
        <p:spPr>
          <a:xfrm>
            <a:off x="0" y="294933"/>
            <a:ext cx="12192000" cy="6563067"/>
          </a:xfrm>
          <a:prstGeom prst="rect">
            <a:avLst/>
          </a:prstGeom>
        </p:spPr>
      </p:pic>
      <p:pic>
        <p:nvPicPr>
          <p:cNvPr id="5" name="Image 4">
            <a:extLst>
              <a:ext uri="{FF2B5EF4-FFF2-40B4-BE49-F238E27FC236}">
                <a16:creationId xmlns:a16="http://schemas.microsoft.com/office/drawing/2014/main" id="{FF0AF01B-8DB2-DED0-2715-9550DF681AB5}"/>
              </a:ext>
            </a:extLst>
          </p:cNvPr>
          <p:cNvPicPr>
            <a:picLocks noChangeAspect="1"/>
          </p:cNvPicPr>
          <p:nvPr/>
        </p:nvPicPr>
        <p:blipFill>
          <a:blip r:embed="rId4"/>
          <a:stretch>
            <a:fillRect/>
          </a:stretch>
        </p:blipFill>
        <p:spPr>
          <a:xfrm>
            <a:off x="0" y="486269"/>
            <a:ext cx="6659016" cy="3762320"/>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Composition d’un Produit ou d’un Projet de Travail</a:t>
            </a:r>
          </a:p>
        </p:txBody>
      </p:sp>
      <p:sp>
        <p:nvSpPr>
          <p:cNvPr id="14" name="Rectangle 13">
            <a:extLst>
              <a:ext uri="{FF2B5EF4-FFF2-40B4-BE49-F238E27FC236}">
                <a16:creationId xmlns:a16="http://schemas.microsoft.com/office/drawing/2014/main" id="{A7FDBB18-50C4-47AE-797A-1E835F4E8E3E}"/>
              </a:ext>
            </a:extLst>
          </p:cNvPr>
          <p:cNvSpPr/>
          <p:nvPr/>
        </p:nvSpPr>
        <p:spPr>
          <a:xfrm>
            <a:off x="743952" y="4666320"/>
            <a:ext cx="5055858" cy="151276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Modifier les composants</a:t>
            </a:r>
          </a:p>
          <a:p>
            <a:r>
              <a:rPr lang="fr-FR" sz="1400" dirty="0">
                <a:solidFill>
                  <a:schemeClr val="tx1"/>
                </a:solidFill>
              </a:rPr>
              <a:t>Une modification consiste à rajouter un composant, supprimer un composant ou modifier la quantité d’un composant. Cette modification doit être suivie d’une mise à jour de prix, poids, volume du produit étant la somme des prix, poids, volume respectivement des composants.</a:t>
            </a:r>
          </a:p>
        </p:txBody>
      </p:sp>
      <p:grpSp>
        <p:nvGrpSpPr>
          <p:cNvPr id="3" name="Groupe 2">
            <a:extLst>
              <a:ext uri="{FF2B5EF4-FFF2-40B4-BE49-F238E27FC236}">
                <a16:creationId xmlns:a16="http://schemas.microsoft.com/office/drawing/2014/main" id="{6C401502-79CC-CDE4-3C6F-E6C400B332B6}"/>
              </a:ext>
            </a:extLst>
          </p:cNvPr>
          <p:cNvGrpSpPr/>
          <p:nvPr/>
        </p:nvGrpSpPr>
        <p:grpSpPr>
          <a:xfrm>
            <a:off x="6659015" y="669289"/>
            <a:ext cx="5492031" cy="6178494"/>
            <a:chOff x="6230793" y="655238"/>
            <a:chExt cx="5859966" cy="6192545"/>
          </a:xfrm>
        </p:grpSpPr>
        <p:sp>
          <p:nvSpPr>
            <p:cNvPr id="32" name="Rectangle 31">
              <a:extLst>
                <a:ext uri="{FF2B5EF4-FFF2-40B4-BE49-F238E27FC236}">
                  <a16:creationId xmlns:a16="http://schemas.microsoft.com/office/drawing/2014/main" id="{307B6FFB-69E2-4BED-BF39-A7D7CFD73D81}"/>
                </a:ext>
              </a:extLst>
            </p:cNvPr>
            <p:cNvSpPr/>
            <p:nvPr/>
          </p:nvSpPr>
          <p:spPr>
            <a:xfrm>
              <a:off x="6230793" y="655238"/>
              <a:ext cx="5859965" cy="619254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Produit / Projet</a:t>
              </a:r>
            </a:p>
            <a:p>
              <a:pPr algn="ctr"/>
              <a:endParaRPr lang="fr-FR" sz="800" b="1" dirty="0">
                <a:solidFill>
                  <a:schemeClr val="tx1"/>
                </a:solidFill>
              </a:endParaRPr>
            </a:p>
            <a:p>
              <a:pPr marL="742950" lvl="1" indent="-285750">
                <a:buFont typeface="Wingdings" panose="05000000000000000000" pitchFamily="2" charset="2"/>
                <a:buChar char="Ø"/>
              </a:pPr>
              <a:r>
                <a:rPr lang="fr-FR" sz="1600" dirty="0">
                  <a:solidFill>
                    <a:schemeClr val="tx1"/>
                  </a:solidFill>
                </a:rPr>
                <a:t>Produit/Travail : Désignation, …</a:t>
              </a:r>
            </a:p>
            <a:p>
              <a:pPr marL="742950" lvl="1" indent="-285750">
                <a:buFont typeface="Wingdings" panose="05000000000000000000" pitchFamily="2" charset="2"/>
                <a:buChar char="Ø"/>
              </a:pPr>
              <a:r>
                <a:rPr lang="fr-FR" sz="1600" dirty="0">
                  <a:solidFill>
                    <a:schemeClr val="tx1"/>
                  </a:solidFill>
                </a:rPr>
                <a:t>Totaux : Prix, Poids, Volume, …</a:t>
              </a:r>
            </a:p>
            <a:p>
              <a:endParaRPr lang="fr-FR" sz="1600" dirty="0">
                <a:solidFill>
                  <a:schemeClr val="tx1"/>
                </a:solidFill>
              </a:endParaRPr>
            </a:p>
            <a:p>
              <a:pPr algn="ctr"/>
              <a:r>
                <a:rPr lang="fr-FR" sz="1600" dirty="0">
                  <a:solidFill>
                    <a:schemeClr val="tx1"/>
                  </a:solidFill>
                </a:rPr>
                <a:t>====================================================</a:t>
              </a:r>
            </a:p>
            <a:p>
              <a:pPr marL="742950" lvl="1" indent="-285750">
                <a:buFont typeface="Wingdings" panose="05000000000000000000" pitchFamily="2" charset="2"/>
                <a:buChar char="Ø"/>
              </a:pPr>
              <a:r>
                <a:rPr lang="fr-FR" sz="1600" dirty="0">
                  <a:solidFill>
                    <a:schemeClr val="tx1"/>
                  </a:solidFill>
                </a:rPr>
                <a:t>Les composants (produits)</a:t>
              </a:r>
            </a:p>
          </p:txBody>
        </p:sp>
        <p:pic>
          <p:nvPicPr>
            <p:cNvPr id="7" name="Image 6">
              <a:extLst>
                <a:ext uri="{FF2B5EF4-FFF2-40B4-BE49-F238E27FC236}">
                  <a16:creationId xmlns:a16="http://schemas.microsoft.com/office/drawing/2014/main" id="{D67474FC-A1A5-5DFC-BFB2-C9B0C13D6457}"/>
                </a:ext>
              </a:extLst>
            </p:cNvPr>
            <p:cNvPicPr>
              <a:picLocks noChangeAspect="1"/>
            </p:cNvPicPr>
            <p:nvPr/>
          </p:nvPicPr>
          <p:blipFill>
            <a:blip r:embed="rId5"/>
            <a:stretch>
              <a:fillRect/>
            </a:stretch>
          </p:blipFill>
          <p:spPr>
            <a:xfrm>
              <a:off x="6230794" y="2487139"/>
              <a:ext cx="5859965" cy="4344602"/>
            </a:xfrm>
            <a:prstGeom prst="rect">
              <a:avLst/>
            </a:prstGeom>
          </p:spPr>
        </p:pic>
        <p:sp>
          <p:nvSpPr>
            <p:cNvPr id="8" name="Explosion : 8 points 7">
              <a:extLst>
                <a:ext uri="{FF2B5EF4-FFF2-40B4-BE49-F238E27FC236}">
                  <a16:creationId xmlns:a16="http://schemas.microsoft.com/office/drawing/2014/main" id="{7326CFF5-4BDF-F94E-FD1F-3C69E9CE70FC}"/>
                </a:ext>
              </a:extLst>
            </p:cNvPr>
            <p:cNvSpPr/>
            <p:nvPr/>
          </p:nvSpPr>
          <p:spPr>
            <a:xfrm>
              <a:off x="8464125" y="6061834"/>
              <a:ext cx="932766" cy="345810"/>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Clic</a:t>
              </a:r>
            </a:p>
          </p:txBody>
        </p:sp>
        <p:sp>
          <p:nvSpPr>
            <p:cNvPr id="9" name="Flèche : haut 8">
              <a:extLst>
                <a:ext uri="{FF2B5EF4-FFF2-40B4-BE49-F238E27FC236}">
                  <a16:creationId xmlns:a16="http://schemas.microsoft.com/office/drawing/2014/main" id="{F17AA923-8987-6E3A-8505-1B3F33367A38}"/>
                </a:ext>
              </a:extLst>
            </p:cNvPr>
            <p:cNvSpPr/>
            <p:nvPr/>
          </p:nvSpPr>
          <p:spPr>
            <a:xfrm>
              <a:off x="8017924" y="5531149"/>
              <a:ext cx="252549" cy="530686"/>
            </a:xfrm>
            <a:prstGeom prst="up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1CEB6B81-B366-4899-ACA3-E9AFDE52E2A5}"/>
                </a:ext>
              </a:extLst>
            </p:cNvPr>
            <p:cNvSpPr/>
            <p:nvPr/>
          </p:nvSpPr>
          <p:spPr>
            <a:xfrm>
              <a:off x="9001499" y="4934674"/>
              <a:ext cx="2903208" cy="86850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Composants</a:t>
              </a:r>
            </a:p>
            <a:p>
              <a:r>
                <a:rPr lang="fr-FR" sz="1400" dirty="0">
                  <a:solidFill>
                    <a:schemeClr val="tx1"/>
                  </a:solidFill>
                </a:rPr>
                <a:t>Double clic pour rajouter l’article ou augmenter la quantité</a:t>
              </a:r>
            </a:p>
          </p:txBody>
        </p:sp>
      </p:grpSp>
      <p:pic>
        <p:nvPicPr>
          <p:cNvPr id="30" name="Image 29">
            <a:extLst>
              <a:ext uri="{FF2B5EF4-FFF2-40B4-BE49-F238E27FC236}">
                <a16:creationId xmlns:a16="http://schemas.microsoft.com/office/drawing/2014/main" id="{67B60C03-EBC8-870F-B162-4513A4446E48}"/>
              </a:ext>
            </a:extLst>
          </p:cNvPr>
          <p:cNvPicPr>
            <a:picLocks noChangeAspect="1"/>
          </p:cNvPicPr>
          <p:nvPr/>
        </p:nvPicPr>
        <p:blipFill>
          <a:blip r:embed="rId6"/>
          <a:stretch>
            <a:fillRect/>
          </a:stretch>
        </p:blipFill>
        <p:spPr>
          <a:xfrm>
            <a:off x="3459725" y="2062689"/>
            <a:ext cx="2431107" cy="1655118"/>
          </a:xfrm>
          <a:prstGeom prst="rect">
            <a:avLst/>
          </a:prstGeom>
        </p:spPr>
      </p:pic>
      <p:cxnSp>
        <p:nvCxnSpPr>
          <p:cNvPr id="31" name="Connecteur droit avec flèche 30">
            <a:extLst>
              <a:ext uri="{FF2B5EF4-FFF2-40B4-BE49-F238E27FC236}">
                <a16:creationId xmlns:a16="http://schemas.microsoft.com/office/drawing/2014/main" id="{575C4F0C-31C9-AB05-7EE1-1B36FF77DA24}"/>
              </a:ext>
            </a:extLst>
          </p:cNvPr>
          <p:cNvCxnSpPr>
            <a:cxnSpLocks/>
            <a:stCxn id="33" idx="3"/>
          </p:cNvCxnSpPr>
          <p:nvPr/>
        </p:nvCxnSpPr>
        <p:spPr>
          <a:xfrm flipV="1">
            <a:off x="5351309" y="2446749"/>
            <a:ext cx="773330" cy="1"/>
          </a:xfrm>
          <a:prstGeom prst="straightConnector1">
            <a:avLst/>
          </a:prstGeom>
          <a:ln w="412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99F5FCBA-F7BB-E3C1-446E-FD57968F1804}"/>
              </a:ext>
            </a:extLst>
          </p:cNvPr>
          <p:cNvSpPr/>
          <p:nvPr/>
        </p:nvSpPr>
        <p:spPr>
          <a:xfrm>
            <a:off x="3524769" y="2349854"/>
            <a:ext cx="1826540" cy="19379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06305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5000">
              <a:schemeClr val="accent1">
                <a:lumMod val="45000"/>
                <a:lumOff val="55000"/>
              </a:schemeClr>
            </a:gs>
            <a:gs pos="5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476491"/>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a:bodyPr>
          <a:lstStyle/>
          <a:p>
            <a:pPr algn="l">
              <a:defRPr/>
            </a:pPr>
            <a:r>
              <a:rPr lang="fr-FR" sz="2200" b="1" dirty="0"/>
              <a:t>Gestion de la Logistique – </a:t>
            </a:r>
            <a:r>
              <a:rPr lang="fr-FR" sz="1800" b="1" dirty="0">
                <a:solidFill>
                  <a:srgbClr val="FF0000"/>
                </a:solidFill>
              </a:rPr>
              <a:t>Devis/Commande et leur Composition</a:t>
            </a:r>
          </a:p>
        </p:txBody>
      </p:sp>
      <p:sp>
        <p:nvSpPr>
          <p:cNvPr id="13" name="ZoneTexte 12">
            <a:extLst>
              <a:ext uri="{FF2B5EF4-FFF2-40B4-BE49-F238E27FC236}">
                <a16:creationId xmlns:a16="http://schemas.microsoft.com/office/drawing/2014/main" id="{74F42BC6-00E1-DAA5-2F72-6753C67898F4}"/>
              </a:ext>
            </a:extLst>
          </p:cNvPr>
          <p:cNvSpPr txBox="1"/>
          <p:nvPr/>
        </p:nvSpPr>
        <p:spPr>
          <a:xfrm>
            <a:off x="2682953" y="1313982"/>
            <a:ext cx="1884354" cy="1477328"/>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err="1"/>
              <a:t>Quote</a:t>
            </a:r>
            <a:r>
              <a:rPr lang="fr-FR" sz="2000" b="1" dirty="0"/>
              <a:t> Product</a:t>
            </a:r>
            <a:endParaRPr lang="fr-FR" sz="20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err="1">
                <a:highlight>
                  <a:srgbClr val="FFFF00"/>
                </a:highlight>
                <a:latin typeface="+mn-lt"/>
                <a:cs typeface="+mn-cs"/>
              </a:rPr>
              <a:t>IdQuote</a:t>
            </a:r>
            <a:endParaRPr lang="fr-FR" sz="1400" b="1" u="sng" dirty="0">
              <a:highlight>
                <a:srgbClr val="FFFF0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err="1">
                <a:highlight>
                  <a:srgbClr val="C0C0C0"/>
                </a:highlight>
                <a:latin typeface="+mn-lt"/>
                <a:cs typeface="+mn-cs"/>
              </a:rPr>
              <a:t>IdProduct</a:t>
            </a:r>
            <a:endParaRPr lang="fr-FR" sz="1400" dirty="0">
              <a:highlight>
                <a:srgbClr val="C0C0C0"/>
              </a:highlight>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err="1">
                <a:solidFill>
                  <a:schemeClr val="accent1">
                    <a:lumMod val="75000"/>
                  </a:schemeClr>
                </a:solidFill>
                <a:latin typeface="+mn-lt"/>
                <a:cs typeface="+mn-cs"/>
              </a:rPr>
              <a:t>Quantity</a:t>
            </a:r>
            <a:endParaRPr lang="fr-FR" sz="1400" dirty="0">
              <a:solidFill>
                <a:schemeClr val="accent1">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solidFill>
                  <a:schemeClr val="accent1">
                    <a:lumMod val="75000"/>
                  </a:schemeClr>
                </a:solidFill>
                <a:latin typeface="+mn-lt"/>
                <a:cs typeface="+mn-cs"/>
              </a:rPr>
              <a:t>Price Unit</a:t>
            </a:r>
          </a:p>
          <a:p>
            <a:pPr marL="285750" indent="-285750" fontAlgn="auto">
              <a:spcBef>
                <a:spcPts val="0"/>
              </a:spcBef>
              <a:spcAft>
                <a:spcPts val="0"/>
              </a:spcAft>
              <a:buFont typeface="Arial" panose="020B0604020202020204" pitchFamily="34" charset="0"/>
              <a:buChar char="•"/>
              <a:defRPr/>
            </a:pPr>
            <a:endParaRPr lang="fr-FR" sz="1400" dirty="0">
              <a:latin typeface="+mn-lt"/>
              <a:cs typeface="+mn-cs"/>
            </a:endParaRPr>
          </a:p>
        </p:txBody>
      </p:sp>
      <p:sp>
        <p:nvSpPr>
          <p:cNvPr id="14" name="ZoneTexte 13">
            <a:extLst>
              <a:ext uri="{FF2B5EF4-FFF2-40B4-BE49-F238E27FC236}">
                <a16:creationId xmlns:a16="http://schemas.microsoft.com/office/drawing/2014/main" id="{57FC4A26-9C0C-BD4A-70D4-C3F94612CC02}"/>
              </a:ext>
            </a:extLst>
          </p:cNvPr>
          <p:cNvSpPr txBox="1"/>
          <p:nvPr/>
        </p:nvSpPr>
        <p:spPr>
          <a:xfrm>
            <a:off x="254828" y="1313982"/>
            <a:ext cx="1974709" cy="1477328"/>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err="1">
                <a:latin typeface="+mn-lt"/>
                <a:cs typeface="+mn-cs"/>
              </a:rPr>
              <a:t>Quote</a:t>
            </a:r>
            <a:r>
              <a:rPr lang="fr-FR" sz="2000" b="1" dirty="0">
                <a:latin typeface="+mn-lt"/>
                <a:cs typeface="+mn-cs"/>
              </a:rPr>
              <a:t>/</a:t>
            </a:r>
            <a:r>
              <a:rPr lang="fr-FR" sz="2000" b="1" dirty="0" err="1">
                <a:latin typeface="+mn-lt"/>
                <a:cs typeface="+mn-cs"/>
              </a:rPr>
              <a:t>Order</a:t>
            </a:r>
            <a:endParaRPr lang="fr-FR" sz="20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a:highlight>
                  <a:srgbClr val="FFFF0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IdClient</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Price Total</a:t>
            </a: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p:txBody>
      </p:sp>
      <p:sp>
        <p:nvSpPr>
          <p:cNvPr id="16" name="ZoneTexte 15">
            <a:extLst>
              <a:ext uri="{FF2B5EF4-FFF2-40B4-BE49-F238E27FC236}">
                <a16:creationId xmlns:a16="http://schemas.microsoft.com/office/drawing/2014/main" id="{AC6E0C5C-E18D-03C4-4691-53EE17FD93FA}"/>
              </a:ext>
            </a:extLst>
          </p:cNvPr>
          <p:cNvSpPr txBox="1"/>
          <p:nvPr/>
        </p:nvSpPr>
        <p:spPr>
          <a:xfrm>
            <a:off x="4950691" y="1522643"/>
            <a:ext cx="1647264" cy="144655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t>Product</a:t>
            </a:r>
            <a:endParaRPr lang="fr-FR" sz="20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a:highlight>
                  <a:srgbClr val="C0C0C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Designation</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Price Unit</a:t>
            </a: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a:p>
            <a:pPr fontAlgn="auto">
              <a:spcBef>
                <a:spcPts val="0"/>
              </a:spcBef>
              <a:spcAft>
                <a:spcPts val="0"/>
              </a:spcAft>
              <a:defRPr/>
            </a:pPr>
            <a:endParaRPr lang="fr-FR" sz="1200" dirty="0">
              <a:latin typeface="+mn-lt"/>
              <a:cs typeface="+mn-cs"/>
            </a:endParaRPr>
          </a:p>
        </p:txBody>
      </p:sp>
      <p:cxnSp>
        <p:nvCxnSpPr>
          <p:cNvPr id="19" name="Connecteur droit avec flèche 18">
            <a:extLst>
              <a:ext uri="{FF2B5EF4-FFF2-40B4-BE49-F238E27FC236}">
                <a16:creationId xmlns:a16="http://schemas.microsoft.com/office/drawing/2014/main" id="{250F18D4-0F14-3F0E-D287-F86F52AFC7BC}"/>
              </a:ext>
            </a:extLst>
          </p:cNvPr>
          <p:cNvCxnSpPr>
            <a:cxnSpLocks/>
          </p:cNvCxnSpPr>
          <p:nvPr/>
        </p:nvCxnSpPr>
        <p:spPr>
          <a:xfrm>
            <a:off x="1693885" y="1705098"/>
            <a:ext cx="1159240" cy="0"/>
          </a:xfrm>
          <a:prstGeom prst="straightConnector1">
            <a:avLst/>
          </a:prstGeom>
          <a:ln w="4445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DF1E3036-5D80-E5EF-E7BD-C05CC0438992}"/>
              </a:ext>
            </a:extLst>
          </p:cNvPr>
          <p:cNvCxnSpPr>
            <a:cxnSpLocks/>
          </p:cNvCxnSpPr>
          <p:nvPr/>
        </p:nvCxnSpPr>
        <p:spPr>
          <a:xfrm>
            <a:off x="3943718" y="1964930"/>
            <a:ext cx="1202902" cy="0"/>
          </a:xfrm>
          <a:prstGeom prst="straightConnector1">
            <a:avLst/>
          </a:prstGeom>
          <a:ln w="4445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8" name="Groupe 17">
            <a:extLst>
              <a:ext uri="{FF2B5EF4-FFF2-40B4-BE49-F238E27FC236}">
                <a16:creationId xmlns:a16="http://schemas.microsoft.com/office/drawing/2014/main" id="{050D0A9C-2176-8804-611C-BDD2FBE92C39}"/>
              </a:ext>
            </a:extLst>
          </p:cNvPr>
          <p:cNvGrpSpPr/>
          <p:nvPr/>
        </p:nvGrpSpPr>
        <p:grpSpPr>
          <a:xfrm>
            <a:off x="7155305" y="875883"/>
            <a:ext cx="4841824" cy="3656144"/>
            <a:chOff x="7155305" y="875883"/>
            <a:chExt cx="4841824" cy="3656144"/>
          </a:xfrm>
        </p:grpSpPr>
        <p:sp>
          <p:nvSpPr>
            <p:cNvPr id="4" name="Rectangle 3">
              <a:extLst>
                <a:ext uri="{FF2B5EF4-FFF2-40B4-BE49-F238E27FC236}">
                  <a16:creationId xmlns:a16="http://schemas.microsoft.com/office/drawing/2014/main" id="{5D099615-1146-4A96-83A8-2F13AAF4C7E2}"/>
                </a:ext>
              </a:extLst>
            </p:cNvPr>
            <p:cNvSpPr/>
            <p:nvPr/>
          </p:nvSpPr>
          <p:spPr>
            <a:xfrm>
              <a:off x="7155305" y="875883"/>
              <a:ext cx="4841824" cy="365614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Devis / Commande</a:t>
              </a:r>
            </a:p>
            <a:p>
              <a:pPr algn="ctr"/>
              <a:endParaRPr lang="fr-FR" sz="1600" b="1" dirty="0">
                <a:solidFill>
                  <a:schemeClr val="tx1"/>
                </a:solidFill>
              </a:endParaRPr>
            </a:p>
            <a:p>
              <a:pPr marL="742950" lvl="1" indent="-285750">
                <a:buFont typeface="Wingdings" panose="05000000000000000000" pitchFamily="2" charset="2"/>
                <a:buChar char="Ø"/>
              </a:pPr>
              <a:r>
                <a:rPr lang="fr-FR" sz="1600" dirty="0">
                  <a:solidFill>
                    <a:schemeClr val="tx1"/>
                  </a:solidFill>
                </a:rPr>
                <a:t>ID</a:t>
              </a:r>
            </a:p>
            <a:p>
              <a:pPr marL="742950" lvl="1" indent="-285750">
                <a:buFont typeface="Wingdings" panose="05000000000000000000" pitchFamily="2" charset="2"/>
                <a:buChar char="Ø"/>
              </a:pPr>
              <a:r>
                <a:rPr lang="fr-FR" sz="1600" dirty="0">
                  <a:solidFill>
                    <a:schemeClr val="tx1"/>
                  </a:solidFill>
                </a:rPr>
                <a:t>Client : Nom, Adresse, …</a:t>
              </a:r>
            </a:p>
            <a:p>
              <a:pPr marL="742950" lvl="1" indent="-285750">
                <a:buFont typeface="Wingdings" panose="05000000000000000000" pitchFamily="2" charset="2"/>
                <a:buChar char="Ø"/>
              </a:pPr>
              <a:r>
                <a:rPr lang="fr-FR" sz="1600" dirty="0">
                  <a:solidFill>
                    <a:schemeClr val="tx1"/>
                  </a:solidFill>
                </a:rPr>
                <a:t>Date de livraison prévue, …</a:t>
              </a:r>
            </a:p>
            <a:p>
              <a:pPr marL="742950" lvl="1" indent="-285750">
                <a:buFont typeface="Wingdings" panose="05000000000000000000" pitchFamily="2" charset="2"/>
                <a:buChar char="Ø"/>
              </a:pPr>
              <a:r>
                <a:rPr lang="fr-FR" sz="1600" dirty="0">
                  <a:solidFill>
                    <a:schemeClr val="tx1"/>
                  </a:solidFill>
                </a:rPr>
                <a:t>Totaux : Prix, Volume, Poids, Nb de Palettes, …</a:t>
              </a:r>
            </a:p>
            <a:p>
              <a:pPr algn="ctr"/>
              <a:r>
                <a:rPr lang="fr-FR" sz="1600" dirty="0">
                  <a:solidFill>
                    <a:schemeClr val="tx1"/>
                  </a:solidFill>
                </a:rPr>
                <a:t>=============================================</a:t>
              </a:r>
            </a:p>
            <a:p>
              <a:endParaRPr lang="fr-FR" sz="1600" dirty="0">
                <a:solidFill>
                  <a:schemeClr val="tx1"/>
                </a:solidFill>
              </a:endParaRPr>
            </a:p>
            <a:p>
              <a:pPr marL="742950" lvl="1" indent="-285750">
                <a:buFont typeface="Wingdings" panose="05000000000000000000" pitchFamily="2" charset="2"/>
                <a:buChar char="Ø"/>
              </a:pPr>
              <a:r>
                <a:rPr lang="fr-FR" sz="1600" dirty="0">
                  <a:solidFill>
                    <a:schemeClr val="tx1"/>
                  </a:solidFill>
                </a:rPr>
                <a:t>Détails de commande (produits)</a:t>
              </a:r>
            </a:p>
          </p:txBody>
        </p:sp>
        <p:pic>
          <p:nvPicPr>
            <p:cNvPr id="17" name="Image 16">
              <a:extLst>
                <a:ext uri="{FF2B5EF4-FFF2-40B4-BE49-F238E27FC236}">
                  <a16:creationId xmlns:a16="http://schemas.microsoft.com/office/drawing/2014/main" id="{271A2A80-0DB1-FA47-C23C-DA89B831CF54}"/>
                </a:ext>
              </a:extLst>
            </p:cNvPr>
            <p:cNvPicPr>
              <a:picLocks noChangeAspect="1"/>
            </p:cNvPicPr>
            <p:nvPr/>
          </p:nvPicPr>
          <p:blipFill>
            <a:blip r:embed="rId3"/>
            <a:stretch>
              <a:fillRect/>
            </a:stretch>
          </p:blipFill>
          <p:spPr>
            <a:xfrm>
              <a:off x="7165299" y="3170780"/>
              <a:ext cx="4826752" cy="1361246"/>
            </a:xfrm>
            <a:prstGeom prst="rect">
              <a:avLst/>
            </a:prstGeom>
          </p:spPr>
        </p:pic>
      </p:grpSp>
      <p:sp>
        <p:nvSpPr>
          <p:cNvPr id="3" name="Rectangle 2">
            <a:extLst>
              <a:ext uri="{FF2B5EF4-FFF2-40B4-BE49-F238E27FC236}">
                <a16:creationId xmlns:a16="http://schemas.microsoft.com/office/drawing/2014/main" id="{64AAA8F5-1261-0760-FAC3-2B08C11AB661}"/>
              </a:ext>
            </a:extLst>
          </p:cNvPr>
          <p:cNvSpPr/>
          <p:nvPr/>
        </p:nvSpPr>
        <p:spPr>
          <a:xfrm>
            <a:off x="743952" y="4666320"/>
            <a:ext cx="5055858" cy="151276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Modifier les détails</a:t>
            </a:r>
          </a:p>
          <a:p>
            <a:r>
              <a:rPr lang="fr-FR" sz="1400" dirty="0">
                <a:solidFill>
                  <a:schemeClr val="tx1"/>
                </a:solidFill>
              </a:rPr>
              <a:t>Une modification de détail de la commande consiste à rajouter un produit, supprimer un produit ou modifier la quantité d’un produit. Cette modification est suivie d’une mise à jour de prix, poids, volume de la commande qui est respectivement la somme des prix, poids, volume des produits.</a:t>
            </a:r>
          </a:p>
        </p:txBody>
      </p:sp>
    </p:spTree>
    <p:extLst>
      <p:ext uri="{BB962C8B-B14F-4D97-AF65-F5344CB8AC3E}">
        <p14:creationId xmlns:p14="http://schemas.microsoft.com/office/powerpoint/2010/main" val="1293255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D0DE692-DBE2-4969-9A0D-FC98047E36CF}"/>
              </a:ext>
            </a:extLst>
          </p:cNvPr>
          <p:cNvPicPr>
            <a:picLocks noChangeAspect="1"/>
          </p:cNvPicPr>
          <p:nvPr/>
        </p:nvPicPr>
        <p:blipFill>
          <a:blip r:embed="rId3">
            <a:alphaModFix amt="49000"/>
          </a:blip>
          <a:stretch>
            <a:fillRect/>
          </a:stretch>
        </p:blipFill>
        <p:spPr>
          <a:xfrm>
            <a:off x="0" y="374358"/>
            <a:ext cx="12192000" cy="6478872"/>
          </a:xfrm>
          <a:prstGeom prst="rect">
            <a:avLst/>
          </a:prstGeom>
        </p:spPr>
      </p:pic>
      <p:pic>
        <p:nvPicPr>
          <p:cNvPr id="12" name="Image 11">
            <a:extLst>
              <a:ext uri="{FF2B5EF4-FFF2-40B4-BE49-F238E27FC236}">
                <a16:creationId xmlns:a16="http://schemas.microsoft.com/office/drawing/2014/main" id="{5FF2570E-599D-74C0-C012-474F7F212962}"/>
              </a:ext>
            </a:extLst>
          </p:cNvPr>
          <p:cNvPicPr>
            <a:picLocks noChangeAspect="1"/>
          </p:cNvPicPr>
          <p:nvPr/>
        </p:nvPicPr>
        <p:blipFill>
          <a:blip r:embed="rId4"/>
          <a:stretch>
            <a:fillRect/>
          </a:stretch>
        </p:blipFill>
        <p:spPr>
          <a:xfrm>
            <a:off x="5524" y="395572"/>
            <a:ext cx="9337703" cy="6449361"/>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Devis, Commande</a:t>
            </a:r>
          </a:p>
        </p:txBody>
      </p:sp>
      <p:sp>
        <p:nvSpPr>
          <p:cNvPr id="3" name="Rectangle 2">
            <a:extLst>
              <a:ext uri="{FF2B5EF4-FFF2-40B4-BE49-F238E27FC236}">
                <a16:creationId xmlns:a16="http://schemas.microsoft.com/office/drawing/2014/main" id="{13271549-5505-C17C-7578-E1380E5590F5}"/>
              </a:ext>
            </a:extLst>
          </p:cNvPr>
          <p:cNvSpPr/>
          <p:nvPr/>
        </p:nvSpPr>
        <p:spPr>
          <a:xfrm>
            <a:off x="1615470" y="1943404"/>
            <a:ext cx="2932210" cy="233231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Commande</a:t>
            </a:r>
          </a:p>
          <a:p>
            <a:pPr marL="171450" indent="-171450">
              <a:buFont typeface="Arial" panose="020B0604020202020204" pitchFamily="34" charset="0"/>
              <a:buChar char="•"/>
            </a:pPr>
            <a:r>
              <a:rPr lang="fr-FR" sz="1400" dirty="0">
                <a:solidFill>
                  <a:schemeClr val="tx1"/>
                </a:solidFill>
              </a:rPr>
              <a:t>ID</a:t>
            </a:r>
          </a:p>
          <a:p>
            <a:pPr marL="171450" indent="-171450">
              <a:buFont typeface="Arial" panose="020B0604020202020204" pitchFamily="34" charset="0"/>
              <a:buChar char="•"/>
            </a:pPr>
            <a:r>
              <a:rPr lang="fr-FR" sz="1400" dirty="0">
                <a:solidFill>
                  <a:schemeClr val="tx1"/>
                </a:solidFill>
              </a:rPr>
              <a:t>Client, Adresse de Livraison</a:t>
            </a:r>
          </a:p>
          <a:p>
            <a:pPr marL="171450" indent="-171450">
              <a:buFont typeface="Arial" panose="020B0604020202020204" pitchFamily="34" charset="0"/>
              <a:buChar char="•"/>
            </a:pPr>
            <a:r>
              <a:rPr lang="fr-FR" sz="1400" dirty="0">
                <a:solidFill>
                  <a:schemeClr val="tx1"/>
                </a:solidFill>
              </a:rPr>
              <a:t>Date de Livraison Prévue ou Limite</a:t>
            </a:r>
          </a:p>
          <a:p>
            <a:pPr marL="171450" indent="-171450">
              <a:buFont typeface="Arial" panose="020B0604020202020204" pitchFamily="34" charset="0"/>
              <a:buChar char="•"/>
            </a:pPr>
            <a:r>
              <a:rPr lang="fr-FR" sz="1400" dirty="0">
                <a:solidFill>
                  <a:schemeClr val="tx1"/>
                </a:solidFill>
              </a:rPr>
              <a:t>Les Totaux : </a:t>
            </a:r>
          </a:p>
          <a:p>
            <a:pPr marL="742950" lvl="1" indent="-285750">
              <a:buFont typeface="Wingdings" panose="05000000000000000000" pitchFamily="2" charset="2"/>
              <a:buChar char="ü"/>
            </a:pPr>
            <a:r>
              <a:rPr lang="fr-FR" sz="1400" dirty="0">
                <a:solidFill>
                  <a:schemeClr val="tx1"/>
                </a:solidFill>
              </a:rPr>
              <a:t>Quantité/Poids/Volume</a:t>
            </a:r>
          </a:p>
          <a:p>
            <a:pPr marL="742950" lvl="1" indent="-285750">
              <a:buFont typeface="Wingdings" panose="05000000000000000000" pitchFamily="2" charset="2"/>
              <a:buChar char="ü"/>
            </a:pPr>
            <a:r>
              <a:rPr lang="fr-FR" sz="1400" dirty="0">
                <a:solidFill>
                  <a:schemeClr val="tx1"/>
                </a:solidFill>
              </a:rPr>
              <a:t>Quantité reste à livrer</a:t>
            </a:r>
          </a:p>
          <a:p>
            <a:pPr marL="742950" lvl="1" indent="-285750">
              <a:buFont typeface="Wingdings" panose="05000000000000000000" pitchFamily="2" charset="2"/>
              <a:buChar char="ü"/>
            </a:pPr>
            <a:r>
              <a:rPr lang="fr-FR" sz="1400" dirty="0">
                <a:solidFill>
                  <a:schemeClr val="tx1"/>
                </a:solidFill>
              </a:rPr>
              <a:t>Nb Article</a:t>
            </a:r>
          </a:p>
          <a:p>
            <a:pPr marL="742950" lvl="1" indent="-285750">
              <a:buFont typeface="Wingdings" panose="05000000000000000000" pitchFamily="2" charset="2"/>
              <a:buChar char="ü"/>
            </a:pPr>
            <a:r>
              <a:rPr lang="fr-FR" sz="1400" dirty="0">
                <a:solidFill>
                  <a:schemeClr val="tx1"/>
                </a:solidFill>
              </a:rPr>
              <a:t>Nb Palettes</a:t>
            </a:r>
            <a:r>
              <a:rPr lang="fr-FR" sz="1600" dirty="0">
                <a:solidFill>
                  <a:schemeClr val="tx1"/>
                </a:solidFill>
              </a:rPr>
              <a:t> </a:t>
            </a:r>
          </a:p>
          <a:p>
            <a:pPr marL="742950" lvl="1" indent="-285750">
              <a:buFont typeface="Wingdings" panose="05000000000000000000" pitchFamily="2" charset="2"/>
              <a:buChar char="ü"/>
            </a:pPr>
            <a:r>
              <a:rPr lang="fr-FR" sz="1600" dirty="0">
                <a:solidFill>
                  <a:schemeClr val="tx1"/>
                </a:solidFill>
              </a:rPr>
              <a:t>Montant</a:t>
            </a:r>
          </a:p>
        </p:txBody>
      </p:sp>
      <p:pic>
        <p:nvPicPr>
          <p:cNvPr id="8" name="Image 7">
            <a:extLst>
              <a:ext uri="{FF2B5EF4-FFF2-40B4-BE49-F238E27FC236}">
                <a16:creationId xmlns:a16="http://schemas.microsoft.com/office/drawing/2014/main" id="{9A4E13F3-AAA0-0091-948B-1AD501510582}"/>
              </a:ext>
            </a:extLst>
          </p:cNvPr>
          <p:cNvPicPr>
            <a:picLocks noChangeAspect="1"/>
          </p:cNvPicPr>
          <p:nvPr/>
        </p:nvPicPr>
        <p:blipFill>
          <a:blip r:embed="rId5"/>
          <a:stretch>
            <a:fillRect/>
          </a:stretch>
        </p:blipFill>
        <p:spPr>
          <a:xfrm>
            <a:off x="5067519" y="2048907"/>
            <a:ext cx="2932210" cy="3328184"/>
          </a:xfrm>
          <a:prstGeom prst="rect">
            <a:avLst/>
          </a:prstGeom>
        </p:spPr>
      </p:pic>
      <p:sp>
        <p:nvSpPr>
          <p:cNvPr id="10" name="Rectangle 9">
            <a:extLst>
              <a:ext uri="{FF2B5EF4-FFF2-40B4-BE49-F238E27FC236}">
                <a16:creationId xmlns:a16="http://schemas.microsoft.com/office/drawing/2014/main" id="{58E7FFA8-1F1B-0B34-EDDA-45374839055C}"/>
              </a:ext>
            </a:extLst>
          </p:cNvPr>
          <p:cNvSpPr/>
          <p:nvPr/>
        </p:nvSpPr>
        <p:spPr>
          <a:xfrm>
            <a:off x="5322933" y="2086801"/>
            <a:ext cx="2467345" cy="922035"/>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A14C0B98-E587-8F0D-0902-581FD8075598}"/>
              </a:ext>
            </a:extLst>
          </p:cNvPr>
          <p:cNvSpPr/>
          <p:nvPr/>
        </p:nvSpPr>
        <p:spPr>
          <a:xfrm>
            <a:off x="5322933" y="3267563"/>
            <a:ext cx="2467346" cy="65629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709FD88C-51AB-D123-4601-F0D832DFB280}"/>
              </a:ext>
            </a:extLst>
          </p:cNvPr>
          <p:cNvSpPr/>
          <p:nvPr/>
        </p:nvSpPr>
        <p:spPr>
          <a:xfrm>
            <a:off x="5322933" y="3953886"/>
            <a:ext cx="2467346" cy="1399683"/>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rganigramme : Multidocument 19">
            <a:extLst>
              <a:ext uri="{FF2B5EF4-FFF2-40B4-BE49-F238E27FC236}">
                <a16:creationId xmlns:a16="http://schemas.microsoft.com/office/drawing/2014/main" id="{B34ABB95-0B62-1B72-EDCF-B83163F4DE73}"/>
              </a:ext>
            </a:extLst>
          </p:cNvPr>
          <p:cNvSpPr/>
          <p:nvPr/>
        </p:nvSpPr>
        <p:spPr>
          <a:xfrm>
            <a:off x="8265774" y="3050892"/>
            <a:ext cx="3908885" cy="781778"/>
          </a:xfrm>
          <a:prstGeom prst="flowChartMultidocument">
            <a:avLst/>
          </a:prstGeom>
          <a:solidFill>
            <a:schemeClr val="accent1">
              <a:lumMod val="20000"/>
              <a:lumOff val="80000"/>
            </a:schemeClr>
          </a:solid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Impressions des documents de commande</a:t>
            </a:r>
          </a:p>
        </p:txBody>
      </p:sp>
      <p:sp>
        <p:nvSpPr>
          <p:cNvPr id="22" name="Bulle narrative : rectangle 21">
            <a:extLst>
              <a:ext uri="{FF2B5EF4-FFF2-40B4-BE49-F238E27FC236}">
                <a16:creationId xmlns:a16="http://schemas.microsoft.com/office/drawing/2014/main" id="{CED37A31-2324-2D1F-1683-6E143E95B7EA}"/>
              </a:ext>
            </a:extLst>
          </p:cNvPr>
          <p:cNvSpPr/>
          <p:nvPr/>
        </p:nvSpPr>
        <p:spPr>
          <a:xfrm>
            <a:off x="8265774" y="3908536"/>
            <a:ext cx="3908885" cy="935340"/>
          </a:xfrm>
          <a:prstGeom prst="wedgeRectCallout">
            <a:avLst>
              <a:gd name="adj1" fmla="val -62132"/>
              <a:gd name="adj2" fmla="val 20709"/>
            </a:avLst>
          </a:prstGeom>
          <a:solidFill>
            <a:schemeClr val="accent1">
              <a:lumMod val="20000"/>
              <a:lumOff val="80000"/>
            </a:schemeClr>
          </a:solid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Gestion de Commande</a:t>
            </a:r>
          </a:p>
        </p:txBody>
      </p:sp>
      <p:sp>
        <p:nvSpPr>
          <p:cNvPr id="24" name="Bulle narrative : rectangle 23">
            <a:extLst>
              <a:ext uri="{FF2B5EF4-FFF2-40B4-BE49-F238E27FC236}">
                <a16:creationId xmlns:a16="http://schemas.microsoft.com/office/drawing/2014/main" id="{F265B1D7-1375-5599-1F6A-D71BDDDDB398}"/>
              </a:ext>
            </a:extLst>
          </p:cNvPr>
          <p:cNvSpPr/>
          <p:nvPr/>
        </p:nvSpPr>
        <p:spPr>
          <a:xfrm>
            <a:off x="8265774" y="1863350"/>
            <a:ext cx="3908885" cy="935340"/>
          </a:xfrm>
          <a:prstGeom prst="wedgeRectCallout">
            <a:avLst>
              <a:gd name="adj1" fmla="val -62132"/>
              <a:gd name="adj2" fmla="val 20709"/>
            </a:avLst>
          </a:prstGeom>
          <a:solidFill>
            <a:schemeClr val="accent1">
              <a:lumMod val="20000"/>
              <a:lumOff val="80000"/>
            </a:schemeClr>
          </a:solid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Gestion détail de Commande</a:t>
            </a:r>
          </a:p>
        </p:txBody>
      </p:sp>
    </p:spTree>
    <p:extLst>
      <p:ext uri="{BB962C8B-B14F-4D97-AF65-F5344CB8AC3E}">
        <p14:creationId xmlns:p14="http://schemas.microsoft.com/office/powerpoint/2010/main" val="243588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D0DE692-DBE2-4969-9A0D-FC98047E36CF}"/>
              </a:ext>
            </a:extLst>
          </p:cNvPr>
          <p:cNvPicPr>
            <a:picLocks noChangeAspect="1"/>
          </p:cNvPicPr>
          <p:nvPr/>
        </p:nvPicPr>
        <p:blipFill>
          <a:blip r:embed="rId3">
            <a:alphaModFix amt="49000"/>
          </a:blip>
          <a:stretch>
            <a:fillRect/>
          </a:stretch>
        </p:blipFill>
        <p:spPr>
          <a:xfrm>
            <a:off x="0" y="374358"/>
            <a:ext cx="12192000" cy="6478872"/>
          </a:xfrm>
          <a:prstGeom prst="rect">
            <a:avLst/>
          </a:prstGeom>
        </p:spPr>
      </p:pic>
      <p:pic>
        <p:nvPicPr>
          <p:cNvPr id="16" name="Image 15">
            <a:extLst>
              <a:ext uri="{FF2B5EF4-FFF2-40B4-BE49-F238E27FC236}">
                <a16:creationId xmlns:a16="http://schemas.microsoft.com/office/drawing/2014/main" id="{D2910E43-52DF-06E5-AB3D-E2310C2D407A}"/>
              </a:ext>
            </a:extLst>
          </p:cNvPr>
          <p:cNvPicPr>
            <a:picLocks noChangeAspect="1"/>
          </p:cNvPicPr>
          <p:nvPr/>
        </p:nvPicPr>
        <p:blipFill>
          <a:blip r:embed="rId4"/>
          <a:stretch>
            <a:fillRect/>
          </a:stretch>
        </p:blipFill>
        <p:spPr>
          <a:xfrm>
            <a:off x="12598" y="455858"/>
            <a:ext cx="9269336" cy="6402142"/>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Devis, Commande : gérer leur détail</a:t>
            </a:r>
          </a:p>
        </p:txBody>
      </p:sp>
      <p:grpSp>
        <p:nvGrpSpPr>
          <p:cNvPr id="26" name="Groupe 25">
            <a:extLst>
              <a:ext uri="{FF2B5EF4-FFF2-40B4-BE49-F238E27FC236}">
                <a16:creationId xmlns:a16="http://schemas.microsoft.com/office/drawing/2014/main" id="{57E8612C-7208-E46E-105C-175105995E84}"/>
              </a:ext>
            </a:extLst>
          </p:cNvPr>
          <p:cNvGrpSpPr/>
          <p:nvPr/>
        </p:nvGrpSpPr>
        <p:grpSpPr>
          <a:xfrm>
            <a:off x="6195934" y="500046"/>
            <a:ext cx="5944305" cy="5902095"/>
            <a:chOff x="0" y="888288"/>
            <a:chExt cx="5865452" cy="5460274"/>
          </a:xfrm>
        </p:grpSpPr>
        <p:sp>
          <p:nvSpPr>
            <p:cNvPr id="32" name="Rectangle 31">
              <a:extLst>
                <a:ext uri="{FF2B5EF4-FFF2-40B4-BE49-F238E27FC236}">
                  <a16:creationId xmlns:a16="http://schemas.microsoft.com/office/drawing/2014/main" id="{307B6FFB-69E2-4BED-BF39-A7D7CFD73D81}"/>
                </a:ext>
              </a:extLst>
            </p:cNvPr>
            <p:cNvSpPr/>
            <p:nvPr/>
          </p:nvSpPr>
          <p:spPr>
            <a:xfrm>
              <a:off x="0" y="888288"/>
              <a:ext cx="5865452" cy="546027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Devis / Commande</a:t>
              </a:r>
            </a:p>
            <a:p>
              <a:pPr algn="ctr"/>
              <a:endParaRPr lang="fr-FR" sz="1600" b="1" dirty="0">
                <a:solidFill>
                  <a:schemeClr val="tx1"/>
                </a:solidFill>
              </a:endParaRPr>
            </a:p>
            <a:p>
              <a:pPr marL="742950" lvl="1" indent="-285750">
                <a:buFont typeface="Wingdings" panose="05000000000000000000" pitchFamily="2" charset="2"/>
                <a:buChar char="Ø"/>
              </a:pPr>
              <a:r>
                <a:rPr lang="fr-FR" sz="1600" dirty="0">
                  <a:solidFill>
                    <a:schemeClr val="tx1"/>
                  </a:solidFill>
                </a:rPr>
                <a:t>ID</a:t>
              </a:r>
            </a:p>
            <a:p>
              <a:pPr marL="742950" lvl="1" indent="-285750">
                <a:buFont typeface="Wingdings" panose="05000000000000000000" pitchFamily="2" charset="2"/>
                <a:buChar char="Ø"/>
              </a:pPr>
              <a:r>
                <a:rPr lang="fr-FR" sz="1600" dirty="0">
                  <a:solidFill>
                    <a:schemeClr val="tx1"/>
                  </a:solidFill>
                </a:rPr>
                <a:t>Client : Nom, Adresse, …</a:t>
              </a:r>
            </a:p>
            <a:p>
              <a:pPr marL="742950" lvl="1" indent="-285750">
                <a:buFont typeface="Wingdings" panose="05000000000000000000" pitchFamily="2" charset="2"/>
                <a:buChar char="Ø"/>
              </a:pPr>
              <a:r>
                <a:rPr lang="fr-FR" sz="1600" dirty="0">
                  <a:solidFill>
                    <a:schemeClr val="tx1"/>
                  </a:solidFill>
                </a:rPr>
                <a:t>Date de livraison prévue, …</a:t>
              </a:r>
            </a:p>
            <a:p>
              <a:pPr marL="742950" lvl="1" indent="-285750">
                <a:buFont typeface="Wingdings" panose="05000000000000000000" pitchFamily="2" charset="2"/>
                <a:buChar char="Ø"/>
              </a:pPr>
              <a:r>
                <a:rPr lang="fr-FR" sz="1600" dirty="0">
                  <a:solidFill>
                    <a:schemeClr val="tx1"/>
                  </a:solidFill>
                </a:rPr>
                <a:t>Totaux : Prix, Volume, Poids, Nb de Palettes, …</a:t>
              </a:r>
            </a:p>
            <a:p>
              <a:pPr algn="ctr"/>
              <a:r>
                <a:rPr lang="fr-FR" sz="1600" dirty="0">
                  <a:solidFill>
                    <a:schemeClr val="tx1"/>
                  </a:solidFill>
                </a:rPr>
                <a:t>======================================================</a:t>
              </a:r>
            </a:p>
            <a:p>
              <a:endParaRPr lang="fr-FR" sz="1600" dirty="0">
                <a:solidFill>
                  <a:schemeClr val="tx1"/>
                </a:solidFill>
              </a:endParaRPr>
            </a:p>
            <a:p>
              <a:pPr marL="742950" lvl="1" indent="-285750">
                <a:buFont typeface="Wingdings" panose="05000000000000000000" pitchFamily="2" charset="2"/>
                <a:buChar char="Ø"/>
              </a:pPr>
              <a:r>
                <a:rPr lang="fr-FR" sz="1600" dirty="0">
                  <a:solidFill>
                    <a:schemeClr val="tx1"/>
                  </a:solidFill>
                </a:rPr>
                <a:t>Détails de commande (produits)</a:t>
              </a:r>
            </a:p>
          </p:txBody>
        </p:sp>
        <p:pic>
          <p:nvPicPr>
            <p:cNvPr id="21" name="Image 20">
              <a:extLst>
                <a:ext uri="{FF2B5EF4-FFF2-40B4-BE49-F238E27FC236}">
                  <a16:creationId xmlns:a16="http://schemas.microsoft.com/office/drawing/2014/main" id="{055C137A-3734-CBCA-C29A-3D20A28057FE}"/>
                </a:ext>
              </a:extLst>
            </p:cNvPr>
            <p:cNvPicPr>
              <a:picLocks noChangeAspect="1"/>
            </p:cNvPicPr>
            <p:nvPr/>
          </p:nvPicPr>
          <p:blipFill>
            <a:blip r:embed="rId5"/>
            <a:stretch>
              <a:fillRect/>
            </a:stretch>
          </p:blipFill>
          <p:spPr>
            <a:xfrm>
              <a:off x="0" y="3008512"/>
              <a:ext cx="5865451" cy="3340049"/>
            </a:xfrm>
            <a:prstGeom prst="rect">
              <a:avLst/>
            </a:prstGeom>
          </p:spPr>
        </p:pic>
        <p:sp>
          <p:nvSpPr>
            <p:cNvPr id="8" name="Explosion : 8 points 7">
              <a:extLst>
                <a:ext uri="{FF2B5EF4-FFF2-40B4-BE49-F238E27FC236}">
                  <a16:creationId xmlns:a16="http://schemas.microsoft.com/office/drawing/2014/main" id="{7326CFF5-4BDF-F94E-FD1F-3C69E9CE70FC}"/>
                </a:ext>
              </a:extLst>
            </p:cNvPr>
            <p:cNvSpPr/>
            <p:nvPr/>
          </p:nvSpPr>
          <p:spPr>
            <a:xfrm>
              <a:off x="2451949" y="5579585"/>
              <a:ext cx="839891" cy="530686"/>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Clic</a:t>
              </a:r>
            </a:p>
          </p:txBody>
        </p:sp>
        <p:sp>
          <p:nvSpPr>
            <p:cNvPr id="9" name="Flèche : haut 8">
              <a:extLst>
                <a:ext uri="{FF2B5EF4-FFF2-40B4-BE49-F238E27FC236}">
                  <a16:creationId xmlns:a16="http://schemas.microsoft.com/office/drawing/2014/main" id="{F17AA923-8987-6E3A-8505-1B3F33367A38}"/>
                </a:ext>
              </a:extLst>
            </p:cNvPr>
            <p:cNvSpPr/>
            <p:nvPr/>
          </p:nvSpPr>
          <p:spPr>
            <a:xfrm>
              <a:off x="2206045" y="4877350"/>
              <a:ext cx="252549" cy="530686"/>
            </a:xfrm>
            <a:prstGeom prst="up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1CEB6B81-B366-4899-ACA3-E9AFDE52E2A5}"/>
                </a:ext>
              </a:extLst>
            </p:cNvPr>
            <p:cNvSpPr/>
            <p:nvPr/>
          </p:nvSpPr>
          <p:spPr>
            <a:xfrm>
              <a:off x="2614853" y="3884181"/>
              <a:ext cx="3049165" cy="86850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PRODUITS</a:t>
              </a:r>
            </a:p>
            <a:p>
              <a:r>
                <a:rPr lang="fr-FR" sz="1600" dirty="0">
                  <a:solidFill>
                    <a:schemeClr val="tx1"/>
                  </a:solidFill>
                </a:rPr>
                <a:t>Double clic pour rajouter le produit ou augmenter la quantité</a:t>
              </a:r>
            </a:p>
          </p:txBody>
        </p:sp>
      </p:grpSp>
      <p:pic>
        <p:nvPicPr>
          <p:cNvPr id="13" name="Image 12">
            <a:extLst>
              <a:ext uri="{FF2B5EF4-FFF2-40B4-BE49-F238E27FC236}">
                <a16:creationId xmlns:a16="http://schemas.microsoft.com/office/drawing/2014/main" id="{DEC243D0-708B-6543-903F-4F9760642BC0}"/>
              </a:ext>
            </a:extLst>
          </p:cNvPr>
          <p:cNvPicPr>
            <a:picLocks noChangeAspect="1"/>
          </p:cNvPicPr>
          <p:nvPr/>
        </p:nvPicPr>
        <p:blipFill>
          <a:blip r:embed="rId6"/>
          <a:stretch>
            <a:fillRect/>
          </a:stretch>
        </p:blipFill>
        <p:spPr>
          <a:xfrm>
            <a:off x="2942099" y="2502620"/>
            <a:ext cx="2476773" cy="2811243"/>
          </a:xfrm>
          <a:prstGeom prst="rect">
            <a:avLst/>
          </a:prstGeom>
        </p:spPr>
      </p:pic>
      <p:cxnSp>
        <p:nvCxnSpPr>
          <p:cNvPr id="6" name="Connecteur droit avec flèche 5">
            <a:extLst>
              <a:ext uri="{FF2B5EF4-FFF2-40B4-BE49-F238E27FC236}">
                <a16:creationId xmlns:a16="http://schemas.microsoft.com/office/drawing/2014/main" id="{03F4D3DC-929D-1C50-1494-5A73EF8EECE5}"/>
              </a:ext>
            </a:extLst>
          </p:cNvPr>
          <p:cNvCxnSpPr>
            <a:cxnSpLocks/>
            <a:stCxn id="10" idx="3"/>
          </p:cNvCxnSpPr>
          <p:nvPr/>
        </p:nvCxnSpPr>
        <p:spPr>
          <a:xfrm>
            <a:off x="4830266" y="3213007"/>
            <a:ext cx="1493908" cy="14744"/>
          </a:xfrm>
          <a:prstGeom prst="straightConnector1">
            <a:avLst/>
          </a:prstGeom>
          <a:ln w="412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02727FD-000D-BCE2-9085-B3AE646AA8B3}"/>
              </a:ext>
            </a:extLst>
          </p:cNvPr>
          <p:cNvSpPr/>
          <p:nvPr/>
        </p:nvSpPr>
        <p:spPr>
          <a:xfrm>
            <a:off x="3113148" y="3111003"/>
            <a:ext cx="1717118" cy="20400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86017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5000">
              <a:schemeClr val="accent1">
                <a:lumMod val="45000"/>
                <a:lumOff val="55000"/>
              </a:schemeClr>
            </a:gs>
            <a:gs pos="5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476491"/>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a:bodyPr>
          <a:lstStyle/>
          <a:p>
            <a:pPr algn="l">
              <a:defRPr/>
            </a:pPr>
            <a:r>
              <a:rPr lang="fr-FR" sz="2200" b="1" dirty="0"/>
              <a:t>Gestion de la Logistique – </a:t>
            </a:r>
            <a:r>
              <a:rPr lang="fr-FR" sz="1800" b="1" dirty="0">
                <a:solidFill>
                  <a:srgbClr val="FF0000"/>
                </a:solidFill>
              </a:rPr>
              <a:t>Livraison et leur Composition</a:t>
            </a:r>
          </a:p>
        </p:txBody>
      </p:sp>
      <p:sp>
        <p:nvSpPr>
          <p:cNvPr id="13" name="ZoneTexte 12">
            <a:extLst>
              <a:ext uri="{FF2B5EF4-FFF2-40B4-BE49-F238E27FC236}">
                <a16:creationId xmlns:a16="http://schemas.microsoft.com/office/drawing/2014/main" id="{74F42BC6-00E1-DAA5-2F72-6753C67898F4}"/>
              </a:ext>
            </a:extLst>
          </p:cNvPr>
          <p:cNvSpPr txBox="1"/>
          <p:nvPr/>
        </p:nvSpPr>
        <p:spPr>
          <a:xfrm>
            <a:off x="7100048" y="1484107"/>
            <a:ext cx="2073292" cy="2123658"/>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t>Delivery Product</a:t>
            </a:r>
            <a:endParaRPr lang="fr-FR" sz="2000" b="1"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err="1">
                <a:highlight>
                  <a:srgbClr val="FFFF00"/>
                </a:highlight>
                <a:latin typeface="+mn-lt"/>
                <a:cs typeface="+mn-cs"/>
              </a:rPr>
              <a:t>IdDelivery</a:t>
            </a:r>
            <a:endParaRPr lang="fr-FR" sz="1400" b="1" u="sng" dirty="0">
              <a:highlight>
                <a:srgbClr val="FFFF00"/>
              </a:highlight>
              <a:latin typeface="+mn-lt"/>
              <a:cs typeface="+mn-cs"/>
            </a:endParaRPr>
          </a:p>
          <a:p>
            <a:pPr marL="285750" indent="-285750">
              <a:buFont typeface="Arial" panose="020B0604020202020204" pitchFamily="34" charset="0"/>
              <a:buChar char="•"/>
              <a:defRPr/>
            </a:pPr>
            <a:r>
              <a:rPr lang="fr-FR" sz="1400" b="1" u="sng" dirty="0" err="1">
                <a:latin typeface="+mn-lt"/>
                <a:cs typeface="+mn-cs"/>
              </a:rPr>
              <a:t>IdOrder</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b="1" u="sng" dirty="0" err="1">
                <a:highlight>
                  <a:srgbClr val="C0C0C0"/>
                </a:highlight>
                <a:latin typeface="+mn-lt"/>
                <a:cs typeface="+mn-cs"/>
              </a:rPr>
              <a:t>IdProduct</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err="1">
                <a:solidFill>
                  <a:schemeClr val="accent1">
                    <a:lumMod val="75000"/>
                  </a:schemeClr>
                </a:solidFill>
                <a:latin typeface="+mn-lt"/>
                <a:cs typeface="+mn-cs"/>
              </a:rPr>
              <a:t>Quantity</a:t>
            </a:r>
            <a:endParaRPr lang="fr-FR" sz="1400" dirty="0">
              <a:solidFill>
                <a:schemeClr val="accent1">
                  <a:lumMod val="75000"/>
                </a:schemeClr>
              </a:solidFill>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err="1">
                <a:solidFill>
                  <a:schemeClr val="accent1">
                    <a:lumMod val="75000"/>
                  </a:schemeClr>
                </a:solidFill>
              </a:rPr>
              <a:t>Weight</a:t>
            </a:r>
            <a:endParaRPr lang="fr-FR" sz="1400" dirty="0">
              <a:solidFill>
                <a:schemeClr val="accent1">
                  <a:lumMod val="75000"/>
                </a:schemeClr>
              </a:solidFill>
            </a:endParaRPr>
          </a:p>
          <a:p>
            <a:pPr marL="285750" indent="-285750" fontAlgn="auto">
              <a:spcBef>
                <a:spcPts val="0"/>
              </a:spcBef>
              <a:spcAft>
                <a:spcPts val="0"/>
              </a:spcAft>
              <a:buFont typeface="Arial" panose="020B0604020202020204" pitchFamily="34" charset="0"/>
              <a:buChar char="•"/>
              <a:defRPr/>
            </a:pPr>
            <a:r>
              <a:rPr lang="fr-FR" sz="1400" dirty="0">
                <a:solidFill>
                  <a:schemeClr val="accent1">
                    <a:lumMod val="75000"/>
                  </a:schemeClr>
                </a:solidFill>
              </a:rPr>
              <a:t>Stock (</a:t>
            </a:r>
            <a:r>
              <a:rPr lang="fr-FR" sz="1100" dirty="0">
                <a:solidFill>
                  <a:schemeClr val="accent1">
                    <a:lumMod val="75000"/>
                  </a:schemeClr>
                </a:solidFill>
              </a:rPr>
              <a:t>zone, </a:t>
            </a:r>
            <a:r>
              <a:rPr lang="fr-FR" sz="1100" dirty="0" err="1">
                <a:solidFill>
                  <a:schemeClr val="accent1">
                    <a:lumMod val="75000"/>
                  </a:schemeClr>
                </a:solidFill>
                <a:latin typeface="+mn-lt"/>
                <a:cs typeface="+mn-cs"/>
              </a:rPr>
              <a:t>row</a:t>
            </a:r>
            <a:r>
              <a:rPr lang="fr-FR" sz="1100" dirty="0">
                <a:solidFill>
                  <a:schemeClr val="accent1">
                    <a:lumMod val="75000"/>
                  </a:schemeClr>
                </a:solidFill>
                <a:latin typeface="+mn-lt"/>
                <a:cs typeface="+mn-cs"/>
              </a:rPr>
              <a:t>, </a:t>
            </a:r>
            <a:r>
              <a:rPr lang="fr-FR" sz="1100" dirty="0" err="1">
                <a:solidFill>
                  <a:schemeClr val="accent1">
                    <a:lumMod val="75000"/>
                  </a:schemeClr>
                </a:solidFill>
                <a:latin typeface="+mn-lt"/>
                <a:cs typeface="+mn-cs"/>
              </a:rPr>
              <a:t>column</a:t>
            </a:r>
            <a:r>
              <a:rPr lang="fr-FR" sz="1400" dirty="0">
                <a:solidFill>
                  <a:schemeClr val="accent1">
                    <a:lumMod val="75000"/>
                  </a:schemeClr>
                </a:solidFill>
                <a:latin typeface="+mn-lt"/>
                <a:cs typeface="+mn-cs"/>
              </a:rPr>
              <a:t>)</a:t>
            </a:r>
          </a:p>
          <a:p>
            <a:pPr marL="285750" indent="-285750" fontAlgn="auto">
              <a:spcBef>
                <a:spcPts val="0"/>
              </a:spcBef>
              <a:spcAft>
                <a:spcPts val="0"/>
              </a:spcAft>
              <a:buFont typeface="Arial" panose="020B0604020202020204" pitchFamily="34" charset="0"/>
              <a:buChar char="•"/>
              <a:defRPr/>
            </a:pPr>
            <a:r>
              <a:rPr lang="fr-FR" sz="1400" dirty="0">
                <a:solidFill>
                  <a:schemeClr val="accent1">
                    <a:lumMod val="75000"/>
                  </a:schemeClr>
                </a:solidFill>
                <a:latin typeface="+mn-lt"/>
                <a:cs typeface="+mn-cs"/>
              </a:rPr>
              <a:t>…</a:t>
            </a:r>
          </a:p>
          <a:p>
            <a:pPr marL="285750" indent="-285750" fontAlgn="auto">
              <a:spcBef>
                <a:spcPts val="0"/>
              </a:spcBef>
              <a:spcAft>
                <a:spcPts val="0"/>
              </a:spcAft>
              <a:buFont typeface="Arial" panose="020B0604020202020204" pitchFamily="34" charset="0"/>
              <a:buChar char="•"/>
              <a:defRPr/>
            </a:pPr>
            <a:endParaRPr lang="fr-FR" sz="1400" dirty="0">
              <a:latin typeface="+mn-lt"/>
              <a:cs typeface="+mn-cs"/>
            </a:endParaRPr>
          </a:p>
        </p:txBody>
      </p:sp>
      <p:sp>
        <p:nvSpPr>
          <p:cNvPr id="14" name="ZoneTexte 13">
            <a:extLst>
              <a:ext uri="{FF2B5EF4-FFF2-40B4-BE49-F238E27FC236}">
                <a16:creationId xmlns:a16="http://schemas.microsoft.com/office/drawing/2014/main" id="{57FC4A26-9C0C-BD4A-70D4-C3F94612CC02}"/>
              </a:ext>
            </a:extLst>
          </p:cNvPr>
          <p:cNvSpPr txBox="1"/>
          <p:nvPr/>
        </p:nvSpPr>
        <p:spPr>
          <a:xfrm>
            <a:off x="4671923" y="1484107"/>
            <a:ext cx="1974709" cy="1692771"/>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latin typeface="+mn-lt"/>
                <a:cs typeface="+mn-cs"/>
              </a:rPr>
              <a:t>Delivery</a:t>
            </a:r>
          </a:p>
          <a:p>
            <a:pPr marL="285750" indent="-285750" fontAlgn="auto">
              <a:spcBef>
                <a:spcPts val="0"/>
              </a:spcBef>
              <a:spcAft>
                <a:spcPts val="0"/>
              </a:spcAft>
              <a:buFont typeface="Arial" panose="020B0604020202020204" pitchFamily="34" charset="0"/>
              <a:buChar char="•"/>
              <a:defRPr/>
            </a:pPr>
            <a:r>
              <a:rPr lang="fr-FR" sz="1400" b="1" u="sng" dirty="0">
                <a:highlight>
                  <a:srgbClr val="FFFF0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IdClient</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Date</a:t>
            </a:r>
          </a:p>
          <a:p>
            <a:pPr marL="285750" indent="-285750" fontAlgn="auto">
              <a:spcBef>
                <a:spcPts val="0"/>
              </a:spcBef>
              <a:spcAft>
                <a:spcPts val="0"/>
              </a:spcAft>
              <a:buFont typeface="Arial" panose="020B0604020202020204" pitchFamily="34" charset="0"/>
              <a:buChar char="•"/>
              <a:defRPr/>
            </a:pPr>
            <a:r>
              <a:rPr lang="fr-FR" sz="1400" dirty="0" err="1"/>
              <a:t>Weight</a:t>
            </a:r>
            <a:r>
              <a:rPr lang="fr-FR" sz="1400" dirty="0">
                <a:latin typeface="+mn-lt"/>
                <a:cs typeface="+mn-cs"/>
              </a:rPr>
              <a:t> Total</a:t>
            </a: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Nb </a:t>
            </a:r>
            <a:r>
              <a:rPr lang="fr-FR" sz="1400" dirty="0" err="1">
                <a:latin typeface="+mn-lt"/>
                <a:cs typeface="+mn-cs"/>
              </a:rPr>
              <a:t>Pallets</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p:txBody>
      </p:sp>
      <p:sp>
        <p:nvSpPr>
          <p:cNvPr id="16" name="ZoneTexte 15">
            <a:extLst>
              <a:ext uri="{FF2B5EF4-FFF2-40B4-BE49-F238E27FC236}">
                <a16:creationId xmlns:a16="http://schemas.microsoft.com/office/drawing/2014/main" id="{AC6E0C5C-E18D-03C4-4691-53EE17FD93FA}"/>
              </a:ext>
            </a:extLst>
          </p:cNvPr>
          <p:cNvSpPr txBox="1"/>
          <p:nvPr/>
        </p:nvSpPr>
        <p:spPr>
          <a:xfrm>
            <a:off x="9467726" y="1937106"/>
            <a:ext cx="1647264" cy="1446550"/>
          </a:xfrm>
          <a:prstGeom prst="rect">
            <a:avLst/>
          </a:prstGeom>
          <a:solidFill>
            <a:schemeClr val="accent1">
              <a:lumMod val="20000"/>
              <a:lumOff val="80000"/>
            </a:schemeClr>
          </a:solidFill>
          <a:ln w="22225">
            <a:solidFill>
              <a:schemeClr val="tx1">
                <a:lumMod val="65000"/>
                <a:lumOff val="35000"/>
              </a:schemeClr>
            </a:solidFill>
          </a:ln>
        </p:spPr>
        <p:txBody>
          <a:bodyPr wrap="square">
            <a:spAutoFit/>
          </a:bodyPr>
          <a:lstStyle/>
          <a:p>
            <a:pPr algn="ctr" fontAlgn="auto">
              <a:spcBef>
                <a:spcPts val="0"/>
              </a:spcBef>
              <a:spcAft>
                <a:spcPts val="0"/>
              </a:spcAft>
              <a:defRPr/>
            </a:pPr>
            <a:r>
              <a:rPr lang="fr-FR" sz="2000" b="1" dirty="0">
                <a:latin typeface="+mn-lt"/>
                <a:cs typeface="+mn-cs"/>
              </a:rPr>
              <a:t>Product</a:t>
            </a:r>
          </a:p>
          <a:p>
            <a:pPr marL="285750" indent="-285750" fontAlgn="auto">
              <a:spcBef>
                <a:spcPts val="0"/>
              </a:spcBef>
              <a:spcAft>
                <a:spcPts val="0"/>
              </a:spcAft>
              <a:buFont typeface="Arial" panose="020B0604020202020204" pitchFamily="34" charset="0"/>
              <a:buChar char="•"/>
              <a:defRPr/>
            </a:pPr>
            <a:r>
              <a:rPr lang="fr-FR" sz="1400" b="1" u="sng" dirty="0">
                <a:highlight>
                  <a:srgbClr val="C0C0C0"/>
                </a:highlight>
                <a:latin typeface="+mn-lt"/>
                <a:cs typeface="+mn-cs"/>
              </a:rPr>
              <a:t>ID</a:t>
            </a:r>
          </a:p>
          <a:p>
            <a:pPr marL="285750" indent="-285750" fontAlgn="auto">
              <a:spcBef>
                <a:spcPts val="0"/>
              </a:spcBef>
              <a:spcAft>
                <a:spcPts val="0"/>
              </a:spcAft>
              <a:buFont typeface="Arial" panose="020B0604020202020204" pitchFamily="34" charset="0"/>
              <a:buChar char="•"/>
              <a:defRPr/>
            </a:pPr>
            <a:r>
              <a:rPr lang="fr-FR" sz="1400" dirty="0" err="1">
                <a:latin typeface="+mn-lt"/>
                <a:cs typeface="+mn-cs"/>
              </a:rPr>
              <a:t>Designation</a:t>
            </a:r>
            <a:endParaRPr lang="fr-FR" sz="1400" dirty="0">
              <a:latin typeface="+mn-lt"/>
              <a:cs typeface="+mn-cs"/>
            </a:endParaRPr>
          </a:p>
          <a:p>
            <a:pPr marL="285750" indent="-285750" fontAlgn="auto">
              <a:spcBef>
                <a:spcPts val="0"/>
              </a:spcBef>
              <a:spcAft>
                <a:spcPts val="0"/>
              </a:spcAft>
              <a:buFont typeface="Arial" panose="020B0604020202020204" pitchFamily="34" charset="0"/>
              <a:buChar char="•"/>
              <a:defRPr/>
            </a:pPr>
            <a:r>
              <a:rPr lang="fr-FR" sz="1400" dirty="0">
                <a:latin typeface="+mn-lt"/>
                <a:cs typeface="+mn-cs"/>
              </a:rPr>
              <a:t>Price Unit</a:t>
            </a:r>
          </a:p>
          <a:p>
            <a:pPr marL="285750" indent="-285750" fontAlgn="auto">
              <a:spcBef>
                <a:spcPts val="0"/>
              </a:spcBef>
              <a:spcAft>
                <a:spcPts val="0"/>
              </a:spcAft>
              <a:buFont typeface="Arial" panose="020B0604020202020204" pitchFamily="34" charset="0"/>
              <a:buChar char="•"/>
              <a:defRPr/>
            </a:pPr>
            <a:r>
              <a:rPr lang="fr-FR" sz="1400" dirty="0"/>
              <a:t>…</a:t>
            </a:r>
            <a:endParaRPr lang="fr-FR" sz="1400" dirty="0">
              <a:latin typeface="+mn-lt"/>
              <a:cs typeface="+mn-cs"/>
            </a:endParaRPr>
          </a:p>
          <a:p>
            <a:pPr fontAlgn="auto">
              <a:spcBef>
                <a:spcPts val="0"/>
              </a:spcBef>
              <a:spcAft>
                <a:spcPts val="0"/>
              </a:spcAft>
              <a:defRPr/>
            </a:pPr>
            <a:endParaRPr lang="fr-FR" sz="1200" dirty="0">
              <a:latin typeface="+mn-lt"/>
              <a:cs typeface="+mn-cs"/>
            </a:endParaRPr>
          </a:p>
        </p:txBody>
      </p:sp>
      <p:cxnSp>
        <p:nvCxnSpPr>
          <p:cNvPr id="19" name="Connecteur droit avec flèche 18">
            <a:extLst>
              <a:ext uri="{FF2B5EF4-FFF2-40B4-BE49-F238E27FC236}">
                <a16:creationId xmlns:a16="http://schemas.microsoft.com/office/drawing/2014/main" id="{250F18D4-0F14-3F0E-D287-F86F52AFC7BC}"/>
              </a:ext>
            </a:extLst>
          </p:cNvPr>
          <p:cNvCxnSpPr>
            <a:cxnSpLocks/>
          </p:cNvCxnSpPr>
          <p:nvPr/>
        </p:nvCxnSpPr>
        <p:spPr>
          <a:xfrm>
            <a:off x="6110980" y="1875223"/>
            <a:ext cx="1159240" cy="0"/>
          </a:xfrm>
          <a:prstGeom prst="straightConnector1">
            <a:avLst/>
          </a:prstGeom>
          <a:ln w="4445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Bulle narrative : rectangle 20">
            <a:extLst>
              <a:ext uri="{FF2B5EF4-FFF2-40B4-BE49-F238E27FC236}">
                <a16:creationId xmlns:a16="http://schemas.microsoft.com/office/drawing/2014/main" id="{0598E70E-2BEE-1EB8-55F5-BC460CF76862}"/>
              </a:ext>
            </a:extLst>
          </p:cNvPr>
          <p:cNvSpPr/>
          <p:nvPr/>
        </p:nvSpPr>
        <p:spPr>
          <a:xfrm>
            <a:off x="207609" y="1875223"/>
            <a:ext cx="3455895" cy="2290920"/>
          </a:xfrm>
          <a:prstGeom prst="wedgeRectCallout">
            <a:avLst>
              <a:gd name="adj1" fmla="val 62751"/>
              <a:gd name="adj2" fmla="val -27498"/>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600" b="1" u="sng" dirty="0">
                <a:solidFill>
                  <a:schemeClr val="tx1"/>
                </a:solidFill>
              </a:rPr>
              <a:t>Livraison</a:t>
            </a:r>
            <a:r>
              <a:rPr lang="fr-FR" sz="1600" dirty="0">
                <a:solidFill>
                  <a:schemeClr val="tx1"/>
                </a:solidFill>
              </a:rPr>
              <a:t> : doit renseigner des informations client et date ainsi que des informations globales et l’ensemble des produits à livrer avec leur numéro de commande et Quantité.</a:t>
            </a:r>
          </a:p>
          <a:p>
            <a:r>
              <a:rPr lang="fr-FR" sz="1600" dirty="0">
                <a:solidFill>
                  <a:schemeClr val="tx1"/>
                </a:solidFill>
              </a:rPr>
              <a:t>Les informations de stockage des produits dans le stockage sont nécessaires pour préparation de livraison (</a:t>
            </a:r>
            <a:r>
              <a:rPr lang="fr-FR" sz="1600" dirty="0" err="1">
                <a:solidFill>
                  <a:schemeClr val="tx1"/>
                </a:solidFill>
              </a:rPr>
              <a:t>pick</a:t>
            </a:r>
            <a:r>
              <a:rPr lang="fr-FR" sz="1600" dirty="0">
                <a:solidFill>
                  <a:schemeClr val="tx1"/>
                </a:solidFill>
              </a:rPr>
              <a:t>-pack)</a:t>
            </a:r>
          </a:p>
        </p:txBody>
      </p:sp>
      <p:cxnSp>
        <p:nvCxnSpPr>
          <p:cNvPr id="15" name="Connecteur droit avec flèche 14">
            <a:extLst>
              <a:ext uri="{FF2B5EF4-FFF2-40B4-BE49-F238E27FC236}">
                <a16:creationId xmlns:a16="http://schemas.microsoft.com/office/drawing/2014/main" id="{DF1E3036-5D80-E5EF-E7BD-C05CC0438992}"/>
              </a:ext>
            </a:extLst>
          </p:cNvPr>
          <p:cNvCxnSpPr>
            <a:cxnSpLocks/>
          </p:cNvCxnSpPr>
          <p:nvPr/>
        </p:nvCxnSpPr>
        <p:spPr>
          <a:xfrm>
            <a:off x="8360813" y="2384445"/>
            <a:ext cx="1202902" cy="0"/>
          </a:xfrm>
          <a:prstGeom prst="straightConnector1">
            <a:avLst/>
          </a:prstGeom>
          <a:ln w="4445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702B384-089B-5521-AF61-65AB6F5823DB}"/>
              </a:ext>
            </a:extLst>
          </p:cNvPr>
          <p:cNvSpPr/>
          <p:nvPr/>
        </p:nvSpPr>
        <p:spPr>
          <a:xfrm>
            <a:off x="968425" y="4527508"/>
            <a:ext cx="5055858" cy="169276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Modifier les détails</a:t>
            </a:r>
          </a:p>
          <a:p>
            <a:r>
              <a:rPr lang="fr-FR" sz="1400" dirty="0">
                <a:solidFill>
                  <a:schemeClr val="tx1"/>
                </a:solidFill>
              </a:rPr>
              <a:t>Une modification de détail de la commande consiste à rajouter/supprimer un produit commandé par le client ou modifier la quantité d’un produit. Cette modification est suivie d’une mise à jour de poids, volume, nombre de colis de la livraison qui est respectivement la somme des poids, des volumes et des nombres colis des produits.</a:t>
            </a:r>
          </a:p>
        </p:txBody>
      </p:sp>
      <p:sp>
        <p:nvSpPr>
          <p:cNvPr id="4" name="Rectangle 3">
            <a:extLst>
              <a:ext uri="{FF2B5EF4-FFF2-40B4-BE49-F238E27FC236}">
                <a16:creationId xmlns:a16="http://schemas.microsoft.com/office/drawing/2014/main" id="{6B71FF05-A0F1-F490-4009-3DEAEDF59B03}"/>
              </a:ext>
            </a:extLst>
          </p:cNvPr>
          <p:cNvSpPr/>
          <p:nvPr/>
        </p:nvSpPr>
        <p:spPr>
          <a:xfrm>
            <a:off x="6434335" y="4527508"/>
            <a:ext cx="5055858" cy="169276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Préparation de livraison (</a:t>
            </a:r>
            <a:r>
              <a:rPr lang="fr-FR" sz="1600" b="1" dirty="0" err="1">
                <a:solidFill>
                  <a:srgbClr val="FF0000"/>
                </a:solidFill>
              </a:rPr>
              <a:t>pick</a:t>
            </a:r>
            <a:r>
              <a:rPr lang="fr-FR" sz="1600" b="1" dirty="0">
                <a:solidFill>
                  <a:srgbClr val="FF0000"/>
                </a:solidFill>
              </a:rPr>
              <a:t>-pack)</a:t>
            </a:r>
          </a:p>
          <a:p>
            <a:r>
              <a:rPr lang="fr-FR" sz="1400" dirty="0">
                <a:solidFill>
                  <a:schemeClr val="tx1"/>
                </a:solidFill>
              </a:rPr>
              <a:t>La préparation consiste à sortir (</a:t>
            </a:r>
            <a:r>
              <a:rPr lang="fr-FR" sz="1400" dirty="0" err="1">
                <a:solidFill>
                  <a:schemeClr val="tx1"/>
                </a:solidFill>
              </a:rPr>
              <a:t>pick</a:t>
            </a:r>
            <a:r>
              <a:rPr lang="fr-FR" sz="1400" dirty="0">
                <a:solidFill>
                  <a:schemeClr val="tx1"/>
                </a:solidFill>
              </a:rPr>
              <a:t>) de l’entrepôt les produits à livrer et faire des colis/palettes (pack).</a:t>
            </a:r>
          </a:p>
          <a:p>
            <a:r>
              <a:rPr lang="fr-FR" sz="1400" dirty="0">
                <a:solidFill>
                  <a:schemeClr val="tx1"/>
                </a:solidFill>
              </a:rPr>
              <a:t>Cette opération doit être suivie d’une mise à jour des quantités en stock des produits sortis.</a:t>
            </a:r>
          </a:p>
        </p:txBody>
      </p:sp>
    </p:spTree>
    <p:extLst>
      <p:ext uri="{BB962C8B-B14F-4D97-AF65-F5344CB8AC3E}">
        <p14:creationId xmlns:p14="http://schemas.microsoft.com/office/powerpoint/2010/main" val="3702458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D0DE692-DBE2-4969-9A0D-FC98047E36CF}"/>
              </a:ext>
            </a:extLst>
          </p:cNvPr>
          <p:cNvPicPr>
            <a:picLocks noChangeAspect="1"/>
          </p:cNvPicPr>
          <p:nvPr/>
        </p:nvPicPr>
        <p:blipFill>
          <a:blip r:embed="rId3">
            <a:alphaModFix amt="49000"/>
          </a:blip>
          <a:stretch>
            <a:fillRect/>
          </a:stretch>
        </p:blipFill>
        <p:spPr>
          <a:xfrm>
            <a:off x="0" y="374358"/>
            <a:ext cx="12192000" cy="6478872"/>
          </a:xfrm>
          <a:prstGeom prst="rect">
            <a:avLst/>
          </a:prstGeom>
        </p:spPr>
      </p:pic>
      <p:pic>
        <p:nvPicPr>
          <p:cNvPr id="5" name="Image 4">
            <a:extLst>
              <a:ext uri="{FF2B5EF4-FFF2-40B4-BE49-F238E27FC236}">
                <a16:creationId xmlns:a16="http://schemas.microsoft.com/office/drawing/2014/main" id="{6A3B2DDA-0EEA-95AE-3E7D-40B018FFD056}"/>
              </a:ext>
            </a:extLst>
          </p:cNvPr>
          <p:cNvPicPr>
            <a:picLocks noChangeAspect="1"/>
          </p:cNvPicPr>
          <p:nvPr/>
        </p:nvPicPr>
        <p:blipFill>
          <a:blip r:embed="rId4"/>
          <a:stretch>
            <a:fillRect/>
          </a:stretch>
        </p:blipFill>
        <p:spPr>
          <a:xfrm>
            <a:off x="0" y="374358"/>
            <a:ext cx="10176339" cy="6483642"/>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Livraison</a:t>
            </a:r>
          </a:p>
        </p:txBody>
      </p:sp>
      <p:pic>
        <p:nvPicPr>
          <p:cNvPr id="16" name="Image 15">
            <a:extLst>
              <a:ext uri="{FF2B5EF4-FFF2-40B4-BE49-F238E27FC236}">
                <a16:creationId xmlns:a16="http://schemas.microsoft.com/office/drawing/2014/main" id="{E5909647-77A1-364D-337F-BCB7270F6902}"/>
              </a:ext>
            </a:extLst>
          </p:cNvPr>
          <p:cNvPicPr>
            <a:picLocks noChangeAspect="1"/>
          </p:cNvPicPr>
          <p:nvPr/>
        </p:nvPicPr>
        <p:blipFill>
          <a:blip r:embed="rId5"/>
          <a:stretch>
            <a:fillRect/>
          </a:stretch>
        </p:blipFill>
        <p:spPr>
          <a:xfrm>
            <a:off x="5135686" y="1605028"/>
            <a:ext cx="2841837" cy="2902302"/>
          </a:xfrm>
          <a:prstGeom prst="rect">
            <a:avLst/>
          </a:prstGeom>
        </p:spPr>
      </p:pic>
      <p:sp>
        <p:nvSpPr>
          <p:cNvPr id="7" name="Rectangle 6">
            <a:extLst>
              <a:ext uri="{FF2B5EF4-FFF2-40B4-BE49-F238E27FC236}">
                <a16:creationId xmlns:a16="http://schemas.microsoft.com/office/drawing/2014/main" id="{4F0B9422-D315-7D8E-7B83-127295380F83}"/>
              </a:ext>
            </a:extLst>
          </p:cNvPr>
          <p:cNvSpPr/>
          <p:nvPr/>
        </p:nvSpPr>
        <p:spPr>
          <a:xfrm>
            <a:off x="5135687" y="1600258"/>
            <a:ext cx="2841836" cy="165742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50E4872A-1CB3-F2DC-5CC9-6BE99A74D057}"/>
              </a:ext>
            </a:extLst>
          </p:cNvPr>
          <p:cNvSpPr/>
          <p:nvPr/>
        </p:nvSpPr>
        <p:spPr>
          <a:xfrm>
            <a:off x="5135686" y="3277779"/>
            <a:ext cx="2841837" cy="927953"/>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F65D6FD-DF4D-B83C-C460-8C48986D650C}"/>
              </a:ext>
            </a:extLst>
          </p:cNvPr>
          <p:cNvSpPr/>
          <p:nvPr/>
        </p:nvSpPr>
        <p:spPr>
          <a:xfrm>
            <a:off x="5135686" y="4248991"/>
            <a:ext cx="2841837" cy="234594"/>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Multidocument 9">
            <a:extLst>
              <a:ext uri="{FF2B5EF4-FFF2-40B4-BE49-F238E27FC236}">
                <a16:creationId xmlns:a16="http://schemas.microsoft.com/office/drawing/2014/main" id="{4B9AD472-153E-2E75-8E73-6B7B6712B480}"/>
              </a:ext>
            </a:extLst>
          </p:cNvPr>
          <p:cNvSpPr/>
          <p:nvPr/>
        </p:nvSpPr>
        <p:spPr>
          <a:xfrm>
            <a:off x="8265774" y="3245012"/>
            <a:ext cx="3908885" cy="781778"/>
          </a:xfrm>
          <a:prstGeom prst="flowChartMultidocument">
            <a:avLst/>
          </a:prstGeom>
          <a:solidFill>
            <a:schemeClr val="accent1">
              <a:lumMod val="20000"/>
              <a:lumOff val="80000"/>
            </a:schemeClr>
          </a:solid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Impressions des documents de Livraison</a:t>
            </a:r>
          </a:p>
        </p:txBody>
      </p:sp>
      <p:sp>
        <p:nvSpPr>
          <p:cNvPr id="11" name="Bulle narrative : rectangle 10">
            <a:extLst>
              <a:ext uri="{FF2B5EF4-FFF2-40B4-BE49-F238E27FC236}">
                <a16:creationId xmlns:a16="http://schemas.microsoft.com/office/drawing/2014/main" id="{0F5855EC-57A1-81C7-0BE9-E7A116424E73}"/>
              </a:ext>
            </a:extLst>
          </p:cNvPr>
          <p:cNvSpPr/>
          <p:nvPr/>
        </p:nvSpPr>
        <p:spPr>
          <a:xfrm>
            <a:off x="8265774" y="4128184"/>
            <a:ext cx="3908885" cy="379146"/>
          </a:xfrm>
          <a:prstGeom prst="wedgeRectCallout">
            <a:avLst>
              <a:gd name="adj1" fmla="val -60694"/>
              <a:gd name="adj2" fmla="val -14245"/>
            </a:avLst>
          </a:prstGeom>
          <a:solidFill>
            <a:schemeClr val="accent1">
              <a:lumMod val="20000"/>
              <a:lumOff val="80000"/>
            </a:schemeClr>
          </a:solidFill>
          <a:ln w="444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Modifier des infos de Livraison</a:t>
            </a:r>
          </a:p>
        </p:txBody>
      </p:sp>
      <p:sp>
        <p:nvSpPr>
          <p:cNvPr id="13" name="Bulle narrative : rectangle 12">
            <a:extLst>
              <a:ext uri="{FF2B5EF4-FFF2-40B4-BE49-F238E27FC236}">
                <a16:creationId xmlns:a16="http://schemas.microsoft.com/office/drawing/2014/main" id="{3C49796F-D9F1-600B-0AC2-AF5C2F9F607B}"/>
              </a:ext>
            </a:extLst>
          </p:cNvPr>
          <p:cNvSpPr/>
          <p:nvPr/>
        </p:nvSpPr>
        <p:spPr>
          <a:xfrm>
            <a:off x="8265774" y="1863350"/>
            <a:ext cx="3908885" cy="935340"/>
          </a:xfrm>
          <a:prstGeom prst="wedgeRectCallout">
            <a:avLst>
              <a:gd name="adj1" fmla="val -62132"/>
              <a:gd name="adj2" fmla="val 20709"/>
            </a:avLst>
          </a:prstGeom>
          <a:solidFill>
            <a:schemeClr val="accent1">
              <a:lumMod val="20000"/>
              <a:lumOff val="80000"/>
            </a:schemeClr>
          </a:solid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Gestion détail de Livraison</a:t>
            </a:r>
          </a:p>
        </p:txBody>
      </p:sp>
      <p:pic>
        <p:nvPicPr>
          <p:cNvPr id="24" name="Image 23">
            <a:extLst>
              <a:ext uri="{FF2B5EF4-FFF2-40B4-BE49-F238E27FC236}">
                <a16:creationId xmlns:a16="http://schemas.microsoft.com/office/drawing/2014/main" id="{B09828FB-6CE9-91BA-8814-A2C8EF6C323B}"/>
              </a:ext>
            </a:extLst>
          </p:cNvPr>
          <p:cNvPicPr>
            <a:picLocks noChangeAspect="1"/>
          </p:cNvPicPr>
          <p:nvPr/>
        </p:nvPicPr>
        <p:blipFill>
          <a:blip r:embed="rId6"/>
          <a:stretch>
            <a:fillRect/>
          </a:stretch>
        </p:blipFill>
        <p:spPr>
          <a:xfrm>
            <a:off x="9308838" y="4548197"/>
            <a:ext cx="1918282" cy="1978228"/>
          </a:xfrm>
          <a:prstGeom prst="rect">
            <a:avLst/>
          </a:prstGeom>
        </p:spPr>
      </p:pic>
      <p:sp>
        <p:nvSpPr>
          <p:cNvPr id="25" name="Rectangle 24">
            <a:extLst>
              <a:ext uri="{FF2B5EF4-FFF2-40B4-BE49-F238E27FC236}">
                <a16:creationId xmlns:a16="http://schemas.microsoft.com/office/drawing/2014/main" id="{07002FB0-09C9-2C0A-F204-2BEBF55BB769}"/>
              </a:ext>
            </a:extLst>
          </p:cNvPr>
          <p:cNvSpPr/>
          <p:nvPr/>
        </p:nvSpPr>
        <p:spPr>
          <a:xfrm>
            <a:off x="1615470" y="1943402"/>
            <a:ext cx="2932210" cy="322116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Livraison</a:t>
            </a:r>
          </a:p>
          <a:p>
            <a:r>
              <a:rPr lang="fr-FR" sz="1200" dirty="0">
                <a:solidFill>
                  <a:schemeClr val="tx1"/>
                </a:solidFill>
              </a:rPr>
              <a:t>Une livraison consiste à livrer une partie ou  la totalité de plusieurs commandes de même client et de même lieu de livraison.</a:t>
            </a:r>
          </a:p>
          <a:p>
            <a:endParaRPr lang="fr-FR" sz="1200" dirty="0">
              <a:solidFill>
                <a:schemeClr val="tx1"/>
              </a:solidFill>
            </a:endParaRPr>
          </a:p>
          <a:p>
            <a:pPr marL="171450" indent="-171450">
              <a:buFont typeface="Arial" panose="020B0604020202020204" pitchFamily="34" charset="0"/>
              <a:buChar char="•"/>
            </a:pPr>
            <a:r>
              <a:rPr lang="fr-FR" sz="1400" dirty="0">
                <a:solidFill>
                  <a:schemeClr val="tx1"/>
                </a:solidFill>
              </a:rPr>
              <a:t>ID</a:t>
            </a:r>
          </a:p>
          <a:p>
            <a:pPr marL="171450" indent="-171450">
              <a:buFont typeface="Arial" panose="020B0604020202020204" pitchFamily="34" charset="0"/>
              <a:buChar char="•"/>
            </a:pPr>
            <a:r>
              <a:rPr lang="fr-FR" sz="1400" dirty="0">
                <a:solidFill>
                  <a:schemeClr val="tx1"/>
                </a:solidFill>
              </a:rPr>
              <a:t>Client</a:t>
            </a:r>
          </a:p>
          <a:p>
            <a:pPr marL="171450" indent="-171450">
              <a:buFont typeface="Arial" panose="020B0604020202020204" pitchFamily="34" charset="0"/>
              <a:buChar char="•"/>
            </a:pPr>
            <a:r>
              <a:rPr lang="fr-FR" sz="1400" dirty="0">
                <a:solidFill>
                  <a:schemeClr val="tx1"/>
                </a:solidFill>
              </a:rPr>
              <a:t>Adresse de Livraison</a:t>
            </a:r>
          </a:p>
          <a:p>
            <a:pPr marL="171450" indent="-171450">
              <a:buFont typeface="Arial" panose="020B0604020202020204" pitchFamily="34" charset="0"/>
              <a:buChar char="•"/>
            </a:pPr>
            <a:r>
              <a:rPr lang="fr-FR" sz="1400" dirty="0">
                <a:solidFill>
                  <a:schemeClr val="tx1"/>
                </a:solidFill>
              </a:rPr>
              <a:t>Date de Livraison</a:t>
            </a:r>
          </a:p>
          <a:p>
            <a:pPr marL="171450" indent="-171450">
              <a:buFont typeface="Arial" panose="020B0604020202020204" pitchFamily="34" charset="0"/>
              <a:buChar char="•"/>
            </a:pPr>
            <a:r>
              <a:rPr lang="fr-FR" sz="1400" dirty="0">
                <a:solidFill>
                  <a:schemeClr val="tx1"/>
                </a:solidFill>
              </a:rPr>
              <a:t>Facturation</a:t>
            </a:r>
          </a:p>
          <a:p>
            <a:pPr marL="171450" indent="-171450">
              <a:buFont typeface="Arial" panose="020B0604020202020204" pitchFamily="34" charset="0"/>
              <a:buChar char="•"/>
            </a:pPr>
            <a:r>
              <a:rPr lang="fr-FR" sz="1400" dirty="0">
                <a:solidFill>
                  <a:schemeClr val="tx1"/>
                </a:solidFill>
              </a:rPr>
              <a:t>Les Totaux : </a:t>
            </a:r>
          </a:p>
          <a:p>
            <a:pPr marL="742950" lvl="1" indent="-285750">
              <a:buFont typeface="Wingdings" panose="05000000000000000000" pitchFamily="2" charset="2"/>
              <a:buChar char="ü"/>
            </a:pPr>
            <a:r>
              <a:rPr lang="fr-FR" sz="1400" dirty="0">
                <a:solidFill>
                  <a:schemeClr val="tx1"/>
                </a:solidFill>
              </a:rPr>
              <a:t>Quantité/Poids/Volume</a:t>
            </a:r>
          </a:p>
          <a:p>
            <a:pPr marL="742950" lvl="1" indent="-285750">
              <a:buFont typeface="Wingdings" panose="05000000000000000000" pitchFamily="2" charset="2"/>
              <a:buChar char="ü"/>
            </a:pPr>
            <a:r>
              <a:rPr lang="fr-FR" sz="1400" dirty="0">
                <a:solidFill>
                  <a:schemeClr val="tx1"/>
                </a:solidFill>
              </a:rPr>
              <a:t>Nb Articles</a:t>
            </a:r>
          </a:p>
          <a:p>
            <a:pPr marL="742950" lvl="1" indent="-285750">
              <a:buFont typeface="Wingdings" panose="05000000000000000000" pitchFamily="2" charset="2"/>
              <a:buChar char="ü"/>
            </a:pPr>
            <a:r>
              <a:rPr lang="fr-FR" sz="1400" dirty="0">
                <a:solidFill>
                  <a:schemeClr val="tx1"/>
                </a:solidFill>
              </a:rPr>
              <a:t>Nb Palettes </a:t>
            </a:r>
          </a:p>
          <a:p>
            <a:pPr marL="742950" lvl="1" indent="-285750">
              <a:buFont typeface="Wingdings" panose="05000000000000000000" pitchFamily="2" charset="2"/>
              <a:buChar char="ü"/>
            </a:pPr>
            <a:r>
              <a:rPr lang="fr-FR" sz="1400" dirty="0">
                <a:solidFill>
                  <a:schemeClr val="tx1"/>
                </a:solidFill>
              </a:rPr>
              <a:t>Montant</a:t>
            </a:r>
          </a:p>
        </p:txBody>
      </p:sp>
    </p:spTree>
    <p:extLst>
      <p:ext uri="{BB962C8B-B14F-4D97-AF65-F5344CB8AC3E}">
        <p14:creationId xmlns:p14="http://schemas.microsoft.com/office/powerpoint/2010/main" val="646804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D0DE692-DBE2-4969-9A0D-FC98047E36CF}"/>
              </a:ext>
            </a:extLst>
          </p:cNvPr>
          <p:cNvPicPr>
            <a:picLocks noChangeAspect="1"/>
          </p:cNvPicPr>
          <p:nvPr/>
        </p:nvPicPr>
        <p:blipFill>
          <a:blip r:embed="rId3">
            <a:alphaModFix amt="49000"/>
          </a:blip>
          <a:stretch>
            <a:fillRect/>
          </a:stretch>
        </p:blipFill>
        <p:spPr>
          <a:xfrm>
            <a:off x="0" y="374358"/>
            <a:ext cx="12192000" cy="6478872"/>
          </a:xfrm>
          <a:prstGeom prst="rect">
            <a:avLst/>
          </a:prstGeom>
        </p:spPr>
      </p:pic>
      <p:pic>
        <p:nvPicPr>
          <p:cNvPr id="5" name="Image 4">
            <a:extLst>
              <a:ext uri="{FF2B5EF4-FFF2-40B4-BE49-F238E27FC236}">
                <a16:creationId xmlns:a16="http://schemas.microsoft.com/office/drawing/2014/main" id="{6A3B2DDA-0EEA-95AE-3E7D-40B018FFD056}"/>
              </a:ext>
            </a:extLst>
          </p:cNvPr>
          <p:cNvPicPr>
            <a:picLocks noChangeAspect="1"/>
          </p:cNvPicPr>
          <p:nvPr/>
        </p:nvPicPr>
        <p:blipFill>
          <a:blip r:embed="rId4"/>
          <a:stretch>
            <a:fillRect/>
          </a:stretch>
        </p:blipFill>
        <p:spPr>
          <a:xfrm>
            <a:off x="0" y="374358"/>
            <a:ext cx="10176339" cy="6483642"/>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2"/>
            <a:ext cx="12192000" cy="374356"/>
          </a:xfrm>
          <a:gradFill>
            <a:gsLst>
              <a:gs pos="0">
                <a:schemeClr val="accent1">
                  <a:lumMod val="5000"/>
                  <a:lumOff val="95000"/>
                </a:schemeClr>
              </a:gs>
              <a:gs pos="59000">
                <a:srgbClr val="C2DAEF"/>
              </a:gs>
              <a:gs pos="92000">
                <a:schemeClr val="accent1">
                  <a:lumMod val="45000"/>
                  <a:lumOff val="55000"/>
                </a:schemeClr>
              </a:gs>
              <a:gs pos="77000">
                <a:schemeClr val="accent1">
                  <a:lumMod val="30000"/>
                  <a:lumOff val="70000"/>
                </a:schemeClr>
              </a:gs>
            </a:gsLst>
            <a:lin ang="0" scaled="0"/>
          </a:gradFill>
          <a:ln w="12700">
            <a:solidFill>
              <a:schemeClr val="accent6"/>
            </a:solidFill>
          </a:ln>
        </p:spPr>
        <p:txBody>
          <a:bodyPr rtlCol="0" anchor="t">
            <a:normAutofit fontScale="90000"/>
          </a:bodyPr>
          <a:lstStyle/>
          <a:p>
            <a:pPr algn="l">
              <a:defRPr/>
            </a:pPr>
            <a:r>
              <a:rPr lang="fr-FR" sz="2200" b="1" dirty="0"/>
              <a:t>Gestion de la Logistique – </a:t>
            </a:r>
            <a:r>
              <a:rPr lang="fr-FR" sz="1800" b="1" dirty="0">
                <a:solidFill>
                  <a:srgbClr val="FF0000"/>
                </a:solidFill>
              </a:rPr>
              <a:t>Préparation de Livraison (PICK-PACK)</a:t>
            </a:r>
          </a:p>
        </p:txBody>
      </p:sp>
      <p:grpSp>
        <p:nvGrpSpPr>
          <p:cNvPr id="23" name="Groupe 22">
            <a:extLst>
              <a:ext uri="{FF2B5EF4-FFF2-40B4-BE49-F238E27FC236}">
                <a16:creationId xmlns:a16="http://schemas.microsoft.com/office/drawing/2014/main" id="{FEC337FA-13CC-A862-248E-66F0E465CEF5}"/>
              </a:ext>
            </a:extLst>
          </p:cNvPr>
          <p:cNvGrpSpPr/>
          <p:nvPr/>
        </p:nvGrpSpPr>
        <p:grpSpPr>
          <a:xfrm>
            <a:off x="5971393" y="868036"/>
            <a:ext cx="6186069" cy="5460274"/>
            <a:chOff x="5971393" y="868036"/>
            <a:chExt cx="6186069" cy="5460274"/>
          </a:xfrm>
        </p:grpSpPr>
        <p:sp>
          <p:nvSpPr>
            <p:cNvPr id="12" name="Rectangle 11">
              <a:extLst>
                <a:ext uri="{FF2B5EF4-FFF2-40B4-BE49-F238E27FC236}">
                  <a16:creationId xmlns:a16="http://schemas.microsoft.com/office/drawing/2014/main" id="{5614DC90-E148-0F8E-DDFC-499E5D84B6F0}"/>
                </a:ext>
              </a:extLst>
            </p:cNvPr>
            <p:cNvSpPr/>
            <p:nvPr/>
          </p:nvSpPr>
          <p:spPr>
            <a:xfrm>
              <a:off x="5971393" y="868036"/>
              <a:ext cx="6186069" cy="546027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Préparation Livraison (Commande)</a:t>
              </a:r>
            </a:p>
            <a:p>
              <a:pPr algn="ctr"/>
              <a:endParaRPr lang="fr-FR" sz="1600" b="1" dirty="0">
                <a:solidFill>
                  <a:schemeClr val="tx1"/>
                </a:solidFill>
              </a:endParaRPr>
            </a:p>
            <a:p>
              <a:pPr marL="742950" lvl="1" indent="-285750">
                <a:buFont typeface="Wingdings" panose="05000000000000000000" pitchFamily="2" charset="2"/>
                <a:buChar char="Ø"/>
              </a:pPr>
              <a:r>
                <a:rPr lang="fr-FR" sz="1600" dirty="0">
                  <a:solidFill>
                    <a:schemeClr val="tx1"/>
                  </a:solidFill>
                </a:rPr>
                <a:t>Client : Nom, Adresse, …</a:t>
              </a:r>
            </a:p>
            <a:p>
              <a:pPr marL="742950" lvl="1" indent="-285750">
                <a:buFont typeface="Wingdings" panose="05000000000000000000" pitchFamily="2" charset="2"/>
                <a:buChar char="Ø"/>
              </a:pPr>
              <a:r>
                <a:rPr lang="fr-FR" sz="1600" dirty="0">
                  <a:solidFill>
                    <a:schemeClr val="tx1"/>
                  </a:solidFill>
                </a:rPr>
                <a:t>Volume, Poids, Nb de Palettes, …</a:t>
              </a:r>
            </a:p>
            <a:p>
              <a:pPr marL="742950" lvl="1" indent="-285750">
                <a:buFont typeface="Wingdings" panose="05000000000000000000" pitchFamily="2" charset="2"/>
                <a:buChar char="Ø"/>
              </a:pPr>
              <a:r>
                <a:rPr lang="fr-FR" sz="1600" dirty="0">
                  <a:solidFill>
                    <a:schemeClr val="tx1"/>
                  </a:solidFill>
                </a:rPr>
                <a:t>Info Stock : N° de lot, Secteur, Rang, Colonne, …</a:t>
              </a:r>
            </a:p>
            <a:p>
              <a:pPr algn="ctr"/>
              <a:r>
                <a:rPr lang="fr-FR" sz="1600" dirty="0">
                  <a:solidFill>
                    <a:schemeClr val="tx1"/>
                  </a:solidFill>
                </a:rPr>
                <a:t>======================================================</a:t>
              </a:r>
            </a:p>
            <a:p>
              <a:endParaRPr lang="fr-FR" sz="1600" dirty="0">
                <a:solidFill>
                  <a:schemeClr val="tx1"/>
                </a:solidFill>
              </a:endParaRPr>
            </a:p>
            <a:p>
              <a:pPr marL="742950" lvl="1" indent="-285750">
                <a:buFont typeface="Wingdings" panose="05000000000000000000" pitchFamily="2" charset="2"/>
                <a:buChar char="Ø"/>
              </a:pPr>
              <a:r>
                <a:rPr lang="fr-FR" sz="1600" dirty="0">
                  <a:solidFill>
                    <a:schemeClr val="tx1"/>
                  </a:solidFill>
                </a:rPr>
                <a:t>Lignes de Livraison</a:t>
              </a:r>
            </a:p>
          </p:txBody>
        </p:sp>
        <p:pic>
          <p:nvPicPr>
            <p:cNvPr id="17" name="Image 16">
              <a:extLst>
                <a:ext uri="{FF2B5EF4-FFF2-40B4-BE49-F238E27FC236}">
                  <a16:creationId xmlns:a16="http://schemas.microsoft.com/office/drawing/2014/main" id="{B21E0790-98AB-BE98-A90F-B212E0B340C7}"/>
                </a:ext>
              </a:extLst>
            </p:cNvPr>
            <p:cNvPicPr>
              <a:picLocks noChangeAspect="1"/>
            </p:cNvPicPr>
            <p:nvPr/>
          </p:nvPicPr>
          <p:blipFill>
            <a:blip r:embed="rId5"/>
            <a:stretch>
              <a:fillRect/>
            </a:stretch>
          </p:blipFill>
          <p:spPr>
            <a:xfrm>
              <a:off x="5983887" y="3481340"/>
              <a:ext cx="6155866" cy="2846970"/>
            </a:xfrm>
            <a:prstGeom prst="rect">
              <a:avLst/>
            </a:prstGeom>
          </p:spPr>
        </p:pic>
        <p:sp>
          <p:nvSpPr>
            <p:cNvPr id="15" name="Explosion : 8 points 14">
              <a:extLst>
                <a:ext uri="{FF2B5EF4-FFF2-40B4-BE49-F238E27FC236}">
                  <a16:creationId xmlns:a16="http://schemas.microsoft.com/office/drawing/2014/main" id="{7E7BA72C-63A6-70AA-9B22-636F3EB5A01B}"/>
                </a:ext>
              </a:extLst>
            </p:cNvPr>
            <p:cNvSpPr/>
            <p:nvPr/>
          </p:nvSpPr>
          <p:spPr>
            <a:xfrm>
              <a:off x="8613921" y="4901299"/>
              <a:ext cx="739089" cy="506737"/>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Clic</a:t>
              </a:r>
            </a:p>
          </p:txBody>
        </p:sp>
        <p:sp>
          <p:nvSpPr>
            <p:cNvPr id="18" name="Rectangle 17">
              <a:extLst>
                <a:ext uri="{FF2B5EF4-FFF2-40B4-BE49-F238E27FC236}">
                  <a16:creationId xmlns:a16="http://schemas.microsoft.com/office/drawing/2014/main" id="{072F814B-5724-07AC-4458-284643B4D470}"/>
                </a:ext>
              </a:extLst>
            </p:cNvPr>
            <p:cNvSpPr/>
            <p:nvPr/>
          </p:nvSpPr>
          <p:spPr>
            <a:xfrm>
              <a:off x="8827893" y="2518850"/>
              <a:ext cx="3303151" cy="87676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rgbClr val="FF0000"/>
                  </a:solidFill>
                </a:rPr>
                <a:t>PICK</a:t>
              </a:r>
            </a:p>
            <a:p>
              <a:r>
                <a:rPr lang="fr-FR" sz="1600" dirty="0">
                  <a:solidFill>
                    <a:schemeClr val="tx1"/>
                  </a:solidFill>
                </a:rPr>
                <a:t>Double clic sur une ligne « A Retirer » pour retirer le produit du stock </a:t>
              </a:r>
            </a:p>
          </p:txBody>
        </p:sp>
        <p:sp>
          <p:nvSpPr>
            <p:cNvPr id="19" name="Flèche : courbe vers le haut 18">
              <a:extLst>
                <a:ext uri="{FF2B5EF4-FFF2-40B4-BE49-F238E27FC236}">
                  <a16:creationId xmlns:a16="http://schemas.microsoft.com/office/drawing/2014/main" id="{0F677D6E-6998-80F1-7A93-0F4D388668B5}"/>
                </a:ext>
              </a:extLst>
            </p:cNvPr>
            <p:cNvSpPr/>
            <p:nvPr/>
          </p:nvSpPr>
          <p:spPr>
            <a:xfrm rot="16471145">
              <a:off x="8419874" y="4781416"/>
              <a:ext cx="204939" cy="285216"/>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pic>
        <p:nvPicPr>
          <p:cNvPr id="7" name="Image 6">
            <a:extLst>
              <a:ext uri="{FF2B5EF4-FFF2-40B4-BE49-F238E27FC236}">
                <a16:creationId xmlns:a16="http://schemas.microsoft.com/office/drawing/2014/main" id="{AC0F6A23-42EF-9500-8715-BF708576B528}"/>
              </a:ext>
            </a:extLst>
          </p:cNvPr>
          <p:cNvPicPr>
            <a:picLocks noChangeAspect="1"/>
          </p:cNvPicPr>
          <p:nvPr/>
        </p:nvPicPr>
        <p:blipFill>
          <a:blip r:embed="rId6"/>
          <a:stretch>
            <a:fillRect/>
          </a:stretch>
        </p:blipFill>
        <p:spPr>
          <a:xfrm>
            <a:off x="3313355" y="2662886"/>
            <a:ext cx="2387863" cy="2417500"/>
          </a:xfrm>
          <a:prstGeom prst="rect">
            <a:avLst/>
          </a:prstGeom>
        </p:spPr>
      </p:pic>
      <p:cxnSp>
        <p:nvCxnSpPr>
          <p:cNvPr id="10" name="Connecteur droit avec flèche 9">
            <a:extLst>
              <a:ext uri="{FF2B5EF4-FFF2-40B4-BE49-F238E27FC236}">
                <a16:creationId xmlns:a16="http://schemas.microsoft.com/office/drawing/2014/main" id="{ACA6C7A5-81AD-80D5-273C-8930CDB8F9DE}"/>
              </a:ext>
            </a:extLst>
          </p:cNvPr>
          <p:cNvCxnSpPr>
            <a:cxnSpLocks/>
            <a:stCxn id="11" idx="3"/>
          </p:cNvCxnSpPr>
          <p:nvPr/>
        </p:nvCxnSpPr>
        <p:spPr>
          <a:xfrm flipV="1">
            <a:off x="5325769" y="3376475"/>
            <a:ext cx="773330" cy="1"/>
          </a:xfrm>
          <a:prstGeom prst="straightConnector1">
            <a:avLst/>
          </a:prstGeom>
          <a:ln w="412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DFF428F-587D-9513-571C-8E57D96A60EA}"/>
              </a:ext>
            </a:extLst>
          </p:cNvPr>
          <p:cNvSpPr/>
          <p:nvPr/>
        </p:nvSpPr>
        <p:spPr>
          <a:xfrm>
            <a:off x="3499229" y="3279580"/>
            <a:ext cx="1826540" cy="19379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E3E02478-CC02-603D-5789-176391BCEE6B}"/>
              </a:ext>
            </a:extLst>
          </p:cNvPr>
          <p:cNvSpPr/>
          <p:nvPr/>
        </p:nvSpPr>
        <p:spPr>
          <a:xfrm>
            <a:off x="194136" y="1559052"/>
            <a:ext cx="3026282" cy="264514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600" b="1" dirty="0">
                <a:solidFill>
                  <a:schemeClr val="tx1"/>
                </a:solidFill>
              </a:rPr>
              <a:t>Préparation de Livraison</a:t>
            </a:r>
          </a:p>
          <a:p>
            <a:endParaRPr lang="fr-FR" sz="1200" dirty="0">
              <a:solidFill>
                <a:schemeClr val="tx1"/>
              </a:solidFill>
            </a:endParaRPr>
          </a:p>
          <a:p>
            <a:r>
              <a:rPr lang="fr-FR" sz="1200" dirty="0">
                <a:solidFill>
                  <a:schemeClr val="tx1"/>
                </a:solidFill>
              </a:rPr>
              <a:t>La préparation de livraison consiste à prélever des articles dans l’entrepôt (PICK) et les mettre dans les palettes (PACK).</a:t>
            </a:r>
          </a:p>
          <a:p>
            <a:r>
              <a:rPr lang="fr-FR" sz="1200" dirty="0">
                <a:solidFill>
                  <a:schemeClr val="tx1"/>
                </a:solidFill>
              </a:rPr>
              <a:t>Il est nécessaire pour chaque article de savoir la situation de stock :</a:t>
            </a:r>
          </a:p>
          <a:p>
            <a:pPr marL="171450" indent="-171450">
              <a:buFont typeface="Arial" panose="020B0604020202020204" pitchFamily="34" charset="0"/>
              <a:buChar char="•"/>
            </a:pPr>
            <a:r>
              <a:rPr lang="fr-FR" sz="1400" dirty="0">
                <a:solidFill>
                  <a:schemeClr val="tx1"/>
                </a:solidFill>
              </a:rPr>
              <a:t>ID Produit</a:t>
            </a:r>
          </a:p>
          <a:p>
            <a:pPr marL="171450" indent="-171450">
              <a:buFont typeface="Arial" panose="020B0604020202020204" pitchFamily="34" charset="0"/>
              <a:buChar char="•"/>
            </a:pPr>
            <a:r>
              <a:rPr lang="fr-FR" sz="1400" dirty="0">
                <a:solidFill>
                  <a:schemeClr val="tx1"/>
                </a:solidFill>
              </a:rPr>
              <a:t>ID Approvisionnement (No LOT)</a:t>
            </a:r>
          </a:p>
          <a:p>
            <a:pPr marL="171450" indent="-171450">
              <a:buFont typeface="Arial" panose="020B0604020202020204" pitchFamily="34" charset="0"/>
              <a:buChar char="•"/>
            </a:pPr>
            <a:r>
              <a:rPr lang="fr-FR" sz="1400" dirty="0">
                <a:solidFill>
                  <a:schemeClr val="tx1"/>
                </a:solidFill>
              </a:rPr>
              <a:t>Info Stockage (zone, allée, colonne)</a:t>
            </a:r>
          </a:p>
          <a:p>
            <a:pPr marL="171450" indent="-171450">
              <a:buFont typeface="Arial" panose="020B0604020202020204" pitchFamily="34" charset="0"/>
              <a:buChar char="•"/>
            </a:pPr>
            <a:r>
              <a:rPr lang="fr-FR" sz="1400" dirty="0">
                <a:solidFill>
                  <a:schemeClr val="tx1"/>
                </a:solidFill>
              </a:rPr>
              <a:t>Date Limite de Consommation</a:t>
            </a:r>
          </a:p>
          <a:p>
            <a:pPr marL="171450" indent="-171450">
              <a:buFont typeface="Arial" panose="020B0604020202020204" pitchFamily="34" charset="0"/>
              <a:buChar char="•"/>
            </a:pPr>
            <a:r>
              <a:rPr lang="fr-FR" sz="1400" dirty="0">
                <a:solidFill>
                  <a:schemeClr val="tx1"/>
                </a:solidFill>
              </a:rPr>
              <a:t>Quantité</a:t>
            </a:r>
          </a:p>
        </p:txBody>
      </p:sp>
    </p:spTree>
    <p:extLst>
      <p:ext uri="{BB962C8B-B14F-4D97-AF65-F5344CB8AC3E}">
        <p14:creationId xmlns:p14="http://schemas.microsoft.com/office/powerpoint/2010/main" val="2100242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0CBEDB4F-F4C5-4C5B-B2DF-6EEC3BBDB5C4}"/>
              </a:ext>
            </a:extLst>
          </p:cNvPr>
          <p:cNvPicPr>
            <a:picLocks noChangeAspect="1"/>
          </p:cNvPicPr>
          <p:nvPr/>
        </p:nvPicPr>
        <p:blipFill>
          <a:blip r:embed="rId3"/>
          <a:stretch>
            <a:fillRect/>
          </a:stretch>
        </p:blipFill>
        <p:spPr>
          <a:xfrm>
            <a:off x="4" y="701268"/>
            <a:ext cx="12192000" cy="3184197"/>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423995"/>
          </a:xfr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chemeClr val="accent6"/>
            </a:solidFill>
          </a:ln>
        </p:spPr>
        <p:txBody>
          <a:bodyPr rtlCol="0" anchor="ctr">
            <a:normAutofit/>
          </a:bodyPr>
          <a:lstStyle/>
          <a:p>
            <a:pPr algn="l" fontAlgn="auto">
              <a:spcAft>
                <a:spcPts val="0"/>
              </a:spcAft>
              <a:defRPr/>
            </a:pPr>
            <a:r>
              <a:rPr lang="fr-FR" sz="1800" b="1" dirty="0"/>
              <a:t>Gestion de Logistique – </a:t>
            </a:r>
            <a:r>
              <a:rPr lang="fr-FR" sz="1800" b="1" dirty="0">
                <a:solidFill>
                  <a:srgbClr val="FF0000"/>
                </a:solidFill>
              </a:rPr>
              <a:t>Préparation de Commande/Livraison : FEFO</a:t>
            </a:r>
          </a:p>
        </p:txBody>
      </p:sp>
      <p:sp>
        <p:nvSpPr>
          <p:cNvPr id="3" name="Rectangle 2">
            <a:extLst>
              <a:ext uri="{FF2B5EF4-FFF2-40B4-BE49-F238E27FC236}">
                <a16:creationId xmlns:a16="http://schemas.microsoft.com/office/drawing/2014/main" id="{B681A296-9CA8-4E75-A32F-2C1955CFD6A0}"/>
              </a:ext>
            </a:extLst>
          </p:cNvPr>
          <p:cNvSpPr/>
          <p:nvPr/>
        </p:nvSpPr>
        <p:spPr>
          <a:xfrm>
            <a:off x="4298626" y="2468394"/>
            <a:ext cx="3949831" cy="651867"/>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DC91CE1B-E504-44FA-91EA-F79934D4B5DF}"/>
              </a:ext>
            </a:extLst>
          </p:cNvPr>
          <p:cNvPicPr>
            <a:picLocks noChangeAspect="1"/>
          </p:cNvPicPr>
          <p:nvPr/>
        </p:nvPicPr>
        <p:blipFill>
          <a:blip r:embed="rId4"/>
          <a:stretch>
            <a:fillRect/>
          </a:stretch>
        </p:blipFill>
        <p:spPr>
          <a:xfrm>
            <a:off x="0" y="3759972"/>
            <a:ext cx="12192000" cy="3033911"/>
          </a:xfrm>
          <a:prstGeom prst="rect">
            <a:avLst/>
          </a:prstGeom>
        </p:spPr>
      </p:pic>
      <p:sp>
        <p:nvSpPr>
          <p:cNvPr id="12" name="Rectangle 11">
            <a:extLst>
              <a:ext uri="{FF2B5EF4-FFF2-40B4-BE49-F238E27FC236}">
                <a16:creationId xmlns:a16="http://schemas.microsoft.com/office/drawing/2014/main" id="{3FE1088E-F5B7-4FF1-9D8E-671751679038}"/>
              </a:ext>
            </a:extLst>
          </p:cNvPr>
          <p:cNvSpPr/>
          <p:nvPr/>
        </p:nvSpPr>
        <p:spPr>
          <a:xfrm>
            <a:off x="4422760" y="5326657"/>
            <a:ext cx="3806844" cy="6518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D58A9F7D-2F72-4BCF-8886-D981BE43863A}"/>
              </a:ext>
            </a:extLst>
          </p:cNvPr>
          <p:cNvSpPr/>
          <p:nvPr/>
        </p:nvSpPr>
        <p:spPr>
          <a:xfrm>
            <a:off x="5586175" y="3206415"/>
            <a:ext cx="6605821" cy="146648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Préparation de Livraison</a:t>
            </a:r>
          </a:p>
          <a:p>
            <a:r>
              <a:rPr lang="fr-FR" sz="1400" dirty="0">
                <a:solidFill>
                  <a:schemeClr val="tx1"/>
                </a:solidFill>
              </a:rPr>
              <a:t>Choisir des produits en stock pour livrer</a:t>
            </a:r>
          </a:p>
          <a:p>
            <a:pPr marL="171450" indent="-171450">
              <a:buFont typeface="Arial" panose="020B0604020202020204" pitchFamily="34" charset="0"/>
              <a:buChar char="•"/>
            </a:pPr>
            <a:r>
              <a:rPr lang="fr-FR" sz="1400" dirty="0">
                <a:solidFill>
                  <a:schemeClr val="tx1"/>
                </a:solidFill>
              </a:rPr>
              <a:t>Avec la méthode FEFO (date expiration la plus proche d’abord), dans </a:t>
            </a:r>
            <a:r>
              <a:rPr lang="fr-FR" sz="1400" dirty="0">
                <a:solidFill>
                  <a:schemeClr val="tx1"/>
                </a:solidFill>
                <a:highlight>
                  <a:srgbClr val="FFFF00"/>
                </a:highlight>
              </a:rPr>
              <a:t>l’exemple de 48 pièces à livrer</a:t>
            </a:r>
            <a:r>
              <a:rPr lang="fr-FR" sz="1400" dirty="0">
                <a:solidFill>
                  <a:schemeClr val="tx1"/>
                </a:solidFill>
              </a:rPr>
              <a:t>, il faudrait en prendre </a:t>
            </a:r>
            <a:r>
              <a:rPr lang="fr-FR" sz="1400" u="sng" dirty="0">
                <a:solidFill>
                  <a:schemeClr val="tx1"/>
                </a:solidFill>
              </a:rPr>
              <a:t>dans les 3 palettes du stock</a:t>
            </a:r>
            <a:r>
              <a:rPr lang="fr-FR" sz="1400" dirty="0">
                <a:solidFill>
                  <a:schemeClr val="tx1"/>
                </a:solidFill>
              </a:rPr>
              <a:t>.</a:t>
            </a:r>
          </a:p>
          <a:p>
            <a:pPr marL="171450" indent="-171450">
              <a:buFont typeface="Arial" panose="020B0604020202020204" pitchFamily="34" charset="0"/>
              <a:buChar char="•"/>
            </a:pPr>
            <a:r>
              <a:rPr lang="fr-FR" sz="1400" dirty="0">
                <a:solidFill>
                  <a:schemeClr val="tx1"/>
                </a:solidFill>
              </a:rPr>
              <a:t>Avec la méthode de quantité la plus proche, on prendre uniquement 48 pièces dans la dernière palette du stock ce qui va laisser des palettes de petite quantité.</a:t>
            </a:r>
          </a:p>
          <a:p>
            <a:pPr marL="171450" indent="-171450">
              <a:buFont typeface="Arial" panose="020B0604020202020204" pitchFamily="34" charset="0"/>
              <a:buChar char="•"/>
            </a:pPr>
            <a:endParaRPr lang="fr-FR" sz="1400" dirty="0">
              <a:solidFill>
                <a:schemeClr val="tx1"/>
              </a:solidFill>
            </a:endParaRPr>
          </a:p>
        </p:txBody>
      </p:sp>
    </p:spTree>
    <p:extLst>
      <p:ext uri="{BB962C8B-B14F-4D97-AF65-F5344CB8AC3E}">
        <p14:creationId xmlns:p14="http://schemas.microsoft.com/office/powerpoint/2010/main" val="2495778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C975A482-2E08-4736-9764-7D7879659A9D}"/>
              </a:ext>
            </a:extLst>
          </p:cNvPr>
          <p:cNvPicPr>
            <a:picLocks noChangeAspect="1"/>
          </p:cNvPicPr>
          <p:nvPr/>
        </p:nvPicPr>
        <p:blipFill>
          <a:blip r:embed="rId3"/>
          <a:stretch>
            <a:fillRect/>
          </a:stretch>
        </p:blipFill>
        <p:spPr>
          <a:xfrm>
            <a:off x="0" y="393010"/>
            <a:ext cx="12192000" cy="6474416"/>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398584"/>
          </a:xfr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chemeClr val="accent6"/>
            </a:solidFill>
          </a:ln>
        </p:spPr>
        <p:txBody>
          <a:bodyPr rtlCol="0" anchor="ctr">
            <a:normAutofit/>
          </a:bodyPr>
          <a:lstStyle/>
          <a:p>
            <a:pPr fontAlgn="auto">
              <a:spcAft>
                <a:spcPts val="0"/>
              </a:spcAft>
              <a:defRPr/>
            </a:pPr>
            <a:r>
              <a:rPr lang="fr-FR" sz="1800" b="1" dirty="0"/>
              <a:t>Gestion de la Logistique pour une entreprise de Commerce International</a:t>
            </a:r>
          </a:p>
        </p:txBody>
      </p:sp>
    </p:spTree>
    <p:extLst>
      <p:ext uri="{BB962C8B-B14F-4D97-AF65-F5344CB8AC3E}">
        <p14:creationId xmlns:p14="http://schemas.microsoft.com/office/powerpoint/2010/main" val="3596096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1E6EFC4-8C5B-4B76-9992-7385A59189E8}"/>
              </a:ext>
            </a:extLst>
          </p:cNvPr>
          <p:cNvPicPr>
            <a:picLocks noChangeAspect="1"/>
          </p:cNvPicPr>
          <p:nvPr/>
        </p:nvPicPr>
        <p:blipFill>
          <a:blip r:embed="rId3"/>
          <a:stretch>
            <a:fillRect/>
          </a:stretch>
        </p:blipFill>
        <p:spPr>
          <a:xfrm>
            <a:off x="0" y="443060"/>
            <a:ext cx="12192000" cy="6414939"/>
          </a:xfrm>
          <a:prstGeom prst="rect">
            <a:avLst/>
          </a:prstGeom>
        </p:spPr>
      </p:pic>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443059"/>
          </a:xfr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chemeClr val="accent6"/>
            </a:solidFill>
          </a:ln>
        </p:spPr>
        <p:txBody>
          <a:bodyPr rtlCol="0" anchor="ctr">
            <a:normAutofit/>
          </a:bodyPr>
          <a:lstStyle/>
          <a:p>
            <a:pPr algn="l" fontAlgn="auto">
              <a:spcAft>
                <a:spcPts val="0"/>
              </a:spcAft>
              <a:defRPr/>
            </a:pPr>
            <a:r>
              <a:rPr lang="fr-FR" sz="1800" b="1" dirty="0"/>
              <a:t>Gestion de Logistique – Les produits (Articles)</a:t>
            </a:r>
          </a:p>
        </p:txBody>
      </p:sp>
      <p:pic>
        <p:nvPicPr>
          <p:cNvPr id="10" name="Image 9">
            <a:extLst>
              <a:ext uri="{FF2B5EF4-FFF2-40B4-BE49-F238E27FC236}">
                <a16:creationId xmlns:a16="http://schemas.microsoft.com/office/drawing/2014/main" id="{DE2EDC3A-2FAD-4CEC-A21E-3C78A9F29D28}"/>
              </a:ext>
            </a:extLst>
          </p:cNvPr>
          <p:cNvPicPr>
            <a:picLocks noChangeAspect="1"/>
          </p:cNvPicPr>
          <p:nvPr/>
        </p:nvPicPr>
        <p:blipFill>
          <a:blip r:embed="rId4"/>
          <a:stretch>
            <a:fillRect/>
          </a:stretch>
        </p:blipFill>
        <p:spPr>
          <a:xfrm>
            <a:off x="3142562" y="2181225"/>
            <a:ext cx="2594177" cy="2718698"/>
          </a:xfrm>
          <a:prstGeom prst="rect">
            <a:avLst/>
          </a:prstGeom>
        </p:spPr>
      </p:pic>
    </p:spTree>
    <p:extLst>
      <p:ext uri="{BB962C8B-B14F-4D97-AF65-F5344CB8AC3E}">
        <p14:creationId xmlns:p14="http://schemas.microsoft.com/office/powerpoint/2010/main" val="3376046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52604-2E7C-5208-F514-244CFC07B46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3EB57B-44D2-C2B2-9463-5964BBA6C313}"/>
              </a:ext>
            </a:extLst>
          </p:cNvPr>
          <p:cNvSpPr>
            <a:spLocks noGrp="1"/>
          </p:cNvSpPr>
          <p:nvPr>
            <p:ph type="ctrTitle"/>
          </p:nvPr>
        </p:nvSpPr>
        <p:spPr>
          <a:xfrm>
            <a:off x="0" y="1"/>
            <a:ext cx="12192000" cy="443059"/>
          </a:xfr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chemeClr val="accent6"/>
            </a:solidFill>
          </a:ln>
        </p:spPr>
        <p:txBody>
          <a:bodyPr rtlCol="0" anchor="ctr">
            <a:normAutofit/>
          </a:bodyPr>
          <a:lstStyle/>
          <a:p>
            <a:pPr algn="l" fontAlgn="auto">
              <a:spcAft>
                <a:spcPts val="0"/>
              </a:spcAft>
              <a:defRPr/>
            </a:pPr>
            <a:r>
              <a:rPr lang="fr-FR" sz="1800" b="1" dirty="0"/>
              <a:t>Gestion de Logistique – Les produits</a:t>
            </a:r>
          </a:p>
        </p:txBody>
      </p:sp>
      <p:pic>
        <p:nvPicPr>
          <p:cNvPr id="10" name="Image 9">
            <a:extLst>
              <a:ext uri="{FF2B5EF4-FFF2-40B4-BE49-F238E27FC236}">
                <a16:creationId xmlns:a16="http://schemas.microsoft.com/office/drawing/2014/main" id="{0A1E4D52-5273-3C73-AEAB-CF62498BD383}"/>
              </a:ext>
            </a:extLst>
          </p:cNvPr>
          <p:cNvPicPr>
            <a:picLocks noChangeAspect="1"/>
          </p:cNvPicPr>
          <p:nvPr/>
        </p:nvPicPr>
        <p:blipFill>
          <a:blip r:embed="rId3"/>
          <a:stretch>
            <a:fillRect/>
          </a:stretch>
        </p:blipFill>
        <p:spPr>
          <a:xfrm>
            <a:off x="3142562" y="2181225"/>
            <a:ext cx="2594177" cy="2718698"/>
          </a:xfrm>
          <a:prstGeom prst="rect">
            <a:avLst/>
          </a:prstGeom>
        </p:spPr>
      </p:pic>
      <p:pic>
        <p:nvPicPr>
          <p:cNvPr id="4" name="Image 3">
            <a:extLst>
              <a:ext uri="{FF2B5EF4-FFF2-40B4-BE49-F238E27FC236}">
                <a16:creationId xmlns:a16="http://schemas.microsoft.com/office/drawing/2014/main" id="{34E0DFB3-A235-5D8A-A13A-A861EF372832}"/>
              </a:ext>
            </a:extLst>
          </p:cNvPr>
          <p:cNvPicPr>
            <a:picLocks noChangeAspect="1"/>
          </p:cNvPicPr>
          <p:nvPr/>
        </p:nvPicPr>
        <p:blipFill>
          <a:blip r:embed="rId4"/>
          <a:stretch>
            <a:fillRect/>
          </a:stretch>
        </p:blipFill>
        <p:spPr>
          <a:xfrm>
            <a:off x="0" y="438170"/>
            <a:ext cx="10245844" cy="6403652"/>
          </a:xfrm>
          <a:prstGeom prst="rect">
            <a:avLst/>
          </a:prstGeom>
        </p:spPr>
      </p:pic>
    </p:spTree>
    <p:extLst>
      <p:ext uri="{BB962C8B-B14F-4D97-AF65-F5344CB8AC3E}">
        <p14:creationId xmlns:p14="http://schemas.microsoft.com/office/powerpoint/2010/main" val="3596116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361531"/>
          </a:xfr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chemeClr val="accent6"/>
            </a:solidFill>
          </a:ln>
        </p:spPr>
        <p:txBody>
          <a:bodyPr rtlCol="0" anchor="ctr">
            <a:normAutofit/>
          </a:bodyPr>
          <a:lstStyle/>
          <a:p>
            <a:pPr algn="l" fontAlgn="auto">
              <a:spcAft>
                <a:spcPts val="0"/>
              </a:spcAft>
              <a:defRPr/>
            </a:pPr>
            <a:r>
              <a:rPr lang="fr-FR" sz="1800" b="1" dirty="0"/>
              <a:t>Gestion de Logistique – Les documents pour la livraison (Bon de préparation, Etiquette Palette, Bon de Livraison, Facture)</a:t>
            </a:r>
          </a:p>
        </p:txBody>
      </p:sp>
      <p:pic>
        <p:nvPicPr>
          <p:cNvPr id="7" name="Image 6">
            <a:extLst>
              <a:ext uri="{FF2B5EF4-FFF2-40B4-BE49-F238E27FC236}">
                <a16:creationId xmlns:a16="http://schemas.microsoft.com/office/drawing/2014/main" id="{0A1F309F-E4F1-4DC1-AD8A-AA34E953C90D}"/>
              </a:ext>
            </a:extLst>
          </p:cNvPr>
          <p:cNvPicPr>
            <a:picLocks noChangeAspect="1"/>
          </p:cNvPicPr>
          <p:nvPr/>
        </p:nvPicPr>
        <p:blipFill>
          <a:blip r:embed="rId3"/>
          <a:stretch>
            <a:fillRect/>
          </a:stretch>
        </p:blipFill>
        <p:spPr>
          <a:xfrm>
            <a:off x="0" y="361532"/>
            <a:ext cx="3922637" cy="3892770"/>
          </a:xfrm>
          <a:prstGeom prst="rect">
            <a:avLst/>
          </a:prstGeom>
          <a:effectLst>
            <a:outerShdw blurRad="50800" dist="38100" dir="5400000" algn="t" rotWithShape="0">
              <a:prstClr val="black">
                <a:alpha val="40000"/>
              </a:prstClr>
            </a:outerShdw>
          </a:effectLst>
        </p:spPr>
      </p:pic>
      <p:pic>
        <p:nvPicPr>
          <p:cNvPr id="12" name="Image 11">
            <a:extLst>
              <a:ext uri="{FF2B5EF4-FFF2-40B4-BE49-F238E27FC236}">
                <a16:creationId xmlns:a16="http://schemas.microsoft.com/office/drawing/2014/main" id="{BB595049-39BD-4151-9227-17E3C49F94EC}"/>
              </a:ext>
            </a:extLst>
          </p:cNvPr>
          <p:cNvPicPr>
            <a:picLocks noChangeAspect="1"/>
          </p:cNvPicPr>
          <p:nvPr/>
        </p:nvPicPr>
        <p:blipFill>
          <a:blip r:embed="rId4"/>
          <a:stretch>
            <a:fillRect/>
          </a:stretch>
        </p:blipFill>
        <p:spPr>
          <a:xfrm>
            <a:off x="956895" y="3089099"/>
            <a:ext cx="4437480" cy="3768900"/>
          </a:xfrm>
          <a:prstGeom prst="rect">
            <a:avLst/>
          </a:prstGeom>
          <a:effectLst>
            <a:outerShdw blurRad="50800" dist="38100" dir="16200000" rotWithShape="0">
              <a:prstClr val="black">
                <a:alpha val="40000"/>
              </a:prstClr>
            </a:outerShdw>
          </a:effectLst>
        </p:spPr>
      </p:pic>
      <p:pic>
        <p:nvPicPr>
          <p:cNvPr id="14" name="Image 13">
            <a:extLst>
              <a:ext uri="{FF2B5EF4-FFF2-40B4-BE49-F238E27FC236}">
                <a16:creationId xmlns:a16="http://schemas.microsoft.com/office/drawing/2014/main" id="{082B0609-6B9A-48C8-8FD4-C644ADE2BEC8}"/>
              </a:ext>
            </a:extLst>
          </p:cNvPr>
          <p:cNvPicPr>
            <a:picLocks noChangeAspect="1"/>
          </p:cNvPicPr>
          <p:nvPr/>
        </p:nvPicPr>
        <p:blipFill>
          <a:blip r:embed="rId5"/>
          <a:stretch>
            <a:fillRect/>
          </a:stretch>
        </p:blipFill>
        <p:spPr>
          <a:xfrm>
            <a:off x="5817553" y="361532"/>
            <a:ext cx="4333634" cy="4166067"/>
          </a:xfrm>
          <a:prstGeom prst="rect">
            <a:avLst/>
          </a:prstGeom>
          <a:effectLst>
            <a:outerShdw blurRad="63500" sx="102000" sy="102000" algn="ctr" rotWithShape="0">
              <a:prstClr val="black">
                <a:alpha val="40000"/>
              </a:prstClr>
            </a:outerShdw>
          </a:effectLst>
        </p:spPr>
      </p:pic>
      <p:pic>
        <p:nvPicPr>
          <p:cNvPr id="18" name="Image 17">
            <a:extLst>
              <a:ext uri="{FF2B5EF4-FFF2-40B4-BE49-F238E27FC236}">
                <a16:creationId xmlns:a16="http://schemas.microsoft.com/office/drawing/2014/main" id="{4D87B716-4719-4D60-BF93-6FEDF5CDCF96}"/>
              </a:ext>
            </a:extLst>
          </p:cNvPr>
          <p:cNvPicPr>
            <a:picLocks noChangeAspect="1"/>
          </p:cNvPicPr>
          <p:nvPr/>
        </p:nvPicPr>
        <p:blipFill>
          <a:blip r:embed="rId6"/>
          <a:stretch>
            <a:fillRect/>
          </a:stretch>
        </p:blipFill>
        <p:spPr>
          <a:xfrm>
            <a:off x="6966408" y="2542833"/>
            <a:ext cx="4779242" cy="423155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65925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0981B3-4B42-4272-B670-7E7025B5ABFC}"/>
              </a:ext>
            </a:extLst>
          </p:cNvPr>
          <p:cNvSpPr>
            <a:spLocks noGrp="1"/>
          </p:cNvSpPr>
          <p:nvPr>
            <p:ph type="ctrTitle"/>
          </p:nvPr>
        </p:nvSpPr>
        <p:spPr>
          <a:xfrm>
            <a:off x="0" y="1"/>
            <a:ext cx="12192000" cy="361531"/>
          </a:xfr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chemeClr val="accent6"/>
            </a:solidFill>
          </a:ln>
        </p:spPr>
        <p:txBody>
          <a:bodyPr rtlCol="0" anchor="ctr">
            <a:normAutofit/>
          </a:bodyPr>
          <a:lstStyle/>
          <a:p>
            <a:pPr algn="l" fontAlgn="auto">
              <a:spcAft>
                <a:spcPts val="0"/>
              </a:spcAft>
              <a:defRPr/>
            </a:pPr>
            <a:r>
              <a:rPr lang="fr-FR" sz="1800" b="1" dirty="0"/>
              <a:t>Gestion de Logistique – Statistiques</a:t>
            </a:r>
          </a:p>
        </p:txBody>
      </p:sp>
      <p:pic>
        <p:nvPicPr>
          <p:cNvPr id="6" name="Image 5">
            <a:extLst>
              <a:ext uri="{FF2B5EF4-FFF2-40B4-BE49-F238E27FC236}">
                <a16:creationId xmlns:a16="http://schemas.microsoft.com/office/drawing/2014/main" id="{74046773-B83E-4E5C-90A7-8B9E36AFECA6}"/>
              </a:ext>
            </a:extLst>
          </p:cNvPr>
          <p:cNvPicPr>
            <a:picLocks noChangeAspect="1"/>
          </p:cNvPicPr>
          <p:nvPr/>
        </p:nvPicPr>
        <p:blipFill>
          <a:blip r:embed="rId3"/>
          <a:stretch>
            <a:fillRect/>
          </a:stretch>
        </p:blipFill>
        <p:spPr>
          <a:xfrm>
            <a:off x="0" y="380379"/>
            <a:ext cx="12192000" cy="6471041"/>
          </a:xfrm>
          <a:prstGeom prst="rect">
            <a:avLst/>
          </a:prstGeom>
        </p:spPr>
      </p:pic>
    </p:spTree>
    <p:extLst>
      <p:ext uri="{BB962C8B-B14F-4D97-AF65-F5344CB8AC3E}">
        <p14:creationId xmlns:p14="http://schemas.microsoft.com/office/powerpoint/2010/main" val="40396188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11077</TotalTime>
  <Words>1715</Words>
  <Application>Microsoft Office PowerPoint</Application>
  <PresentationFormat>Grand écran</PresentationFormat>
  <Paragraphs>433</Paragraphs>
  <Slides>22</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Arial</vt:lpstr>
      <vt:lpstr>Calibri</vt:lpstr>
      <vt:lpstr>Calibri Light</vt:lpstr>
      <vt:lpstr>Open Sans</vt:lpstr>
      <vt:lpstr>Wingdings</vt:lpstr>
      <vt:lpstr>Thème Office</vt:lpstr>
      <vt:lpstr>Présentation PowerPoint</vt:lpstr>
      <vt:lpstr>Schémas fonctionnels – Objectif</vt:lpstr>
      <vt:lpstr>Schémas fonctionnels</vt:lpstr>
      <vt:lpstr>Gestion de la Logistique  Exploitation d’Entrepôt Informatisée et Automatisée  Documentation Sans Papier</vt:lpstr>
      <vt:lpstr>Gestion de la Logistique – Structure des données</vt:lpstr>
      <vt:lpstr>Gestion de la Logistique – Structure des données</vt:lpstr>
      <vt:lpstr>Gestion de la Logistique – Informatisation élémentaire</vt:lpstr>
      <vt:lpstr>Gestion de la Logistique – KIT (Produit Composé)</vt:lpstr>
      <vt:lpstr>Gestion de la Logistique – Produit Composé</vt:lpstr>
      <vt:lpstr>Gestion de la Logistique – Composition d’un Produit ou d’un Projet de Travail</vt:lpstr>
      <vt:lpstr>Gestion de la Logistique – Devis/Commande et leur Composition</vt:lpstr>
      <vt:lpstr>Gestion de la Logistique – Devis, Commande</vt:lpstr>
      <vt:lpstr>Gestion de la Logistique – Devis, Commande : gérer leur détail</vt:lpstr>
      <vt:lpstr>Gestion de la Logistique – Livraison et leur Composition</vt:lpstr>
      <vt:lpstr>Gestion de la Logistique – Livraison</vt:lpstr>
      <vt:lpstr>Gestion de la Logistique – Préparation de Livraison (PICK-PACK)</vt:lpstr>
      <vt:lpstr>Gestion de Logistique – Préparation de Commande/Livraison : FEFO</vt:lpstr>
      <vt:lpstr>Gestion de la Logistique pour une entreprise de Commerce International</vt:lpstr>
      <vt:lpstr>Gestion de Logistique – Les produits (Articles)</vt:lpstr>
      <vt:lpstr>Gestion de Logistique – Les produits</vt:lpstr>
      <vt:lpstr>Gestion de Logistique – Les documents pour la livraison (Bon de préparation, Etiquette Palette, Bon de Livraison, Facture)</vt:lpstr>
      <vt:lpstr>Gestion de Logistique – Statistiques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Supprimer données -- sélectionnées</dc:title>
  <dc:creator>Planview</dc:creator>
  <cp:lastModifiedBy>Jianyi Zhou</cp:lastModifiedBy>
  <cp:revision>254</cp:revision>
  <dcterms:created xsi:type="dcterms:W3CDTF">2018-02-14T08:20:44Z</dcterms:created>
  <dcterms:modified xsi:type="dcterms:W3CDTF">2025-09-26T08:22:06Z</dcterms:modified>
</cp:coreProperties>
</file>